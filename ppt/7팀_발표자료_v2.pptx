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216" y="312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presProps" Target="presProps.xml"  /><Relationship Id="rId22" Type="http://schemas.openxmlformats.org/officeDocument/2006/relationships/viewProps" Target="viewProps.xml"  /><Relationship Id="rId23" Type="http://schemas.openxmlformats.org/officeDocument/2006/relationships/theme" Target="theme/theme1.xml"  /><Relationship Id="rId24" Type="http://schemas.openxmlformats.org/officeDocument/2006/relationships/tableStyles" Target="tableStyles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5282F153-3F37-0F45-9E97-73ACFA13230C}" type="datetime1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5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6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7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8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9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0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2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3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4.xml"  /></Relationships>
</file>

<file path=ppt/notesSlides/_rels/notesSlide1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5.xml"  /></Relationships>
</file>

<file path=ppt/notesSlides/_rels/notesSlide1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6.xml"  /></Relationships>
</file>

<file path=ppt/notesSlides/_rels/notesSlide1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7.xml"  /></Relationships>
</file>

<file path=ppt/notesSlides/_rels/notesSlide1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8.xml" 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10" Type="http://schemas.openxmlformats.org/officeDocument/2006/relationships/image" Target="../media/image8.png"  /><Relationship Id="rId11" Type="http://schemas.openxmlformats.org/officeDocument/2006/relationships/image" Target="../media/image9.png"  /><Relationship Id="rId12" Type="http://schemas.openxmlformats.org/officeDocument/2006/relationships/image" Target="../media/image10.png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Relationship Id="rId4" Type="http://schemas.openxmlformats.org/officeDocument/2006/relationships/image" Target="../media/image2.png"  /><Relationship Id="rId5" Type="http://schemas.openxmlformats.org/officeDocument/2006/relationships/image" Target="../media/image3.png"  /><Relationship Id="rId6" Type="http://schemas.openxmlformats.org/officeDocument/2006/relationships/image" Target="../media/image4.png"  /><Relationship Id="rId7" Type="http://schemas.openxmlformats.org/officeDocument/2006/relationships/image" Target="../media/image5.png"  /><Relationship Id="rId8" Type="http://schemas.openxmlformats.org/officeDocument/2006/relationships/image" Target="../media/image6.png"  /><Relationship Id="rId9" Type="http://schemas.openxmlformats.org/officeDocument/2006/relationships/image" Target="../media/image7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1.png"  /><Relationship Id="rId4" Type="http://schemas.openxmlformats.org/officeDocument/2006/relationships/image" Target="../media/image12.png"  /><Relationship Id="rId5" Type="http://schemas.openxmlformats.org/officeDocument/2006/relationships/image" Target="../media/image13.png"  /><Relationship Id="rId6" Type="http://schemas.openxmlformats.org/officeDocument/2006/relationships/image" Target="../media/image14.png"  /><Relationship Id="rId7" Type="http://schemas.openxmlformats.org/officeDocument/2006/relationships/image" Target="../media/image15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10" Type="http://schemas.openxmlformats.org/officeDocument/2006/relationships/image" Target="../media/image23.png"  /><Relationship Id="rId11" Type="http://schemas.openxmlformats.org/officeDocument/2006/relationships/image" Target="../media/image24.png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6.png"  /><Relationship Id="rId4" Type="http://schemas.openxmlformats.org/officeDocument/2006/relationships/image" Target="../media/image17.png"  /><Relationship Id="rId5" Type="http://schemas.openxmlformats.org/officeDocument/2006/relationships/image" Target="../media/image18.png"  /><Relationship Id="rId6" Type="http://schemas.openxmlformats.org/officeDocument/2006/relationships/image" Target="../media/image19.png"  /><Relationship Id="rId7" Type="http://schemas.openxmlformats.org/officeDocument/2006/relationships/image" Target="../media/image20.png"  /><Relationship Id="rId8" Type="http://schemas.openxmlformats.org/officeDocument/2006/relationships/image" Target="../media/image21.png"  /><Relationship Id="rId9" Type="http://schemas.openxmlformats.org/officeDocument/2006/relationships/image" Target="../media/image22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image" Target="../media/image25.png"  /><Relationship Id="rId10" Type="http://schemas.openxmlformats.org/officeDocument/2006/relationships/image" Target="../media/image34.png"  /><Relationship Id="rId11" Type="http://schemas.openxmlformats.org/officeDocument/2006/relationships/image" Target="../media/image35.png"  /><Relationship Id="rId12" Type="http://schemas.openxmlformats.org/officeDocument/2006/relationships/slideLayout" Target="../slideLayouts/slideLayout1.xml"  /><Relationship Id="rId13" Type="http://schemas.openxmlformats.org/officeDocument/2006/relationships/notesSlide" Target="../notesSlides/notesSlide4.xml"  /><Relationship Id="rId2" Type="http://schemas.openxmlformats.org/officeDocument/2006/relationships/image" Target="../media/image26.png"  /><Relationship Id="rId3" Type="http://schemas.openxmlformats.org/officeDocument/2006/relationships/image" Target="../media/image27.png"  /><Relationship Id="rId4" Type="http://schemas.openxmlformats.org/officeDocument/2006/relationships/image" Target="../media/image28.png"  /><Relationship Id="rId5" Type="http://schemas.openxmlformats.org/officeDocument/2006/relationships/image" Target="../media/image29.png"  /><Relationship Id="rId6" Type="http://schemas.openxmlformats.org/officeDocument/2006/relationships/image" Target="../media/image30.png"  /><Relationship Id="rId7" Type="http://schemas.openxmlformats.org/officeDocument/2006/relationships/image" Target="../media/image31.png"  /><Relationship Id="rId8" Type="http://schemas.openxmlformats.org/officeDocument/2006/relationships/image" Target="../media/image32.png"  /><Relationship Id="rId9" Type="http://schemas.openxmlformats.org/officeDocument/2006/relationships/image" Target="../media/image33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10" Type="http://schemas.openxmlformats.org/officeDocument/2006/relationships/image" Target="../media/image43.png"  /><Relationship Id="rId11" Type="http://schemas.openxmlformats.org/officeDocument/2006/relationships/image" Target="../media/image44.png"  /><Relationship Id="rId12" Type="http://schemas.openxmlformats.org/officeDocument/2006/relationships/image" Target="../media/image45.png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36.png"  /><Relationship Id="rId4" Type="http://schemas.openxmlformats.org/officeDocument/2006/relationships/image" Target="../media/image37.png"  /><Relationship Id="rId5" Type="http://schemas.openxmlformats.org/officeDocument/2006/relationships/image" Target="../media/image38.png"  /><Relationship Id="rId6" Type="http://schemas.openxmlformats.org/officeDocument/2006/relationships/image" Target="../media/image39.png"  /><Relationship Id="rId7" Type="http://schemas.openxmlformats.org/officeDocument/2006/relationships/image" Target="../media/image40.png"  /><Relationship Id="rId8" Type="http://schemas.openxmlformats.org/officeDocument/2006/relationships/image" Target="../media/image41.png"  /><Relationship Id="rId9" Type="http://schemas.openxmlformats.org/officeDocument/2006/relationships/image" Target="../media/image42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10" Type="http://schemas.openxmlformats.org/officeDocument/2006/relationships/image" Target="../media/image53.png"  /><Relationship Id="rId11" Type="http://schemas.openxmlformats.org/officeDocument/2006/relationships/image" Target="../media/image54.png"  /><Relationship Id="rId12" Type="http://schemas.openxmlformats.org/officeDocument/2006/relationships/image" Target="../media/image55.png"  /><Relationship Id="rId13" Type="http://schemas.openxmlformats.org/officeDocument/2006/relationships/image" Target="../media/image56.png"  /><Relationship Id="rId14" Type="http://schemas.openxmlformats.org/officeDocument/2006/relationships/image" Target="../media/image57.png"  /><Relationship Id="rId15" Type="http://schemas.openxmlformats.org/officeDocument/2006/relationships/image" Target="../media/image58.png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46.png"  /><Relationship Id="rId4" Type="http://schemas.openxmlformats.org/officeDocument/2006/relationships/image" Target="../media/image47.png"  /><Relationship Id="rId5" Type="http://schemas.openxmlformats.org/officeDocument/2006/relationships/image" Target="../media/image48.png"  /><Relationship Id="rId6" Type="http://schemas.openxmlformats.org/officeDocument/2006/relationships/image" Target="../media/image49.png"  /><Relationship Id="rId7" Type="http://schemas.openxmlformats.org/officeDocument/2006/relationships/image" Target="../media/image50.png"  /><Relationship Id="rId8" Type="http://schemas.openxmlformats.org/officeDocument/2006/relationships/image" Target="../media/image51.png"  /><Relationship Id="rId9" Type="http://schemas.openxmlformats.org/officeDocument/2006/relationships/image" Target="../media/image52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image" Target="../media/image59.png"  /><Relationship Id="rId2" Type="http://schemas.openxmlformats.org/officeDocument/2006/relationships/image" Target="../media/image60.png"  /><Relationship Id="rId3" Type="http://schemas.openxmlformats.org/officeDocument/2006/relationships/image" Target="../media/image61.png"  /><Relationship Id="rId4" Type="http://schemas.openxmlformats.org/officeDocument/2006/relationships/image" Target="../media/image62.png"  /><Relationship Id="rId5" Type="http://schemas.openxmlformats.org/officeDocument/2006/relationships/image" Target="../media/image63.png"  /><Relationship Id="rId6" Type="http://schemas.openxmlformats.org/officeDocument/2006/relationships/slideLayout" Target="../slideLayouts/slideLayout1.xml"  /><Relationship Id="rId7" Type="http://schemas.openxmlformats.org/officeDocument/2006/relationships/notesSlide" Target="../notesSlides/notesSlide7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image" Target="../media/image64.png"  /><Relationship Id="rId2" Type="http://schemas.openxmlformats.org/officeDocument/2006/relationships/image" Target="../media/image65.png"  /><Relationship Id="rId3" Type="http://schemas.openxmlformats.org/officeDocument/2006/relationships/image" Target="../media/image66.png"  /><Relationship Id="rId4" Type="http://schemas.openxmlformats.org/officeDocument/2006/relationships/image" Target="../media/image67.png"  /><Relationship Id="rId5" Type="http://schemas.openxmlformats.org/officeDocument/2006/relationships/image" Target="../media/image68.png"  /><Relationship Id="rId6" Type="http://schemas.openxmlformats.org/officeDocument/2006/relationships/image" Target="../media/image69.png"  /><Relationship Id="rId7" Type="http://schemas.openxmlformats.org/officeDocument/2006/relationships/image" Target="../media/image70.png"  /><Relationship Id="rId8" Type="http://schemas.openxmlformats.org/officeDocument/2006/relationships/slideLayout" Target="../slideLayouts/slideLayout1.xml"  /><Relationship Id="rId9" Type="http://schemas.openxmlformats.org/officeDocument/2006/relationships/notesSlide" Target="../notesSlides/notesSlide8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image" Target="../media/image71.png"  /><Relationship Id="rId10" Type="http://schemas.openxmlformats.org/officeDocument/2006/relationships/image" Target="../media/image80.png"  /><Relationship Id="rId11" Type="http://schemas.openxmlformats.org/officeDocument/2006/relationships/image" Target="../media/image81.png"  /><Relationship Id="rId12" Type="http://schemas.openxmlformats.org/officeDocument/2006/relationships/slideLayout" Target="../slideLayouts/slideLayout1.xml"  /><Relationship Id="rId13" Type="http://schemas.openxmlformats.org/officeDocument/2006/relationships/notesSlide" Target="../notesSlides/notesSlide9.xml"  /><Relationship Id="rId2" Type="http://schemas.openxmlformats.org/officeDocument/2006/relationships/image" Target="../media/image72.png"  /><Relationship Id="rId3" Type="http://schemas.openxmlformats.org/officeDocument/2006/relationships/image" Target="../media/image73.png"  /><Relationship Id="rId4" Type="http://schemas.openxmlformats.org/officeDocument/2006/relationships/image" Target="../media/image74.png"  /><Relationship Id="rId5" Type="http://schemas.openxmlformats.org/officeDocument/2006/relationships/image" Target="../media/image75.png"  /><Relationship Id="rId6" Type="http://schemas.openxmlformats.org/officeDocument/2006/relationships/image" Target="../media/image76.png"  /><Relationship Id="rId7" Type="http://schemas.openxmlformats.org/officeDocument/2006/relationships/image" Target="../media/image77.png"  /><Relationship Id="rId8" Type="http://schemas.openxmlformats.org/officeDocument/2006/relationships/image" Target="../media/image78.png"  /><Relationship Id="rId9" Type="http://schemas.openxmlformats.org/officeDocument/2006/relationships/image" Target="../media/image79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image" Target="../media/image82.png"  /><Relationship Id="rId10" Type="http://schemas.openxmlformats.org/officeDocument/2006/relationships/image" Target="../media/image91.png"  /><Relationship Id="rId11" Type="http://schemas.openxmlformats.org/officeDocument/2006/relationships/image" Target="../media/image92.png"  /><Relationship Id="rId12" Type="http://schemas.openxmlformats.org/officeDocument/2006/relationships/image" Target="../media/image93.png"  /><Relationship Id="rId13" Type="http://schemas.openxmlformats.org/officeDocument/2006/relationships/slideLayout" Target="../slideLayouts/slideLayout1.xml"  /><Relationship Id="rId14" Type="http://schemas.openxmlformats.org/officeDocument/2006/relationships/notesSlide" Target="../notesSlides/notesSlide10.xml"  /><Relationship Id="rId2" Type="http://schemas.openxmlformats.org/officeDocument/2006/relationships/image" Target="../media/image83.png"  /><Relationship Id="rId3" Type="http://schemas.openxmlformats.org/officeDocument/2006/relationships/image" Target="../media/image84.png"  /><Relationship Id="rId4" Type="http://schemas.openxmlformats.org/officeDocument/2006/relationships/image" Target="../media/image85.png"  /><Relationship Id="rId5" Type="http://schemas.openxmlformats.org/officeDocument/2006/relationships/image" Target="../media/image86.png"  /><Relationship Id="rId6" Type="http://schemas.openxmlformats.org/officeDocument/2006/relationships/image" Target="../media/image87.png"  /><Relationship Id="rId7" Type="http://schemas.openxmlformats.org/officeDocument/2006/relationships/image" Target="../media/image88.png"  /><Relationship Id="rId8" Type="http://schemas.openxmlformats.org/officeDocument/2006/relationships/image" Target="../media/image89.png"  /><Relationship Id="rId9" Type="http://schemas.openxmlformats.org/officeDocument/2006/relationships/image" Target="../media/image90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1.xml"  /><Relationship Id="rId10" Type="http://schemas.openxmlformats.org/officeDocument/2006/relationships/image" Target="../media/image101.png"  /><Relationship Id="rId11" Type="http://schemas.openxmlformats.org/officeDocument/2006/relationships/image" Target="../media/image101.png"  /><Relationship Id="rId12" Type="http://schemas.openxmlformats.org/officeDocument/2006/relationships/image" Target="../media/image101.png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94.png"  /><Relationship Id="rId4" Type="http://schemas.openxmlformats.org/officeDocument/2006/relationships/image" Target="../media/image95.png"  /><Relationship Id="rId5" Type="http://schemas.openxmlformats.org/officeDocument/2006/relationships/image" Target="../media/image96.png"  /><Relationship Id="rId6" Type="http://schemas.openxmlformats.org/officeDocument/2006/relationships/image" Target="../media/image97.png"  /><Relationship Id="rId7" Type="http://schemas.openxmlformats.org/officeDocument/2006/relationships/image" Target="../media/image98.png"  /><Relationship Id="rId8" Type="http://schemas.openxmlformats.org/officeDocument/2006/relationships/image" Target="../media/image99.png"  /><Relationship Id="rId9" Type="http://schemas.openxmlformats.org/officeDocument/2006/relationships/image" Target="../media/image100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image" Target="../media/image102.png"  /><Relationship Id="rId10" Type="http://schemas.openxmlformats.org/officeDocument/2006/relationships/notesSlide" Target="../notesSlides/notesSlide12.xml"  /><Relationship Id="rId2" Type="http://schemas.openxmlformats.org/officeDocument/2006/relationships/image" Target="../media/image103.png"  /><Relationship Id="rId3" Type="http://schemas.openxmlformats.org/officeDocument/2006/relationships/image" Target="../media/image104.png"  /><Relationship Id="rId4" Type="http://schemas.openxmlformats.org/officeDocument/2006/relationships/image" Target="../media/image105.png"  /><Relationship Id="rId5" Type="http://schemas.openxmlformats.org/officeDocument/2006/relationships/image" Target="../media/image106.png"  /><Relationship Id="rId6" Type="http://schemas.openxmlformats.org/officeDocument/2006/relationships/image" Target="../media/image107.png"  /><Relationship Id="rId7" Type="http://schemas.openxmlformats.org/officeDocument/2006/relationships/image" Target="../media/image108.png"  /><Relationship Id="rId8" Type="http://schemas.openxmlformats.org/officeDocument/2006/relationships/image" Target="../media/image109.png"  /><Relationship Id="rId9" Type="http://schemas.openxmlformats.org/officeDocument/2006/relationships/slideLayout" Target="../slideLayouts/slideLayout1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image" Target="../media/image110.png"  /><Relationship Id="rId10" Type="http://schemas.openxmlformats.org/officeDocument/2006/relationships/slideLayout" Target="../slideLayouts/slideLayout1.xml"  /><Relationship Id="rId11" Type="http://schemas.openxmlformats.org/officeDocument/2006/relationships/notesSlide" Target="../notesSlides/notesSlide13.xml"  /><Relationship Id="rId2" Type="http://schemas.openxmlformats.org/officeDocument/2006/relationships/image" Target="../media/image111.png"  /><Relationship Id="rId3" Type="http://schemas.openxmlformats.org/officeDocument/2006/relationships/image" Target="../media/image112.png"  /><Relationship Id="rId4" Type="http://schemas.openxmlformats.org/officeDocument/2006/relationships/image" Target="../media/image113.png"  /><Relationship Id="rId5" Type="http://schemas.openxmlformats.org/officeDocument/2006/relationships/image" Target="../media/image114.png"  /><Relationship Id="rId6" Type="http://schemas.openxmlformats.org/officeDocument/2006/relationships/image" Target="../media/image115.png"  /><Relationship Id="rId7" Type="http://schemas.openxmlformats.org/officeDocument/2006/relationships/image" Target="../media/image116.png"  /><Relationship Id="rId8" Type="http://schemas.openxmlformats.org/officeDocument/2006/relationships/image" Target="../media/image117.png"  /><Relationship Id="rId9" Type="http://schemas.openxmlformats.org/officeDocument/2006/relationships/image" Target="../media/image118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image" Target="../media/image119.png"  /><Relationship Id="rId10" Type="http://schemas.openxmlformats.org/officeDocument/2006/relationships/notesSlide" Target="../notesSlides/notesSlide14.xml"  /><Relationship Id="rId2" Type="http://schemas.openxmlformats.org/officeDocument/2006/relationships/image" Target="../media/image120.png"  /><Relationship Id="rId3" Type="http://schemas.openxmlformats.org/officeDocument/2006/relationships/image" Target="../media/image121.png"  /><Relationship Id="rId4" Type="http://schemas.openxmlformats.org/officeDocument/2006/relationships/image" Target="../media/image122.png"  /><Relationship Id="rId5" Type="http://schemas.openxmlformats.org/officeDocument/2006/relationships/image" Target="../media/image123.png"  /><Relationship Id="rId6" Type="http://schemas.openxmlformats.org/officeDocument/2006/relationships/image" Target="../media/image124.png"  /><Relationship Id="rId7" Type="http://schemas.openxmlformats.org/officeDocument/2006/relationships/image" Target="../media/image125.png"  /><Relationship Id="rId8" Type="http://schemas.openxmlformats.org/officeDocument/2006/relationships/image" Target="../media/image126.png"  /><Relationship Id="rId9" Type="http://schemas.openxmlformats.org/officeDocument/2006/relationships/slideLayout" Target="../slideLayouts/slideLayout1.xml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5.xml"  /><Relationship Id="rId10" Type="http://schemas.openxmlformats.org/officeDocument/2006/relationships/image" Target="../media/image134.png"  /><Relationship Id="rId11" Type="http://schemas.openxmlformats.org/officeDocument/2006/relationships/image" Target="../media/image135.png"  /><Relationship Id="rId12" Type="http://schemas.openxmlformats.org/officeDocument/2006/relationships/image" Target="../media/image136.png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27.png"  /><Relationship Id="rId4" Type="http://schemas.openxmlformats.org/officeDocument/2006/relationships/image" Target="../media/image128.png"  /><Relationship Id="rId5" Type="http://schemas.openxmlformats.org/officeDocument/2006/relationships/image" Target="../media/image129.png"  /><Relationship Id="rId6" Type="http://schemas.openxmlformats.org/officeDocument/2006/relationships/image" Target="../media/image130.png"  /><Relationship Id="rId7" Type="http://schemas.openxmlformats.org/officeDocument/2006/relationships/image" Target="../media/image131.png"  /><Relationship Id="rId8" Type="http://schemas.openxmlformats.org/officeDocument/2006/relationships/image" Target="../media/image132.png"  /><Relationship Id="rId9" Type="http://schemas.openxmlformats.org/officeDocument/2006/relationships/image" Target="../media/image133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image" Target="../media/image137.png"  /><Relationship Id="rId10" Type="http://schemas.openxmlformats.org/officeDocument/2006/relationships/image" Target="../media/image146.png"  /><Relationship Id="rId11" Type="http://schemas.openxmlformats.org/officeDocument/2006/relationships/image" Target="../media/image147.png"  /><Relationship Id="rId12" Type="http://schemas.openxmlformats.org/officeDocument/2006/relationships/slideLayout" Target="../slideLayouts/slideLayout1.xml"  /><Relationship Id="rId13" Type="http://schemas.openxmlformats.org/officeDocument/2006/relationships/notesSlide" Target="../notesSlides/notesSlide16.xml"  /><Relationship Id="rId2" Type="http://schemas.openxmlformats.org/officeDocument/2006/relationships/image" Target="../media/image138.png"  /><Relationship Id="rId3" Type="http://schemas.openxmlformats.org/officeDocument/2006/relationships/image" Target="../media/image139.png"  /><Relationship Id="rId4" Type="http://schemas.openxmlformats.org/officeDocument/2006/relationships/image" Target="../media/image140.png"  /><Relationship Id="rId5" Type="http://schemas.openxmlformats.org/officeDocument/2006/relationships/image" Target="../media/image141.png"  /><Relationship Id="rId6" Type="http://schemas.openxmlformats.org/officeDocument/2006/relationships/image" Target="../media/image142.png"  /><Relationship Id="rId7" Type="http://schemas.openxmlformats.org/officeDocument/2006/relationships/image" Target="../media/image143.png"  /><Relationship Id="rId8" Type="http://schemas.openxmlformats.org/officeDocument/2006/relationships/image" Target="../media/image144.png"  /><Relationship Id="rId9" Type="http://schemas.openxmlformats.org/officeDocument/2006/relationships/image" Target="../media/image145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image" Target="../media/image148.png"  /><Relationship Id="rId2" Type="http://schemas.openxmlformats.org/officeDocument/2006/relationships/image" Target="../media/image149.png"  /><Relationship Id="rId3" Type="http://schemas.openxmlformats.org/officeDocument/2006/relationships/image" Target="../media/image150.png"  /><Relationship Id="rId4" Type="http://schemas.openxmlformats.org/officeDocument/2006/relationships/image" Target="../media/image151.png"  /><Relationship Id="rId5" Type="http://schemas.openxmlformats.org/officeDocument/2006/relationships/image" Target="../media/image152.png"  /><Relationship Id="rId6" Type="http://schemas.openxmlformats.org/officeDocument/2006/relationships/slideLayout" Target="../slideLayouts/slideLayout1.xml"  /><Relationship Id="rId7" Type="http://schemas.openxmlformats.org/officeDocument/2006/relationships/notesSlide" Target="../notesSlides/notesSlide17.xml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image" Target="../media/image153.png"  /><Relationship Id="rId2" Type="http://schemas.openxmlformats.org/officeDocument/2006/relationships/image" Target="../media/image154.png"  /><Relationship Id="rId3" Type="http://schemas.openxmlformats.org/officeDocument/2006/relationships/image" Target="../media/image155.png"  /><Relationship Id="rId4" Type="http://schemas.openxmlformats.org/officeDocument/2006/relationships/image" Target="../media/image156.png"  /><Relationship Id="rId5" Type="http://schemas.openxmlformats.org/officeDocument/2006/relationships/slideLayout" Target="../slideLayouts/slideLayout1.xml"  /><Relationship Id="rId6" Type="http://schemas.openxmlformats.org/officeDocument/2006/relationships/notesSlide" Target="../notesSlides/notesSlide18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17145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Shape 3"/>
          <p:cNvSpPr/>
          <p:nvPr/>
        </p:nvSpPr>
        <p:spPr>
          <a:xfrm>
            <a:off x="10436962" y="895198"/>
            <a:ext cx="1190549" cy="342900"/>
          </a:xfrm>
          <a:prstGeom prst="roundRect">
            <a:avLst>
              <a:gd name="adj" fmla="val 59259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71500" y="1981505"/>
            <a:ext cx="3534156" cy="3991356"/>
          </a:xfrm>
          <a:prstGeom prst="roundRect">
            <a:avLst>
              <a:gd name="adj" fmla="val 11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05256" y="2314346"/>
            <a:ext cx="190195" cy="190195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4"/>
          <a:srcRect l="0" r="0" t="-1100" b="-1100"/>
          <a:stretch/>
        </p:blipFill>
        <p:spPr>
          <a:xfrm>
            <a:off x="809244" y="2809951"/>
            <a:ext cx="114300" cy="133502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/>
          <a:srcRect l="0" r="0" t="-1100" b="-1100"/>
          <a:stretch/>
        </p:blipFill>
        <p:spPr>
          <a:xfrm>
            <a:off x="809244" y="3633826"/>
            <a:ext cx="114300" cy="133502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/>
          <a:srcRect l="0" r="0" t="-1100" b="-1100"/>
          <a:stretch/>
        </p:blipFill>
        <p:spPr>
          <a:xfrm>
            <a:off x="809244" y="4457700"/>
            <a:ext cx="114300" cy="133502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4330598" y="1981505"/>
            <a:ext cx="3534156" cy="3991356"/>
          </a:xfrm>
          <a:prstGeom prst="roundRect">
            <a:avLst>
              <a:gd name="adj" fmla="val 11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6"/>
          <p:cNvSpPr/>
          <p:nvPr/>
        </p:nvSpPr>
        <p:spPr>
          <a:xfrm>
            <a:off x="4568342" y="2219249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DBEAFE"/>
          </a:solidFill>
          <a:ln/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688129" y="2314346"/>
            <a:ext cx="142646" cy="190195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4568342" y="2752344"/>
            <a:ext cx="31720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증강 전략 추가 수집 없이 232장 → 651장 확보 및 정합성 검증 완료</a:t>
            </a:r>
            <a:endParaRPr lang="en-US" sz="1200" dirty="0"/>
          </a:p>
        </p:txBody>
      </p:sp>
      <p:sp>
        <p:nvSpPr>
          <p:cNvPr id="15" name="Text 8"/>
          <p:cNvSpPr txBox="1"/>
          <p:nvPr/>
        </p:nvSpPr>
        <p:spPr>
          <a:xfrm>
            <a:off x="4568342" y="3362249"/>
            <a:ext cx="31720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실시간성 확보 모바일 환경 UX를 고려하여 무거운 모델 대신 YOLO 최적화 선택</a:t>
            </a:r>
            <a:endParaRPr lang="en-US" sz="12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8"/>
          <a:srcRect l="-1507" r="-1507" t="0" b="0"/>
          <a:stretch/>
        </p:blipFill>
        <p:spPr>
          <a:xfrm>
            <a:off x="4568342" y="4028846"/>
            <a:ext cx="171907" cy="133502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8089697" y="1981505"/>
            <a:ext cx="3534156" cy="3991356"/>
          </a:xfrm>
          <a:prstGeom prst="roundRect">
            <a:avLst>
              <a:gd name="adj" fmla="val 11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0"/>
          <p:cNvSpPr/>
          <p:nvPr/>
        </p:nvSpPr>
        <p:spPr>
          <a:xfrm>
            <a:off x="8328355" y="2219249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E0E7FF"/>
          </a:solidFill>
          <a:ln/>
        </p:spPr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8423453" y="2314346"/>
            <a:ext cx="190195" cy="190195"/>
          </a:xfrm>
          <a:prstGeom prst="rect">
            <a:avLst/>
          </a:prstGeom>
        </p:spPr>
      </p:pic>
      <p:sp>
        <p:nvSpPr>
          <p:cNvPr id="20" name="Shape 11"/>
          <p:cNvSpPr/>
          <p:nvPr/>
        </p:nvSpPr>
        <p:spPr>
          <a:xfrm>
            <a:off x="8328355" y="3978554"/>
            <a:ext cx="3057754" cy="9144"/>
          </a:xfrm>
          <a:prstGeom prst="rect">
            <a:avLst/>
          </a:prstGeom>
          <a:solidFill>
            <a:srgbClr val="C7D2FE"/>
          </a:solidFill>
          <a:ln/>
        </p:spPr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10"/>
          <a:srcRect l="0" r="0" t="-1100" b="-1100"/>
          <a:stretch/>
        </p:blipFill>
        <p:spPr>
          <a:xfrm>
            <a:off x="8817559" y="4441241"/>
            <a:ext cx="114300" cy="133502"/>
          </a:xfrm>
          <a:prstGeom prst="rect">
            <a:avLst/>
          </a:prstGeom>
        </p:spPr>
      </p:pic>
      <p:sp>
        <p:nvSpPr>
          <p:cNvPr id="22" name="Shape 12"/>
          <p:cNvSpPr/>
          <p:nvPr/>
        </p:nvSpPr>
        <p:spPr>
          <a:xfrm>
            <a:off x="8328355" y="5105095"/>
            <a:ext cx="3057754" cy="629107"/>
          </a:xfrm>
          <a:prstGeom prst="roundRect">
            <a:avLst>
              <a:gd name="adj" fmla="val 17618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11"/>
          <a:srcRect l="-1507" r="-1507" t="0" b="0"/>
          <a:stretch/>
        </p:blipFill>
        <p:spPr>
          <a:xfrm>
            <a:off x="8451799" y="5257800"/>
            <a:ext cx="171907" cy="133502"/>
          </a:xfrm>
          <a:prstGeom prst="rect">
            <a:avLst/>
          </a:prstGeom>
        </p:spPr>
      </p:pic>
      <p:sp>
        <p:nvSpPr>
          <p:cNvPr id="24" name="Shape 13"/>
          <p:cNvSpPr/>
          <p:nvPr/>
        </p:nvSpPr>
        <p:spPr>
          <a:xfrm>
            <a:off x="571500" y="6200546"/>
            <a:ext cx="11048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5" name="Text 14"/>
          <p:cNvSpPr txBox="1"/>
          <p:nvPr/>
        </p:nvSpPr>
        <p:spPr>
          <a:xfrm>
            <a:off x="571500" y="381305"/>
            <a:ext cx="18434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TEAM 7 · SUPER AGENTS</a:t>
            </a:r>
            <a:endParaRPr lang="en-US" sz="1000" dirty="0"/>
          </a:p>
        </p:txBody>
      </p:sp>
      <p:sp>
        <p:nvSpPr>
          <p:cNvPr id="26" name="Text 15"/>
          <p:cNvSpPr txBox="1"/>
          <p:nvPr/>
        </p:nvSpPr>
        <p:spPr>
          <a:xfrm>
            <a:off x="571500" y="599846"/>
            <a:ext cx="183885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PillPal</a:t>
            </a:r>
            <a:endParaRPr lang="en-US" sz="3600" dirty="0"/>
          </a:p>
        </p:txBody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2"/>
          <a:srcRect l="0" r="0" t="-1100" b="-1100"/>
          <a:stretch/>
        </p:blipFill>
        <p:spPr>
          <a:xfrm>
            <a:off x="10589666" y="1007669"/>
            <a:ext cx="114300" cy="133502"/>
          </a:xfrm>
          <a:prstGeom prst="rect">
            <a:avLst/>
          </a:prstGeom>
        </p:spPr>
      </p:pic>
      <p:sp>
        <p:nvSpPr>
          <p:cNvPr id="28" name="Text 16"/>
          <p:cNvSpPr txBox="1"/>
          <p:nvPr/>
        </p:nvSpPr>
        <p:spPr>
          <a:xfrm>
            <a:off x="10779862" y="972007"/>
            <a:ext cx="795528" cy="19111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100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2025.12.2</a:t>
            </a:r>
            <a:r>
              <a:rPr lang="en-US" altLang="ko-KR" sz="100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  <a:endParaRPr lang="en-US" altLang="ko-KR" sz="100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9" name="Text 17"/>
          <p:cNvSpPr txBox="1"/>
          <p:nvPr/>
        </p:nvSpPr>
        <p:spPr>
          <a:xfrm>
            <a:off x="1304849" y="2266798"/>
            <a:ext cx="16578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우리팀이 주목한 점</a:t>
            </a:r>
            <a:endParaRPr lang="en-US" sz="1500" dirty="0"/>
          </a:p>
        </p:txBody>
      </p:sp>
      <p:sp>
        <p:nvSpPr>
          <p:cNvPr id="30" name="Text 18"/>
          <p:cNvSpPr txBox="1"/>
          <p:nvPr/>
        </p:nvSpPr>
        <p:spPr>
          <a:xfrm>
            <a:off x="1037844" y="2762402"/>
            <a:ext cx="15197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"점수"보다 "신뢰"</a:t>
            </a:r>
            <a:endParaRPr lang="en-US" sz="1300" dirty="0"/>
          </a:p>
        </p:txBody>
      </p:sp>
      <p:sp>
        <p:nvSpPr>
          <p:cNvPr id="31" name="Text 19"/>
          <p:cNvSpPr txBox="1"/>
          <p:nvPr/>
        </p:nvSpPr>
        <p:spPr>
          <a:xfrm>
            <a:off x="1037844" y="3047695"/>
            <a:ext cx="277703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mAP 상승이 아닌, 실제 운영 환경에서 믿을 수 있는 근거 마련</a:t>
            </a:r>
            <a:endParaRPr lang="en-US" sz="1000" dirty="0"/>
          </a:p>
        </p:txBody>
      </p:sp>
      <p:sp>
        <p:nvSpPr>
          <p:cNvPr id="32" name="Text 20"/>
          <p:cNvSpPr txBox="1"/>
          <p:nvPr/>
        </p:nvSpPr>
        <p:spPr>
          <a:xfrm>
            <a:off x="1037844" y="3586277"/>
            <a:ext cx="11292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제한된 리소스</a:t>
            </a:r>
            <a:endParaRPr lang="en-US" sz="1300" dirty="0"/>
          </a:p>
        </p:txBody>
      </p:sp>
      <p:sp>
        <p:nvSpPr>
          <p:cNvPr id="33" name="Text 21"/>
          <p:cNvSpPr txBox="1"/>
          <p:nvPr/>
        </p:nvSpPr>
        <p:spPr>
          <a:xfrm>
            <a:off x="1037844" y="3871570"/>
            <a:ext cx="271942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부족 상황을 가정하여 효율적인 End-to-End 파이프라인 구축</a:t>
            </a:r>
            <a:endParaRPr lang="en-US" sz="1000" dirty="0"/>
          </a:p>
        </p:txBody>
      </p:sp>
      <p:sp>
        <p:nvSpPr>
          <p:cNvPr id="34" name="Text 22"/>
          <p:cNvSpPr txBox="1"/>
          <p:nvPr/>
        </p:nvSpPr>
        <p:spPr>
          <a:xfrm>
            <a:off x="1037844" y="4410151"/>
            <a:ext cx="11009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 중심 개발</a:t>
            </a:r>
            <a:endParaRPr lang="en-US" sz="1300" dirty="0"/>
          </a:p>
        </p:txBody>
      </p:sp>
      <p:sp>
        <p:nvSpPr>
          <p:cNvPr id="35" name="Text 23"/>
          <p:cNvSpPr txBox="1"/>
          <p:nvPr/>
        </p:nvSpPr>
        <p:spPr>
          <a:xfrm>
            <a:off x="1037844" y="4695444"/>
            <a:ext cx="284378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엄격한 Leakage Gate와 측정기 고정을 통한 신뢰성 확보</a:t>
            </a:r>
            <a:endParaRPr lang="en-US" sz="1000" dirty="0"/>
          </a:p>
        </p:txBody>
      </p:sp>
      <p:sp>
        <p:nvSpPr>
          <p:cNvPr id="36" name="Text 24"/>
          <p:cNvSpPr txBox="1"/>
          <p:nvPr/>
        </p:nvSpPr>
        <p:spPr>
          <a:xfrm>
            <a:off x="5063947" y="2266798"/>
            <a:ext cx="14292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차별점</a:t>
            </a:r>
            <a:endParaRPr lang="en-US" sz="1500" dirty="0"/>
          </a:p>
        </p:txBody>
      </p:sp>
      <p:sp>
        <p:nvSpPr>
          <p:cNvPr id="37" name="Text 25"/>
          <p:cNvSpPr txBox="1"/>
          <p:nvPr/>
        </p:nvSpPr>
        <p:spPr>
          <a:xfrm>
            <a:off x="4854550" y="3981298"/>
            <a:ext cx="10149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 과정 검증</a:t>
            </a:r>
            <a:endParaRPr lang="en-US" sz="1300" dirty="0"/>
          </a:p>
        </p:txBody>
      </p:sp>
      <p:sp>
        <p:nvSpPr>
          <p:cNvPr id="38" name="Text 26"/>
          <p:cNvSpPr txBox="1"/>
          <p:nvPr/>
        </p:nvSpPr>
        <p:spPr>
          <a:xfrm>
            <a:off x="4854550" y="4267505"/>
            <a:ext cx="287213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데이터부터 서비스 배포까지 끊김 없는 파이프라인 설계</a:t>
            </a:r>
            <a:endParaRPr lang="en-US" sz="1000" dirty="0"/>
          </a:p>
        </p:txBody>
      </p:sp>
      <p:sp>
        <p:nvSpPr>
          <p:cNvPr id="39" name="Text 27"/>
          <p:cNvSpPr txBox="1"/>
          <p:nvPr/>
        </p:nvSpPr>
        <p:spPr>
          <a:xfrm>
            <a:off x="8823046" y="2266798"/>
            <a:ext cx="905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성과</a:t>
            </a:r>
            <a:endParaRPr lang="en-US" sz="1500" dirty="0"/>
          </a:p>
        </p:txBody>
      </p:sp>
      <p:sp>
        <p:nvSpPr>
          <p:cNvPr id="40" name="Text 28"/>
          <p:cNvSpPr txBox="1"/>
          <p:nvPr/>
        </p:nvSpPr>
        <p:spPr>
          <a:xfrm>
            <a:off x="8328355" y="2743200"/>
            <a:ext cx="13816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MODEL PERFORMANCE</a:t>
            </a:r>
            <a:endParaRPr lang="en-US" sz="900" dirty="0"/>
          </a:p>
        </p:txBody>
      </p:sp>
      <p:sp>
        <p:nvSpPr>
          <p:cNvPr id="41" name="Text 29"/>
          <p:cNvSpPr txBox="1"/>
          <p:nvPr/>
        </p:nvSpPr>
        <p:spPr>
          <a:xfrm>
            <a:off x="8328355" y="2885846"/>
            <a:ext cx="12198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0.844</a:t>
            </a:r>
            <a:endParaRPr lang="en-US" sz="2700" dirty="0"/>
          </a:p>
        </p:txBody>
      </p:sp>
      <p:sp>
        <p:nvSpPr>
          <p:cNvPr id="42" name="Text 30"/>
          <p:cNvSpPr txBox="1"/>
          <p:nvPr/>
        </p:nvSpPr>
        <p:spPr>
          <a:xfrm>
            <a:off x="9360713" y="3133649"/>
            <a:ext cx="7763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mAP 50-95</a:t>
            </a:r>
            <a:endParaRPr lang="en-US" sz="1000" dirty="0"/>
          </a:p>
        </p:txBody>
      </p:sp>
      <p:sp>
        <p:nvSpPr>
          <p:cNvPr id="43" name="Text 31"/>
          <p:cNvSpPr txBox="1"/>
          <p:nvPr/>
        </p:nvSpPr>
        <p:spPr>
          <a:xfrm>
            <a:off x="8328355" y="3343046"/>
            <a:ext cx="7909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0.958</a:t>
            </a:r>
            <a:endParaRPr lang="en-US" sz="1800" dirty="0"/>
          </a:p>
        </p:txBody>
      </p:sp>
      <p:sp>
        <p:nvSpPr>
          <p:cNvPr id="44" name="Text 32"/>
          <p:cNvSpPr txBox="1"/>
          <p:nvPr/>
        </p:nvSpPr>
        <p:spPr>
          <a:xfrm>
            <a:off x="9017813" y="3476549"/>
            <a:ext cx="4956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mAP 50</a:t>
            </a:r>
            <a:endParaRPr lang="en-US" sz="900" dirty="0"/>
          </a:p>
        </p:txBody>
      </p:sp>
      <p:sp>
        <p:nvSpPr>
          <p:cNvPr id="45" name="Text 33"/>
          <p:cNvSpPr txBox="1"/>
          <p:nvPr/>
        </p:nvSpPr>
        <p:spPr>
          <a:xfrm>
            <a:off x="8328355" y="4136746"/>
            <a:ext cx="952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SERVICE SCALE</a:t>
            </a:r>
            <a:endParaRPr lang="en-US" sz="900" dirty="0"/>
          </a:p>
        </p:txBody>
      </p:sp>
      <p:sp>
        <p:nvSpPr>
          <p:cNvPr id="46" name="Text 34"/>
          <p:cNvSpPr txBox="1"/>
          <p:nvPr/>
        </p:nvSpPr>
        <p:spPr>
          <a:xfrm>
            <a:off x="8328355" y="4298594"/>
            <a:ext cx="55778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56</a:t>
            </a:r>
            <a:endParaRPr lang="en-US" sz="2200" dirty="0"/>
          </a:p>
        </p:txBody>
      </p:sp>
      <p:sp>
        <p:nvSpPr>
          <p:cNvPr id="47" name="Text 35"/>
          <p:cNvSpPr txBox="1"/>
          <p:nvPr/>
        </p:nvSpPr>
        <p:spPr>
          <a:xfrm>
            <a:off x="9007754" y="4298594"/>
            <a:ext cx="55778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F46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74</a:t>
            </a:r>
            <a:endParaRPr lang="en-US" sz="2200" dirty="0"/>
          </a:p>
        </p:txBody>
      </p:sp>
      <p:sp>
        <p:nvSpPr>
          <p:cNvPr id="48" name="Text 36"/>
          <p:cNvSpPr txBox="1"/>
          <p:nvPr/>
        </p:nvSpPr>
        <p:spPr>
          <a:xfrm>
            <a:off x="9421978" y="4412894"/>
            <a:ext cx="5669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Classes</a:t>
            </a:r>
            <a:endParaRPr lang="en-US" sz="1000" dirty="0"/>
          </a:p>
        </p:txBody>
      </p:sp>
      <p:sp>
        <p:nvSpPr>
          <p:cNvPr id="49" name="Text 37"/>
          <p:cNvSpPr txBox="1"/>
          <p:nvPr/>
        </p:nvSpPr>
        <p:spPr>
          <a:xfrm>
            <a:off x="8328355" y="4708246"/>
            <a:ext cx="15151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클래스 확장 및 인식 범위 증대</a:t>
            </a:r>
            <a:endParaRPr lang="en-US" sz="900" dirty="0"/>
          </a:p>
        </p:txBody>
      </p:sp>
      <p:sp>
        <p:nvSpPr>
          <p:cNvPr id="50" name="Text 38"/>
          <p:cNvSpPr txBox="1"/>
          <p:nvPr/>
        </p:nvSpPr>
        <p:spPr>
          <a:xfrm>
            <a:off x="8699602" y="5228539"/>
            <a:ext cx="11960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338C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Next.js + FastAPI</a:t>
            </a:r>
            <a:endParaRPr lang="en-US" sz="1000" dirty="0"/>
          </a:p>
        </p:txBody>
      </p:sp>
      <p:sp>
        <p:nvSpPr>
          <p:cNvPr id="51" name="Text 39"/>
          <p:cNvSpPr txBox="1"/>
          <p:nvPr/>
        </p:nvSpPr>
        <p:spPr>
          <a:xfrm>
            <a:off x="8451799" y="5447995"/>
            <a:ext cx="13716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웹 서비스 배포 완료</a:t>
            </a:r>
            <a:endParaRPr lang="en-US" sz="900" dirty="0"/>
          </a:p>
        </p:txBody>
      </p:sp>
      <p:sp>
        <p:nvSpPr>
          <p:cNvPr id="52" name="Text 40"/>
          <p:cNvSpPr txBox="1"/>
          <p:nvPr/>
        </p:nvSpPr>
        <p:spPr>
          <a:xfrm>
            <a:off x="571500" y="6314846"/>
            <a:ext cx="13624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PillPal Project Overview</a:t>
            </a:r>
            <a:endParaRPr lang="en-US" sz="900" dirty="0"/>
          </a:p>
        </p:txBody>
      </p:sp>
      <p:sp>
        <p:nvSpPr>
          <p:cNvPr id="53" name="Text 41"/>
          <p:cNvSpPr txBox="1"/>
          <p:nvPr/>
        </p:nvSpPr>
        <p:spPr>
          <a:xfrm>
            <a:off x="10521086" y="6314846"/>
            <a:ext cx="11914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Team 7 Presentation</a:t>
            </a:r>
            <a:endParaRPr lang="en-US" sz="900" dirty="0"/>
          </a:p>
        </p:txBody>
      </p:sp>
      <p:sp>
        <p:nvSpPr>
          <p:cNvPr id="54" name="Text 42"/>
          <p:cNvSpPr txBox="1"/>
          <p:nvPr/>
        </p:nvSpPr>
        <p:spPr>
          <a:xfrm>
            <a:off x="571500" y="1276502"/>
            <a:ext cx="50584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기반 알약 식별 + 스마트 복약 관리 (End-to-End)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Shape 3"/>
          <p:cNvSpPr/>
          <p:nvPr/>
        </p:nvSpPr>
        <p:spPr>
          <a:xfrm>
            <a:off x="571500" y="1209751"/>
            <a:ext cx="6324905" cy="5277002"/>
          </a:xfrm>
          <a:prstGeom prst="roundRect">
            <a:avLst>
              <a:gd name="adj" fmla="val 500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59752" y="1247698"/>
            <a:ext cx="75895" cy="2210105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498994" y="1390802"/>
            <a:ext cx="142646" cy="190195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498994" y="1809598"/>
            <a:ext cx="133502" cy="133502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498994" y="2305202"/>
            <a:ext cx="133502" cy="133502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498994" y="2800807"/>
            <a:ext cx="133502" cy="133502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7194499" y="3562502"/>
            <a:ext cx="4429354" cy="2838298"/>
          </a:xfrm>
          <a:prstGeom prst="roundRect">
            <a:avLst>
              <a:gd name="adj" fmla="val 173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7432243" y="3838651"/>
            <a:ext cx="237744" cy="190195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7432243" y="4525366"/>
            <a:ext cx="3952951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4" name="Shape 7"/>
          <p:cNvSpPr/>
          <p:nvPr/>
        </p:nvSpPr>
        <p:spPr>
          <a:xfrm>
            <a:off x="7432243" y="4953305"/>
            <a:ext cx="3952951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5" name="Shape 8"/>
          <p:cNvSpPr/>
          <p:nvPr/>
        </p:nvSpPr>
        <p:spPr>
          <a:xfrm>
            <a:off x="7432243" y="4647895"/>
            <a:ext cx="418795" cy="228600"/>
          </a:xfrm>
          <a:prstGeom prst="roundRect">
            <a:avLst>
              <a:gd name="adj" fmla="val 66667"/>
            </a:avLst>
          </a:prstGeom>
          <a:solidFill>
            <a:srgbClr val="DBEAFE"/>
          </a:solidFill>
          <a:ln/>
        </p:spPr>
      </p:sp>
      <p:sp>
        <p:nvSpPr>
          <p:cNvPr id="16" name="Shape 9"/>
          <p:cNvSpPr/>
          <p:nvPr/>
        </p:nvSpPr>
        <p:spPr>
          <a:xfrm>
            <a:off x="7432243" y="5382158"/>
            <a:ext cx="3952951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7" name="Shape 10"/>
          <p:cNvSpPr/>
          <p:nvPr/>
        </p:nvSpPr>
        <p:spPr>
          <a:xfrm>
            <a:off x="7432243" y="5076749"/>
            <a:ext cx="504749" cy="228600"/>
          </a:xfrm>
          <a:prstGeom prst="roundRect">
            <a:avLst>
              <a:gd name="adj" fmla="val 66667"/>
            </a:avLst>
          </a:prstGeom>
          <a:solidFill>
            <a:srgbClr val="E0E7FF"/>
          </a:solidFill>
          <a:ln/>
        </p:spPr>
      </p:sp>
      <p:sp>
        <p:nvSpPr>
          <p:cNvPr id="18" name="Shape 11"/>
          <p:cNvSpPr/>
          <p:nvPr/>
        </p:nvSpPr>
        <p:spPr>
          <a:xfrm>
            <a:off x="7432243" y="5811012"/>
            <a:ext cx="3952951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9" name="Shape 12"/>
          <p:cNvSpPr/>
          <p:nvPr/>
        </p:nvSpPr>
        <p:spPr>
          <a:xfrm>
            <a:off x="7432243" y="5505602"/>
            <a:ext cx="314554" cy="228600"/>
          </a:xfrm>
          <a:prstGeom prst="roundRect">
            <a:avLst>
              <a:gd name="adj" fmla="val 66667"/>
            </a:avLst>
          </a:prstGeom>
          <a:solidFill>
            <a:srgbClr val="EDE9FE"/>
          </a:solidFill>
          <a:ln/>
        </p:spPr>
      </p:sp>
      <p:sp>
        <p:nvSpPr>
          <p:cNvPr id="20" name="Shape 13"/>
          <p:cNvSpPr/>
          <p:nvPr/>
        </p:nvSpPr>
        <p:spPr>
          <a:xfrm>
            <a:off x="7432243" y="5934456"/>
            <a:ext cx="590702" cy="228600"/>
          </a:xfrm>
          <a:prstGeom prst="roundRect">
            <a:avLst>
              <a:gd name="adj" fmla="val 66667"/>
            </a:avLst>
          </a:prstGeom>
          <a:solidFill>
            <a:srgbClr val="FCE7F3"/>
          </a:solidFill>
          <a:ln/>
        </p:spPr>
      </p:sp>
      <p:sp>
        <p:nvSpPr>
          <p:cNvPr id="21" name="Shape 14"/>
          <p:cNvSpPr/>
          <p:nvPr/>
        </p:nvSpPr>
        <p:spPr>
          <a:xfrm>
            <a:off x="571500" y="6553505"/>
            <a:ext cx="11048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2" name="Text 15"/>
          <p:cNvSpPr txBox="1"/>
          <p:nvPr/>
        </p:nvSpPr>
        <p:spPr>
          <a:xfrm>
            <a:off x="571500" y="276149"/>
            <a:ext cx="11814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PILLPAL PROJECT</a:t>
            </a:r>
            <a:endParaRPr lang="en-US" sz="900" dirty="0"/>
          </a:p>
        </p:txBody>
      </p:sp>
      <p:sp>
        <p:nvSpPr>
          <p:cNvPr id="23" name="Text 16"/>
          <p:cNvSpPr txBox="1"/>
          <p:nvPr/>
        </p:nvSpPr>
        <p:spPr>
          <a:xfrm>
            <a:off x="571500" y="400507"/>
            <a:ext cx="272491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 구성 (25분)</a:t>
            </a:r>
            <a:endParaRPr lang="en-US" sz="2700" dirty="0"/>
          </a:p>
        </p:txBody>
      </p:sp>
      <p:sp>
        <p:nvSpPr>
          <p:cNvPr id="24" name="Text 17"/>
          <p:cNvSpPr txBox="1"/>
          <p:nvPr/>
        </p:nvSpPr>
        <p:spPr>
          <a:xfrm>
            <a:off x="7718450" y="1362456"/>
            <a:ext cx="13295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 체크 포인트</a:t>
            </a:r>
            <a:endParaRPr lang="en-US" sz="1300" dirty="0"/>
          </a:p>
        </p:txBody>
      </p:sp>
      <p:sp>
        <p:nvSpPr>
          <p:cNvPr id="25" name="Text 18"/>
          <p:cNvSpPr txBox="1"/>
          <p:nvPr/>
        </p:nvSpPr>
        <p:spPr>
          <a:xfrm>
            <a:off x="7709306" y="1772107"/>
            <a:ext cx="8147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점수 vs 신뢰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7709306" y="1952244"/>
            <a:ext cx="23344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운영에서 믿을 수 있는 근거를 어떻게 만들었나?</a:t>
            </a:r>
            <a:endParaRPr lang="en-US" sz="900" dirty="0"/>
          </a:p>
        </p:txBody>
      </p:sp>
      <p:sp>
        <p:nvSpPr>
          <p:cNvPr id="27" name="Text 20"/>
          <p:cNvSpPr txBox="1"/>
          <p:nvPr/>
        </p:nvSpPr>
        <p:spPr>
          <a:xfrm>
            <a:off x="7709306" y="2266798"/>
            <a:ext cx="12819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레버 우선순위</a:t>
            </a:r>
            <a:endParaRPr lang="en-US" sz="1000" dirty="0"/>
          </a:p>
        </p:txBody>
      </p:sp>
      <p:sp>
        <p:nvSpPr>
          <p:cNvPr id="28" name="Text 21"/>
          <p:cNvSpPr txBox="1"/>
          <p:nvPr/>
        </p:nvSpPr>
        <p:spPr>
          <a:xfrm>
            <a:off x="7709306" y="2447849"/>
            <a:ext cx="20574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부족한 데이터 상황에서 무엇을 우선했나?</a:t>
            </a:r>
            <a:endParaRPr lang="en-US" sz="900" dirty="0"/>
          </a:p>
        </p:txBody>
      </p:sp>
      <p:sp>
        <p:nvSpPr>
          <p:cNvPr id="29" name="Text 22"/>
          <p:cNvSpPr txBox="1"/>
          <p:nvPr/>
        </p:nvSpPr>
        <p:spPr>
          <a:xfrm>
            <a:off x="7709306" y="2762402"/>
            <a:ext cx="10341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선택 타당성</a:t>
            </a:r>
            <a:endParaRPr lang="en-US" sz="1000" dirty="0"/>
          </a:p>
        </p:txBody>
      </p:sp>
      <p:sp>
        <p:nvSpPr>
          <p:cNvPr id="30" name="Text 23"/>
          <p:cNvSpPr txBox="1"/>
          <p:nvPr/>
        </p:nvSpPr>
        <p:spPr>
          <a:xfrm>
            <a:off x="7709306" y="2943454"/>
            <a:ext cx="22768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속도/배포/안정성 관점에서의 YOLO 선택 이유</a:t>
            </a:r>
            <a:endParaRPr lang="en-US" sz="900" dirty="0"/>
          </a:p>
        </p:txBody>
      </p:sp>
      <p:sp>
        <p:nvSpPr>
          <p:cNvPr id="31" name="Text 24"/>
          <p:cNvSpPr txBox="1"/>
          <p:nvPr/>
        </p:nvSpPr>
        <p:spPr>
          <a:xfrm>
            <a:off x="7746797" y="3810305"/>
            <a:ext cx="11009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Team 7 구성</a:t>
            </a:r>
            <a:endParaRPr lang="en-US" sz="1300" dirty="0"/>
          </a:p>
        </p:txBody>
      </p:sp>
      <p:sp>
        <p:nvSpPr>
          <p:cNvPr id="32" name="Text 25"/>
          <p:cNvSpPr txBox="1"/>
          <p:nvPr/>
        </p:nvSpPr>
        <p:spPr>
          <a:xfrm>
            <a:off x="7509053" y="4248302"/>
            <a:ext cx="5815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 / 총괄</a:t>
            </a:r>
            <a:endParaRPr lang="en-US" sz="900" dirty="0"/>
          </a:p>
        </p:txBody>
      </p:sp>
      <p:sp>
        <p:nvSpPr>
          <p:cNvPr id="33" name="Text 26"/>
          <p:cNvSpPr txBox="1"/>
          <p:nvPr/>
        </p:nvSpPr>
        <p:spPr>
          <a:xfrm>
            <a:off x="11013948" y="4238244"/>
            <a:ext cx="4718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임창현</a:t>
            </a:r>
            <a:endParaRPr lang="en-US" sz="1000" dirty="0"/>
          </a:p>
        </p:txBody>
      </p:sp>
      <p:sp>
        <p:nvSpPr>
          <p:cNvPr id="34" name="Text 27"/>
          <p:cNvSpPr txBox="1"/>
          <p:nvPr/>
        </p:nvSpPr>
        <p:spPr>
          <a:xfrm>
            <a:off x="7509053" y="4677156"/>
            <a:ext cx="3529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</a:t>
            </a:r>
            <a:endParaRPr lang="en-US" sz="900" dirty="0"/>
          </a:p>
        </p:txBody>
      </p:sp>
      <p:sp>
        <p:nvSpPr>
          <p:cNvPr id="35" name="Text 28"/>
          <p:cNvSpPr txBox="1"/>
          <p:nvPr/>
        </p:nvSpPr>
        <p:spPr>
          <a:xfrm>
            <a:off x="10568635" y="4667098"/>
            <a:ext cx="9198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마정흠, 송주영</a:t>
            </a:r>
            <a:endParaRPr lang="en-US" sz="1000" dirty="0"/>
          </a:p>
        </p:txBody>
      </p:sp>
      <p:sp>
        <p:nvSpPr>
          <p:cNvPr id="36" name="Text 29"/>
          <p:cNvSpPr txBox="1"/>
          <p:nvPr/>
        </p:nvSpPr>
        <p:spPr>
          <a:xfrm>
            <a:off x="7509053" y="5105095"/>
            <a:ext cx="438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730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Model</a:t>
            </a:r>
            <a:endParaRPr lang="en-US" sz="900" dirty="0"/>
          </a:p>
        </p:txBody>
      </p:sp>
      <p:sp>
        <p:nvSpPr>
          <p:cNvPr id="37" name="Text 30"/>
          <p:cNvSpPr txBox="1"/>
          <p:nvPr/>
        </p:nvSpPr>
        <p:spPr>
          <a:xfrm>
            <a:off x="10568635" y="5095951"/>
            <a:ext cx="9198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송주영, 마정흠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7509053" y="5533949"/>
            <a:ext cx="2478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21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</a:t>
            </a:r>
            <a:endParaRPr lang="en-US" sz="900" dirty="0"/>
          </a:p>
        </p:txBody>
      </p:sp>
      <p:sp>
        <p:nvSpPr>
          <p:cNvPr id="39" name="Text 32"/>
          <p:cNvSpPr txBox="1"/>
          <p:nvPr/>
        </p:nvSpPr>
        <p:spPr>
          <a:xfrm>
            <a:off x="10568635" y="5524805"/>
            <a:ext cx="9198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문진우, 임창현</a:t>
            </a:r>
            <a:endParaRPr lang="en-US" sz="1000" dirty="0"/>
          </a:p>
        </p:txBody>
      </p:sp>
      <p:sp>
        <p:nvSpPr>
          <p:cNvPr id="40" name="Text 33"/>
          <p:cNvSpPr txBox="1"/>
          <p:nvPr/>
        </p:nvSpPr>
        <p:spPr>
          <a:xfrm>
            <a:off x="7509053" y="5962802"/>
            <a:ext cx="5239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Serving</a:t>
            </a:r>
            <a:endParaRPr lang="en-US" sz="900" dirty="0"/>
          </a:p>
        </p:txBody>
      </p:sp>
      <p:sp>
        <p:nvSpPr>
          <p:cNvPr id="41" name="Text 34"/>
          <p:cNvSpPr txBox="1"/>
          <p:nvPr/>
        </p:nvSpPr>
        <p:spPr>
          <a:xfrm>
            <a:off x="11013948" y="5952744"/>
            <a:ext cx="4718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정상혁</a:t>
            </a:r>
            <a:endParaRPr lang="en-US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571500" y="6629400"/>
            <a:ext cx="13624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PillPal Project Overview</a:t>
            </a:r>
            <a:endParaRPr lang="en-US" sz="900" dirty="0"/>
          </a:p>
        </p:txBody>
      </p:sp>
      <p:sp>
        <p:nvSpPr>
          <p:cNvPr id="43" name="Text 36"/>
          <p:cNvSpPr txBox="1"/>
          <p:nvPr/>
        </p:nvSpPr>
        <p:spPr>
          <a:xfrm>
            <a:off x="11096244" y="6629400"/>
            <a:ext cx="6099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2/18</a:t>
            </a:r>
            <a:endParaRPr lang="en-US" sz="900" dirty="0"/>
          </a:p>
        </p:txBody>
      </p:sp>
      <p:sp>
        <p:nvSpPr>
          <p:cNvPr id="44" name="Text 37"/>
          <p:cNvSpPr txBox="1"/>
          <p:nvPr/>
        </p:nvSpPr>
        <p:spPr>
          <a:xfrm>
            <a:off x="10057486" y="562356"/>
            <a:ext cx="17007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Agenda &amp; Team Info</a:t>
            </a:r>
            <a:endParaRPr lang="en-US" sz="1300" dirty="0"/>
          </a:p>
        </p:txBody>
      </p:sp>
      <p:sp>
        <p:nvSpPr>
          <p:cNvPr id="45" name="Text 38"/>
          <p:cNvSpPr txBox="1"/>
          <p:nvPr/>
        </p:nvSpPr>
        <p:spPr>
          <a:xfrm>
            <a:off x="1571854" y="1485900"/>
            <a:ext cx="8147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정의</a:t>
            </a:r>
            <a:endParaRPr lang="en-US" sz="1300" dirty="0"/>
          </a:p>
        </p:txBody>
      </p:sp>
      <p:sp>
        <p:nvSpPr>
          <p:cNvPr id="46" name="Text 39"/>
          <p:cNvSpPr txBox="1"/>
          <p:nvPr/>
        </p:nvSpPr>
        <p:spPr>
          <a:xfrm>
            <a:off x="1571854" y="1781251"/>
            <a:ext cx="23198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필요한가? 프로젝트 제약과 목표 설정</a:t>
            </a:r>
            <a:endParaRPr lang="en-US" sz="1000" dirty="0"/>
          </a:p>
        </p:txBody>
      </p:sp>
      <p:sp>
        <p:nvSpPr>
          <p:cNvPr id="47" name="Text 40"/>
          <p:cNvSpPr txBox="1"/>
          <p:nvPr/>
        </p:nvSpPr>
        <p:spPr>
          <a:xfrm>
            <a:off x="1571854" y="2514600"/>
            <a:ext cx="14438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엔지니어링</a:t>
            </a:r>
            <a:endParaRPr lang="en-US" sz="1300" dirty="0"/>
          </a:p>
        </p:txBody>
      </p:sp>
      <p:sp>
        <p:nvSpPr>
          <p:cNvPr id="48" name="Text 41"/>
          <p:cNvSpPr txBox="1"/>
          <p:nvPr/>
        </p:nvSpPr>
        <p:spPr>
          <a:xfrm>
            <a:off x="1571854" y="2809951"/>
            <a:ext cx="28821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부족/불균형 해결 → 학습 가능한 상태 확보</a:t>
            </a:r>
            <a:endParaRPr lang="en-US" sz="1000" dirty="0"/>
          </a:p>
        </p:txBody>
      </p:sp>
      <p:sp>
        <p:nvSpPr>
          <p:cNvPr id="49" name="Text 42"/>
          <p:cNvSpPr txBox="1"/>
          <p:nvPr/>
        </p:nvSpPr>
        <p:spPr>
          <a:xfrm>
            <a:off x="1571854" y="3543300"/>
            <a:ext cx="8147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선택</a:t>
            </a:r>
            <a:endParaRPr lang="en-US" sz="1300" dirty="0"/>
          </a:p>
        </p:txBody>
      </p:sp>
      <p:sp>
        <p:nvSpPr>
          <p:cNvPr id="50" name="Text 43"/>
          <p:cNvSpPr txBox="1"/>
          <p:nvPr/>
        </p:nvSpPr>
        <p:spPr>
          <a:xfrm>
            <a:off x="1571854" y="3838651"/>
            <a:ext cx="23957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베이스라인 비교 분석 → YOLO 선택 근거</a:t>
            </a:r>
            <a:endParaRPr lang="en-US" sz="1000" dirty="0"/>
          </a:p>
        </p:txBody>
      </p:sp>
      <p:sp>
        <p:nvSpPr>
          <p:cNvPr id="51" name="Text 44"/>
          <p:cNvSpPr txBox="1"/>
          <p:nvPr/>
        </p:nvSpPr>
        <p:spPr>
          <a:xfrm>
            <a:off x="1571854" y="4572000"/>
            <a:ext cx="9098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 &amp; 검증</a:t>
            </a:r>
            <a:endParaRPr lang="en-US" sz="1300" dirty="0"/>
          </a:p>
        </p:txBody>
      </p:sp>
      <p:sp>
        <p:nvSpPr>
          <p:cNvPr id="52" name="Text 45"/>
          <p:cNvSpPr txBox="1"/>
          <p:nvPr/>
        </p:nvSpPr>
        <p:spPr>
          <a:xfrm>
            <a:off x="1571854" y="4867351"/>
            <a:ext cx="24533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Leakage 방지 / 측정기 고정 / 신뢰도 관리</a:t>
            </a:r>
            <a:endParaRPr lang="en-US" sz="1000" dirty="0"/>
          </a:p>
        </p:txBody>
      </p:sp>
      <p:sp>
        <p:nvSpPr>
          <p:cNvPr id="53" name="Text 46"/>
          <p:cNvSpPr txBox="1"/>
          <p:nvPr/>
        </p:nvSpPr>
        <p:spPr>
          <a:xfrm>
            <a:off x="1571854" y="5600700"/>
            <a:ext cx="11484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&amp; 결과</a:t>
            </a:r>
            <a:endParaRPr lang="en-US" sz="1300" dirty="0"/>
          </a:p>
        </p:txBody>
      </p:sp>
      <p:sp>
        <p:nvSpPr>
          <p:cNvPr id="54" name="Text 47"/>
          <p:cNvSpPr txBox="1"/>
          <p:nvPr/>
        </p:nvSpPr>
        <p:spPr>
          <a:xfrm>
            <a:off x="1571854" y="5896051"/>
            <a:ext cx="21671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서빙 아키텍처 + UI 구현, 성과와 한계</a:t>
            </a:r>
            <a:endParaRPr lang="en-US" sz="1000" dirty="0"/>
          </a:p>
        </p:txBody>
      </p:sp>
      <p:sp>
        <p:nvSpPr>
          <p:cNvPr id="55" name="Text 48"/>
          <p:cNvSpPr txBox="1"/>
          <p:nvPr/>
        </p:nvSpPr>
        <p:spPr>
          <a:xfrm>
            <a:off x="1227125" y="1495044"/>
            <a:ext cx="186538" cy="191110"/>
          </a:xfrm>
          <a:prstGeom prst="rect">
            <a:avLst/>
          </a:prstGeom>
          <a:solidFill>
            <a:schemeClr val="lt1"/>
          </a:solidFill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  <a:endParaRPr lang="en-US" sz="1000"/>
          </a:p>
        </p:txBody>
      </p:sp>
      <p:sp>
        <p:nvSpPr>
          <p:cNvPr id="57" name="Shape 50"/>
          <p:cNvSpPr/>
          <p:nvPr/>
        </p:nvSpPr>
        <p:spPr>
          <a:xfrm>
            <a:off x="1114654" y="3495751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3B82F6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56" name="Text 49"/>
          <p:cNvSpPr txBox="1"/>
          <p:nvPr/>
        </p:nvSpPr>
        <p:spPr>
          <a:xfrm>
            <a:off x="1227125" y="2523744"/>
            <a:ext cx="186538" cy="19111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  <a:endParaRPr lang="en-US" sz="1000"/>
          </a:p>
        </p:txBody>
      </p:sp>
      <p:sp>
        <p:nvSpPr>
          <p:cNvPr id="58" name="Text 51"/>
          <p:cNvSpPr txBox="1"/>
          <p:nvPr/>
        </p:nvSpPr>
        <p:spPr>
          <a:xfrm>
            <a:off x="1227125" y="3552444"/>
            <a:ext cx="186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000" dirty="0"/>
          </a:p>
        </p:txBody>
      </p:sp>
      <p:sp>
        <p:nvSpPr>
          <p:cNvPr id="59" name="Shape 52"/>
          <p:cNvSpPr/>
          <p:nvPr/>
        </p:nvSpPr>
        <p:spPr>
          <a:xfrm>
            <a:off x="1114654" y="4524451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6366F1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60" name="Text 53"/>
          <p:cNvSpPr txBox="1"/>
          <p:nvPr/>
        </p:nvSpPr>
        <p:spPr>
          <a:xfrm>
            <a:off x="1227125" y="4581144"/>
            <a:ext cx="186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000" dirty="0"/>
          </a:p>
        </p:txBody>
      </p:sp>
      <p:sp>
        <p:nvSpPr>
          <p:cNvPr id="63" name="Shape 50"/>
          <p:cNvSpPr/>
          <p:nvPr/>
        </p:nvSpPr>
        <p:spPr>
          <a:xfrm>
            <a:off x="1114654" y="1438352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dfe6f7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61" name="Shape 54"/>
          <p:cNvSpPr/>
          <p:nvPr/>
        </p:nvSpPr>
        <p:spPr>
          <a:xfrm>
            <a:off x="1114654" y="5553151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8B5CF6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62" name="Text 55"/>
          <p:cNvSpPr txBox="1"/>
          <p:nvPr/>
        </p:nvSpPr>
        <p:spPr>
          <a:xfrm>
            <a:off x="1227125" y="5609844"/>
            <a:ext cx="186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000" dirty="0"/>
          </a:p>
        </p:txBody>
      </p:sp>
      <p:sp>
        <p:nvSpPr>
          <p:cNvPr id="64" name="Text 51"/>
          <p:cNvSpPr txBox="1"/>
          <p:nvPr/>
        </p:nvSpPr>
        <p:spPr>
          <a:xfrm>
            <a:off x="1227125" y="1495044"/>
            <a:ext cx="186538" cy="19111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altLang="ko-KR" sz="1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  <a:endParaRPr lang="en-US" altLang="ko-KR" sz="1000" b="1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65" name="Shape 50"/>
          <p:cNvSpPr/>
          <p:nvPr/>
        </p:nvSpPr>
        <p:spPr>
          <a:xfrm>
            <a:off x="1120140" y="2523744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c0cde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66" name="Text 51"/>
          <p:cNvSpPr txBox="1"/>
          <p:nvPr/>
        </p:nvSpPr>
        <p:spPr>
          <a:xfrm>
            <a:off x="1232611" y="2580436"/>
            <a:ext cx="186538" cy="19111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altLang="ko-KR" sz="1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  <a:endParaRPr lang="en-US" altLang="ko-KR" sz="1000" b="1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</p:spTree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Shape 3"/>
          <p:cNvSpPr/>
          <p:nvPr/>
        </p:nvSpPr>
        <p:spPr>
          <a:xfrm>
            <a:off x="542696" y="1258214"/>
            <a:ext cx="5372100" cy="2476195"/>
          </a:xfrm>
          <a:prstGeom prst="roundRect">
            <a:avLst>
              <a:gd name="adj" fmla="val 1704"/>
            </a:avLst>
          </a:prstGeom>
          <a:solidFill>
            <a:srgbClr val="fff1f2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2696" y="1258214"/>
            <a:ext cx="57607" cy="2476195"/>
          </a:xfrm>
          <a:prstGeom prst="rect">
            <a:avLst/>
          </a:prstGeom>
          <a:solidFill>
            <a:srgbClr val="e11d4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52805" y="1447495"/>
            <a:ext cx="190195" cy="190195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57707" y="1923898"/>
            <a:ext cx="152705" cy="152705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/>
          <a:srcRect l="0" r="0" t="-100" b="-100"/>
          <a:stretch/>
        </p:blipFill>
        <p:spPr>
          <a:xfrm>
            <a:off x="857707" y="2457907"/>
            <a:ext cx="114300" cy="152705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57707" y="2991002"/>
            <a:ext cx="152705" cy="152705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571500" y="3829507"/>
            <a:ext cx="5372100" cy="2476195"/>
          </a:xfrm>
          <a:prstGeom prst="roundRect">
            <a:avLst>
              <a:gd name="adj" fmla="val 1704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2" name="Shape 6"/>
          <p:cNvSpPr/>
          <p:nvPr/>
        </p:nvSpPr>
        <p:spPr>
          <a:xfrm>
            <a:off x="571500" y="3829507"/>
            <a:ext cx="57607" cy="2476195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Shape 7"/>
          <p:cNvSpPr/>
          <p:nvPr/>
        </p:nvSpPr>
        <p:spPr>
          <a:xfrm>
            <a:off x="857707" y="4058107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DBEAFE"/>
          </a:solidFill>
          <a:ln/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952805" y="4153205"/>
            <a:ext cx="190195" cy="190195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857707" y="4629607"/>
            <a:ext cx="152705" cy="152705"/>
          </a:xfrm>
          <a:prstGeom prst="rect">
            <a:avLst/>
          </a:prstGeom>
        </p:spPr>
      </p:pic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9"/>
          <a:srcRect l="0" r="0" t="-43" b="-43"/>
          <a:stretch/>
        </p:blipFill>
        <p:spPr>
          <a:xfrm>
            <a:off x="857707" y="5162702"/>
            <a:ext cx="133502" cy="152705"/>
          </a:xfrm>
          <a:prstGeom prst="rect">
            <a:avLst/>
          </a:prstGeom>
        </p:spPr>
      </p:pic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857707" y="5695798"/>
            <a:ext cx="152705" cy="152705"/>
          </a:xfrm>
          <a:prstGeom prst="rect">
            <a:avLst/>
          </a:prstGeom>
        </p:spPr>
      </p:pic>
      <p:sp>
        <p:nvSpPr>
          <p:cNvPr id="18" name="Shape 8"/>
          <p:cNvSpPr/>
          <p:nvPr/>
        </p:nvSpPr>
        <p:spPr>
          <a:xfrm>
            <a:off x="6248095" y="1194663"/>
            <a:ext cx="5372100" cy="3438144"/>
          </a:xfrm>
          <a:prstGeom prst="roundRect">
            <a:avLst>
              <a:gd name="adj" fmla="val 88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19" name="Shape 9"/>
          <p:cNvSpPr/>
          <p:nvPr/>
        </p:nvSpPr>
        <p:spPr>
          <a:xfrm>
            <a:off x="6486754" y="1705356"/>
            <a:ext cx="4895698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0" name="Text 10"/>
          <p:cNvSpPr txBox="1"/>
          <p:nvPr/>
        </p:nvSpPr>
        <p:spPr>
          <a:xfrm>
            <a:off x="6811366" y="2038198"/>
            <a:ext cx="2578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500" dirty="0"/>
          </a:p>
        </p:txBody>
      </p:sp>
      <p:sp>
        <p:nvSpPr>
          <p:cNvPr id="21" name="Text 11"/>
          <p:cNvSpPr txBox="1"/>
          <p:nvPr/>
        </p:nvSpPr>
        <p:spPr>
          <a:xfrm>
            <a:off x="6811366" y="2999232"/>
            <a:ext cx="2578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12"/>
          <p:cNvSpPr txBox="1"/>
          <p:nvPr/>
        </p:nvSpPr>
        <p:spPr>
          <a:xfrm>
            <a:off x="6811366" y="3960266"/>
            <a:ext cx="2578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Shape 13"/>
          <p:cNvSpPr/>
          <p:nvPr/>
        </p:nvSpPr>
        <p:spPr>
          <a:xfrm>
            <a:off x="6248095" y="4788713"/>
            <a:ext cx="5372100" cy="1524305"/>
          </a:xfrm>
          <a:prstGeom prst="roundRect">
            <a:avLst>
              <a:gd name="adj" fmla="val 4499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24" name="Shape 14"/>
          <p:cNvSpPr/>
          <p:nvPr/>
        </p:nvSpPr>
        <p:spPr>
          <a:xfrm>
            <a:off x="571500" y="6534302"/>
            <a:ext cx="11048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5" name="Text 15"/>
          <p:cNvSpPr txBox="1"/>
          <p:nvPr/>
        </p:nvSpPr>
        <p:spPr>
          <a:xfrm>
            <a:off x="571500" y="276149"/>
            <a:ext cx="11338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SECTION 1 · WHY</a:t>
            </a:r>
            <a:endParaRPr lang="en-US" sz="900" dirty="0"/>
          </a:p>
        </p:txBody>
      </p:sp>
      <p:sp>
        <p:nvSpPr>
          <p:cNvPr id="26" name="Text 16"/>
          <p:cNvSpPr txBox="1"/>
          <p:nvPr/>
        </p:nvSpPr>
        <p:spPr>
          <a:xfrm>
            <a:off x="571500" y="400507"/>
            <a:ext cx="6563563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정의: "맞추는 것"보다 "믿고 쓰는 것"</a:t>
            </a:r>
            <a:endParaRPr lang="en-US" sz="2700" dirty="0"/>
          </a:p>
        </p:txBody>
      </p:sp>
      <p:sp>
        <p:nvSpPr>
          <p:cNvPr id="27" name="Text 17"/>
          <p:cNvSpPr txBox="1"/>
          <p:nvPr/>
        </p:nvSpPr>
        <p:spPr>
          <a:xfrm>
            <a:off x="1352398" y="1399946"/>
            <a:ext cx="16294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(사용자 관점)</a:t>
            </a:r>
            <a:endParaRPr lang="en-US" sz="1500" dirty="0"/>
          </a:p>
        </p:txBody>
      </p:sp>
      <p:sp>
        <p:nvSpPr>
          <p:cNvPr id="28" name="Text 18"/>
          <p:cNvSpPr txBox="1"/>
          <p:nvPr/>
        </p:nvSpPr>
        <p:spPr>
          <a:xfrm>
            <a:off x="1123798" y="1886407"/>
            <a:ext cx="16669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알약 오탐/미탐의 위험성</a:t>
            </a:r>
            <a:endParaRPr lang="en-US" sz="1200" dirty="0"/>
          </a:p>
        </p:txBody>
      </p:sp>
      <p:sp>
        <p:nvSpPr>
          <p:cNvPr id="29" name="Text 19"/>
          <p:cNvSpPr txBox="1"/>
          <p:nvPr/>
        </p:nvSpPr>
        <p:spPr>
          <a:xfrm>
            <a:off x="1123798" y="2115007"/>
            <a:ext cx="29004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안전에 직접적인 영향을 미치는 치명적 오류</a:t>
            </a:r>
            <a:endParaRPr lang="en-US" sz="1000" dirty="0"/>
          </a:p>
        </p:txBody>
      </p:sp>
      <p:sp>
        <p:nvSpPr>
          <p:cNvPr id="30" name="Text 20"/>
          <p:cNvSpPr txBox="1"/>
          <p:nvPr/>
        </p:nvSpPr>
        <p:spPr>
          <a:xfrm>
            <a:off x="1086307" y="2419502"/>
            <a:ext cx="1191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모바일 환경 제약</a:t>
            </a:r>
            <a:endParaRPr lang="en-US" sz="1200" dirty="0"/>
          </a:p>
        </p:txBody>
      </p:sp>
      <p:sp>
        <p:nvSpPr>
          <p:cNvPr id="31" name="Text 21"/>
          <p:cNvSpPr txBox="1"/>
          <p:nvPr/>
        </p:nvSpPr>
        <p:spPr>
          <a:xfrm>
            <a:off x="1086307" y="2648102"/>
            <a:ext cx="25200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추론 속도와 사용자 경험(UX)이 핵심</a:t>
            </a:r>
            <a:endParaRPr lang="en-US" sz="1000" dirty="0"/>
          </a:p>
        </p:txBody>
      </p:sp>
      <p:sp>
        <p:nvSpPr>
          <p:cNvPr id="32" name="Text 22"/>
          <p:cNvSpPr txBox="1"/>
          <p:nvPr/>
        </p:nvSpPr>
        <p:spPr>
          <a:xfrm>
            <a:off x="1123798" y="2952598"/>
            <a:ext cx="1191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설명 가능성 필요</a:t>
            </a:r>
            <a:endParaRPr lang="en-US" sz="1200" dirty="0"/>
          </a:p>
        </p:txBody>
      </p:sp>
      <p:sp>
        <p:nvSpPr>
          <p:cNvPr id="33" name="Text 23"/>
          <p:cNvSpPr txBox="1"/>
          <p:nvPr/>
        </p:nvSpPr>
        <p:spPr>
          <a:xfrm>
            <a:off x="1123798" y="3181198"/>
            <a:ext cx="27861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결과를 신뢰할 수 있도록 재확인 UX 및 근거 제공</a:t>
            </a:r>
            <a:endParaRPr lang="en-US" sz="1000" dirty="0"/>
          </a:p>
        </p:txBody>
      </p:sp>
      <p:sp>
        <p:nvSpPr>
          <p:cNvPr id="34" name="Text 24"/>
          <p:cNvSpPr txBox="1"/>
          <p:nvPr/>
        </p:nvSpPr>
        <p:spPr>
          <a:xfrm>
            <a:off x="1352398" y="4105656"/>
            <a:ext cx="18004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제약 (프로젝트 설계)</a:t>
            </a:r>
            <a:endParaRPr lang="en-US" sz="1500" dirty="0"/>
          </a:p>
        </p:txBody>
      </p:sp>
      <p:sp>
        <p:nvSpPr>
          <p:cNvPr id="35" name="Text 25"/>
          <p:cNvSpPr txBox="1"/>
          <p:nvPr/>
        </p:nvSpPr>
        <p:spPr>
          <a:xfrm>
            <a:off x="1123798" y="4591202"/>
            <a:ext cx="15051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 데이터 수집 배제</a:t>
            </a:r>
            <a:endParaRPr lang="en-US" sz="1200" dirty="0"/>
          </a:p>
        </p:txBody>
      </p:sp>
      <p:sp>
        <p:nvSpPr>
          <p:cNvPr id="36" name="Text 26"/>
          <p:cNvSpPr txBox="1"/>
          <p:nvPr/>
        </p:nvSpPr>
        <p:spPr>
          <a:xfrm>
            <a:off x="1123798" y="4819802"/>
            <a:ext cx="26243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제한된 리소스 상황을 가정하여 효율성 극대화</a:t>
            </a:r>
            <a:endParaRPr lang="en-US" sz="1000" dirty="0"/>
          </a:p>
        </p:txBody>
      </p:sp>
      <p:sp>
        <p:nvSpPr>
          <p:cNvPr id="37" name="Text 27"/>
          <p:cNvSpPr txBox="1"/>
          <p:nvPr/>
        </p:nvSpPr>
        <p:spPr>
          <a:xfrm>
            <a:off x="1104595" y="5124298"/>
            <a:ext cx="15051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 데이터 조건 검증</a:t>
            </a:r>
            <a:endParaRPr lang="en-US" sz="1200" dirty="0"/>
          </a:p>
        </p:txBody>
      </p:sp>
      <p:sp>
        <p:nvSpPr>
          <p:cNvPr id="38" name="Text 28"/>
          <p:cNvSpPr txBox="1"/>
          <p:nvPr/>
        </p:nvSpPr>
        <p:spPr>
          <a:xfrm>
            <a:off x="1104595" y="5352898"/>
            <a:ext cx="26151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정합성 점검, 라벨 보강, 증강 및 QA 체계 구축</a:t>
            </a:r>
            <a:endParaRPr lang="en-US" sz="1000" dirty="0"/>
          </a:p>
        </p:txBody>
      </p:sp>
      <p:sp>
        <p:nvSpPr>
          <p:cNvPr id="39" name="Text 29"/>
          <p:cNvSpPr txBox="1"/>
          <p:nvPr/>
        </p:nvSpPr>
        <p:spPr>
          <a:xfrm>
            <a:off x="1123798" y="5658307"/>
            <a:ext cx="1191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민감도 해석</a:t>
            </a:r>
            <a:endParaRPr lang="en-US" sz="1200" dirty="0"/>
          </a:p>
        </p:txBody>
      </p:sp>
      <p:sp>
        <p:nvSpPr>
          <p:cNvPr id="40" name="Text 30"/>
          <p:cNvSpPr txBox="1"/>
          <p:nvPr/>
        </p:nvSpPr>
        <p:spPr>
          <a:xfrm>
            <a:off x="1123798" y="5886907"/>
            <a:ext cx="26718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점수가 아닌 Threshold 기반의 결과 해석</a:t>
            </a:r>
            <a:endParaRPr lang="en-US" sz="1000" dirty="0"/>
          </a:p>
        </p:txBody>
      </p:sp>
      <p:sp>
        <p:nvSpPr>
          <p:cNvPr id="41" name="Text 31"/>
          <p:cNvSpPr txBox="1"/>
          <p:nvPr/>
        </p:nvSpPr>
        <p:spPr>
          <a:xfrm>
            <a:off x="6486754" y="1371600"/>
            <a:ext cx="13295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우리가 만든 흐름</a:t>
            </a:r>
            <a:endParaRPr lang="en-US" sz="1300" dirty="0"/>
          </a:p>
        </p:txBody>
      </p:sp>
      <p:sp>
        <p:nvSpPr>
          <p:cNvPr id="42" name="Text 32"/>
          <p:cNvSpPr txBox="1"/>
          <p:nvPr/>
        </p:nvSpPr>
        <p:spPr>
          <a:xfrm>
            <a:off x="7248449" y="2000707"/>
            <a:ext cx="1400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 → 전처리/라벨</a:t>
            </a:r>
            <a:endParaRPr lang="en-US" sz="1200" dirty="0"/>
          </a:p>
        </p:txBody>
      </p:sp>
      <p:sp>
        <p:nvSpPr>
          <p:cNvPr id="43" name="Text 33"/>
          <p:cNvSpPr txBox="1"/>
          <p:nvPr/>
        </p:nvSpPr>
        <p:spPr>
          <a:xfrm>
            <a:off x="7248449" y="2961284"/>
            <a:ext cx="190561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1200" b="1">
                <a:solidFill>
                  <a:srgbClr val="1f2937"/>
                </a:solidFill>
                <a:latin typeface="Noto Sans KR"/>
                <a:ea typeface="Noto Sans KR"/>
                <a:cs typeface="Noto Sans KR"/>
              </a:rPr>
              <a:t>학습 → QA (무결성/신뢰도)</a:t>
            </a:r>
            <a:endParaRPr lang="en-US" sz="1200"/>
          </a:p>
        </p:txBody>
      </p:sp>
      <p:sp>
        <p:nvSpPr>
          <p:cNvPr id="44" name="Text 34"/>
          <p:cNvSpPr txBox="1"/>
          <p:nvPr/>
        </p:nvSpPr>
        <p:spPr>
          <a:xfrm>
            <a:off x="7248449" y="392186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서빙 → UI/정책</a:t>
            </a:r>
            <a:endParaRPr lang="en-US" sz="1200" dirty="0"/>
          </a:p>
        </p:txBody>
      </p:sp>
      <p:sp>
        <p:nvSpPr>
          <p:cNvPr id="45" name="Text 35"/>
          <p:cNvSpPr txBox="1"/>
          <p:nvPr/>
        </p:nvSpPr>
        <p:spPr>
          <a:xfrm>
            <a:off x="8556955" y="5446166"/>
            <a:ext cx="905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질문</a:t>
            </a:r>
            <a:endParaRPr lang="en-US" sz="1500" dirty="0"/>
          </a:p>
        </p:txBody>
      </p:sp>
      <p:sp>
        <p:nvSpPr>
          <p:cNvPr id="46" name="Text 36"/>
          <p:cNvSpPr txBox="1"/>
          <p:nvPr/>
        </p:nvSpPr>
        <p:spPr>
          <a:xfrm>
            <a:off x="6670548" y="5808269"/>
            <a:ext cx="46625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"점수가 올랐다"는 말보다, "해석 가능한 상태"를 먼저 만들었나?</a:t>
            </a:r>
            <a:endParaRPr lang="en-US" sz="1300" dirty="0"/>
          </a:p>
        </p:txBody>
      </p:sp>
      <p:sp>
        <p:nvSpPr>
          <p:cNvPr id="47" name="Text 37"/>
          <p:cNvSpPr txBox="1"/>
          <p:nvPr/>
        </p:nvSpPr>
        <p:spPr>
          <a:xfrm>
            <a:off x="571500" y="6610198"/>
            <a:ext cx="12957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Problem &amp; Constraints</a:t>
            </a:r>
            <a:endParaRPr lang="en-US" sz="900" dirty="0"/>
          </a:p>
        </p:txBody>
      </p:sp>
      <p:sp>
        <p:nvSpPr>
          <p:cNvPr id="48" name="Text 38"/>
          <p:cNvSpPr txBox="1"/>
          <p:nvPr/>
        </p:nvSpPr>
        <p:spPr>
          <a:xfrm>
            <a:off x="11096244" y="6610198"/>
            <a:ext cx="6099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3/18</a:t>
            </a:r>
            <a:endParaRPr lang="en-US" sz="900" dirty="0"/>
          </a:p>
        </p:txBody>
      </p:sp>
      <p:sp>
        <p:nvSpPr>
          <p:cNvPr id="49" name="Text 39"/>
          <p:cNvSpPr txBox="1"/>
          <p:nvPr/>
        </p:nvSpPr>
        <p:spPr>
          <a:xfrm>
            <a:off x="10550347" y="562356"/>
            <a:ext cx="12051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PillPal Project</a:t>
            </a:r>
            <a:endParaRPr lang="en-US" sz="1300" dirty="0"/>
          </a:p>
        </p:txBody>
      </p:sp>
      <p:pic>
        <p:nvPicPr>
          <p:cNvPr id="50" name="Image 8" descr="preencoded.png">    </p:cNvPr>
          <p:cNvPicPr>
            <a:picLocks noChangeAspect="1"/>
          </p:cNvPicPr>
          <p:nvPr/>
        </p:nvPicPr>
        <p:blipFill>
          <a:blip r:embed="rId11">
            <a:alphaModFix amt="50000"/>
          </a:blip>
          <a:srcRect l="0" r="0" t="-530" b="-530"/>
          <a:stretch/>
        </p:blipFill>
        <p:spPr>
          <a:xfrm>
            <a:off x="8810244" y="5017313"/>
            <a:ext cx="247802" cy="28620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766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80" b="-80"/>
          <a:stretch/>
        </p:blipFill>
        <p:spPr>
          <a:xfrm>
            <a:off x="2572207" y="1848002"/>
            <a:ext cx="142646" cy="22860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4873752" y="1848002"/>
            <a:ext cx="142646" cy="22860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7175297" y="1848002"/>
            <a:ext cx="142646" cy="228600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0" b="-80"/>
          <a:stretch/>
        </p:blipFill>
        <p:spPr>
          <a:xfrm>
            <a:off x="9475927" y="1848002"/>
            <a:ext cx="142646" cy="228600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571500" y="3029407"/>
            <a:ext cx="75895" cy="3152851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rcRect l="-57" r="-57" t="0" b="0"/>
          <a:stretch/>
        </p:blipFill>
        <p:spPr>
          <a:xfrm>
            <a:off x="875995" y="4155034"/>
            <a:ext cx="200254" cy="228600"/>
          </a:xfrm>
          <a:prstGeom prst="rect">
            <a:avLst/>
          </a:prstGeom>
        </p:spPr>
      </p:pic>
      <p:sp>
        <p:nvSpPr>
          <p:cNvPr id="11" name="Shape 4"/>
          <p:cNvSpPr/>
          <p:nvPr/>
        </p:nvSpPr>
        <p:spPr>
          <a:xfrm>
            <a:off x="6248095" y="3029407"/>
            <a:ext cx="5372100" cy="3152851"/>
          </a:xfrm>
          <a:prstGeom prst="roundRect">
            <a:avLst>
              <a:gd name="adj" fmla="val 105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486754" y="4015130"/>
            <a:ext cx="190195" cy="190195"/>
          </a:xfrm>
          <a:prstGeom prst="rect">
            <a:avLst/>
          </a:prstGeom>
        </p:spPr>
      </p:pic>
      <p:sp>
        <p:nvSpPr>
          <p:cNvPr id="13" name="Text 5"/>
          <p:cNvSpPr txBox="1"/>
          <p:nvPr/>
        </p:nvSpPr>
        <p:spPr>
          <a:xfrm>
            <a:off x="6486754" y="4395521"/>
            <a:ext cx="48106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Q1 파이프라인에서 "고정해야 하는 축"과 "바꿔도 되는 축"은 무엇이었나?</a:t>
            </a:r>
            <a:endParaRPr lang="en-US" sz="1200" dirty="0"/>
          </a:p>
        </p:txBody>
      </p:sp>
      <p:sp>
        <p:nvSpPr>
          <p:cNvPr id="14" name="Text 6"/>
          <p:cNvSpPr txBox="1"/>
          <p:nvPr/>
        </p:nvSpPr>
        <p:spPr>
          <a:xfrm>
            <a:off x="6486754" y="4776826"/>
            <a:ext cx="5010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Q2 여기서 한 단계가 흔들리면(예: split 변경), 다음 단계의 결론은 어떻게 무너질까?</a:t>
            </a:r>
            <a:endParaRPr lang="en-US" sz="1200" dirty="0"/>
          </a:p>
        </p:txBody>
      </p:sp>
      <p:sp>
        <p:nvSpPr>
          <p:cNvPr id="15" name="Shape 7"/>
          <p:cNvSpPr/>
          <p:nvPr/>
        </p:nvSpPr>
        <p:spPr>
          <a:xfrm>
            <a:off x="571500" y="6334049"/>
            <a:ext cx="11048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6" name="Text 8"/>
          <p:cNvSpPr txBox="1"/>
          <p:nvPr/>
        </p:nvSpPr>
        <p:spPr>
          <a:xfrm>
            <a:off x="571500" y="504749"/>
            <a:ext cx="11814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PILLPAL PROJECT</a:t>
            </a:r>
            <a:endParaRPr lang="en-US" sz="900" dirty="0"/>
          </a:p>
        </p:txBody>
      </p:sp>
      <p:sp>
        <p:nvSpPr>
          <p:cNvPr id="17" name="Text 9"/>
          <p:cNvSpPr txBox="1"/>
          <p:nvPr/>
        </p:nvSpPr>
        <p:spPr>
          <a:xfrm>
            <a:off x="571500" y="629107"/>
            <a:ext cx="3896258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End-to-End 파이프라인</a:t>
            </a:r>
            <a:endParaRPr lang="en-US" sz="2700" dirty="0"/>
          </a:p>
        </p:txBody>
      </p:sp>
      <p:sp>
        <p:nvSpPr>
          <p:cNvPr id="18" name="Text 10"/>
          <p:cNvSpPr txBox="1"/>
          <p:nvPr/>
        </p:nvSpPr>
        <p:spPr>
          <a:xfrm>
            <a:off x="1190549" y="4126687"/>
            <a:ext cx="10771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메시지</a:t>
            </a:r>
            <a:endParaRPr lang="en-US" sz="1500" dirty="0"/>
          </a:p>
        </p:txBody>
      </p:sp>
      <p:sp>
        <p:nvSpPr>
          <p:cNvPr id="19" name="Text 11"/>
          <p:cNvSpPr txBox="1"/>
          <p:nvPr/>
        </p:nvSpPr>
        <p:spPr>
          <a:xfrm>
            <a:off x="875995" y="4527194"/>
            <a:ext cx="4872838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“데이터 → 모델 → 평가 → 서빙”을 끊지 않고 연결해야, 결과가 제품이 된다.</a:t>
            </a:r>
            <a:endParaRPr lang="en-US" sz="1300" dirty="0"/>
          </a:p>
        </p:txBody>
      </p:sp>
      <p:sp>
        <p:nvSpPr>
          <p:cNvPr id="20" name="Text 12"/>
          <p:cNvSpPr txBox="1"/>
          <p:nvPr/>
        </p:nvSpPr>
        <p:spPr>
          <a:xfrm>
            <a:off x="6752844" y="3985870"/>
            <a:ext cx="23006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메타 질문 (Meta Questions)</a:t>
            </a:r>
            <a:endParaRPr lang="en-US" sz="1300" dirty="0"/>
          </a:p>
        </p:txBody>
      </p:sp>
      <p:sp>
        <p:nvSpPr>
          <p:cNvPr id="21" name="Text 13"/>
          <p:cNvSpPr txBox="1"/>
          <p:nvPr/>
        </p:nvSpPr>
        <p:spPr>
          <a:xfrm>
            <a:off x="571500" y="6409944"/>
            <a:ext cx="13624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PillPal Project Overview</a:t>
            </a:r>
            <a:endParaRPr lang="en-US" sz="900" dirty="0"/>
          </a:p>
        </p:txBody>
      </p:sp>
      <p:sp>
        <p:nvSpPr>
          <p:cNvPr id="22" name="Text 14"/>
          <p:cNvSpPr txBox="1"/>
          <p:nvPr/>
        </p:nvSpPr>
        <p:spPr>
          <a:xfrm>
            <a:off x="11096244" y="6409944"/>
            <a:ext cx="6099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4/18</a:t>
            </a:r>
            <a:endParaRPr lang="en-US" sz="900" dirty="0"/>
          </a:p>
        </p:txBody>
      </p:sp>
      <p:sp>
        <p:nvSpPr>
          <p:cNvPr id="23" name="Text 15"/>
          <p:cNvSpPr txBox="1"/>
          <p:nvPr/>
        </p:nvSpPr>
        <p:spPr>
          <a:xfrm>
            <a:off x="10074859" y="790956"/>
            <a:ext cx="16815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E2E Flow &amp; Strategy</a:t>
            </a:r>
            <a:endParaRPr lang="en-US" sz="1300" dirty="0"/>
          </a:p>
        </p:txBody>
      </p:sp>
      <p:sp>
        <p:nvSpPr>
          <p:cNvPr id="24" name="Shape 16"/>
          <p:cNvSpPr/>
          <p:nvPr/>
        </p:nvSpPr>
        <p:spPr>
          <a:xfrm>
            <a:off x="571500" y="1352398"/>
            <a:ext cx="1848002" cy="1218895"/>
          </a:xfrm>
          <a:prstGeom prst="roundRect">
            <a:avLst>
              <a:gd name="adj" fmla="val 7033"/>
            </a:avLst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rcRect l="-760" r="-760" t="0" b="0"/>
          <a:stretch/>
        </p:blipFill>
        <p:spPr>
          <a:xfrm>
            <a:off x="1417320" y="1647749"/>
            <a:ext cx="152705" cy="171907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958291" y="2000707"/>
            <a:ext cx="11768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수집/라벨링</a:t>
            </a:r>
            <a:endParaRPr lang="en-US" sz="1000" dirty="0"/>
          </a:p>
        </p:txBody>
      </p:sp>
      <p:sp>
        <p:nvSpPr>
          <p:cNvPr id="27" name="Text 18"/>
          <p:cNvSpPr txBox="1"/>
          <p:nvPr/>
        </p:nvSpPr>
        <p:spPr>
          <a:xfrm>
            <a:off x="831190" y="2219249"/>
            <a:ext cx="14100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232장 GT + 419장 Pseudo</a:t>
            </a:r>
            <a:endParaRPr lang="en-US" sz="900" dirty="0"/>
          </a:p>
        </p:txBody>
      </p:sp>
      <p:sp>
        <p:nvSpPr>
          <p:cNvPr id="28" name="Shape 19"/>
          <p:cNvSpPr/>
          <p:nvPr/>
        </p:nvSpPr>
        <p:spPr>
          <a:xfrm>
            <a:off x="2873045" y="1352398"/>
            <a:ext cx="1848002" cy="1218895"/>
          </a:xfrm>
          <a:prstGeom prst="roundRect">
            <a:avLst>
              <a:gd name="adj" fmla="val 7033"/>
            </a:avLst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3708806" y="1647749"/>
            <a:ext cx="171907" cy="171907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3429000" y="2000707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전처리 · 증강</a:t>
            </a:r>
            <a:endParaRPr lang="en-US" sz="1000" dirty="0"/>
          </a:p>
        </p:txBody>
      </p:sp>
      <p:sp>
        <p:nvSpPr>
          <p:cNvPr id="31" name="Text 21"/>
          <p:cNvSpPr txBox="1"/>
          <p:nvPr/>
        </p:nvSpPr>
        <p:spPr>
          <a:xfrm>
            <a:off x="3208630" y="2219249"/>
            <a:ext cx="12673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COCO 통합, 클래스 균형</a:t>
            </a:r>
            <a:endParaRPr lang="en-US" sz="900" dirty="0"/>
          </a:p>
        </p:txBody>
      </p:sp>
      <p:sp>
        <p:nvSpPr>
          <p:cNvPr id="32" name="Shape 22"/>
          <p:cNvSpPr/>
          <p:nvPr/>
        </p:nvSpPr>
        <p:spPr>
          <a:xfrm>
            <a:off x="5173675" y="1352398"/>
            <a:ext cx="1848002" cy="1218895"/>
          </a:xfrm>
          <a:prstGeom prst="roundRect">
            <a:avLst>
              <a:gd name="adj" fmla="val 7033"/>
            </a:avLst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6010351" y="1647749"/>
            <a:ext cx="171907" cy="171907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5832043" y="2000707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학습</a:t>
            </a:r>
            <a:endParaRPr lang="en-US" sz="1000" dirty="0"/>
          </a:p>
        </p:txBody>
      </p:sp>
      <p:sp>
        <p:nvSpPr>
          <p:cNvPr id="35" name="Text 24"/>
          <p:cNvSpPr txBox="1"/>
          <p:nvPr/>
        </p:nvSpPr>
        <p:spPr>
          <a:xfrm>
            <a:off x="5565953" y="2219249"/>
            <a:ext cx="11530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YOLO (실시간 최적화)</a:t>
            </a:r>
            <a:endParaRPr lang="en-US" sz="900" dirty="0"/>
          </a:p>
        </p:txBody>
      </p:sp>
      <p:sp>
        <p:nvSpPr>
          <p:cNvPr id="36" name="Shape 25"/>
          <p:cNvSpPr/>
          <p:nvPr/>
        </p:nvSpPr>
        <p:spPr>
          <a:xfrm>
            <a:off x="7475220" y="1352398"/>
            <a:ext cx="1848002" cy="1218895"/>
          </a:xfrm>
          <a:prstGeom prst="roundRect">
            <a:avLst>
              <a:gd name="adj" fmla="val 7033"/>
            </a:avLst>
          </a:prstGeom>
          <a:solidFill>
            <a:srgbClr val="EEF2FF"/>
          </a:solidFill>
          <a:ln w="25400">
            <a:solidFill>
              <a:srgbClr val="6366F1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37" name="Shape 26"/>
          <p:cNvSpPr/>
          <p:nvPr/>
        </p:nvSpPr>
        <p:spPr>
          <a:xfrm>
            <a:off x="8206740" y="1543507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E0E7FF"/>
          </a:solidFill>
          <a:ln/>
        </p:spPr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8310982" y="1647749"/>
            <a:ext cx="171907" cy="171907"/>
          </a:xfrm>
          <a:prstGeom prst="rect">
            <a:avLst/>
          </a:prstGeom>
        </p:spPr>
      </p:pic>
      <p:sp>
        <p:nvSpPr>
          <p:cNvPr id="39" name="Text 27"/>
          <p:cNvSpPr txBox="1"/>
          <p:nvPr/>
        </p:nvSpPr>
        <p:spPr>
          <a:xfrm>
            <a:off x="8094269" y="2000707"/>
            <a:ext cx="7104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 &amp; 평가</a:t>
            </a:r>
            <a:endParaRPr lang="en-US" sz="1000" dirty="0"/>
          </a:p>
        </p:txBody>
      </p:sp>
      <p:sp>
        <p:nvSpPr>
          <p:cNvPr id="40" name="Text 28"/>
          <p:cNvSpPr txBox="1"/>
          <p:nvPr/>
        </p:nvSpPr>
        <p:spPr>
          <a:xfrm>
            <a:off x="7723022" y="2219249"/>
            <a:ext cx="14383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Gate / Freeze / Threshold</a:t>
            </a:r>
            <a:endParaRPr lang="en-US" sz="900" dirty="0"/>
          </a:p>
        </p:txBody>
      </p:sp>
      <p:sp>
        <p:nvSpPr>
          <p:cNvPr id="41" name="Shape 29"/>
          <p:cNvSpPr/>
          <p:nvPr/>
        </p:nvSpPr>
        <p:spPr>
          <a:xfrm>
            <a:off x="9775850" y="1352398"/>
            <a:ext cx="1848002" cy="1218895"/>
          </a:xfrm>
          <a:prstGeom prst="roundRect">
            <a:avLst>
              <a:gd name="adj" fmla="val 7033"/>
            </a:avLst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42" name="Image 10" descr="preencoded.png">    </p:cNvPr>
          <p:cNvPicPr>
            <a:picLocks noChangeAspect="1"/>
          </p:cNvPicPr>
          <p:nvPr/>
        </p:nvPicPr>
        <p:blipFill>
          <a:blip r:embed="rId11"/>
          <a:srcRect l="-1773" r="-1773" t="0" b="0"/>
          <a:stretch/>
        </p:blipFill>
        <p:spPr>
          <a:xfrm>
            <a:off x="10631729" y="1647749"/>
            <a:ext cx="133502" cy="171907"/>
          </a:xfrm>
          <a:prstGeom prst="rect">
            <a:avLst/>
          </a:prstGeom>
        </p:spPr>
      </p:pic>
      <p:sp>
        <p:nvSpPr>
          <p:cNvPr id="43" name="Text 30"/>
          <p:cNvSpPr txBox="1"/>
          <p:nvPr/>
        </p:nvSpPr>
        <p:spPr>
          <a:xfrm>
            <a:off x="10389413" y="2000707"/>
            <a:ext cx="7196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서빙 / 배포</a:t>
            </a:r>
            <a:endParaRPr lang="en-US" sz="1000" dirty="0"/>
          </a:p>
        </p:txBody>
      </p:sp>
      <p:sp>
        <p:nvSpPr>
          <p:cNvPr id="44" name="Text 31"/>
          <p:cNvSpPr txBox="1"/>
          <p:nvPr/>
        </p:nvSpPr>
        <p:spPr>
          <a:xfrm>
            <a:off x="10259568" y="2219249"/>
            <a:ext cx="9720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Next.js + FastAPI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Shape 3"/>
          <p:cNvSpPr/>
          <p:nvPr/>
        </p:nvSpPr>
        <p:spPr>
          <a:xfrm>
            <a:off x="8383219" y="362102"/>
            <a:ext cx="3238805" cy="267005"/>
          </a:xfrm>
          <a:prstGeom prst="roundRect">
            <a:avLst>
              <a:gd name="adj" fmla="val 48924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71500" y="1028700"/>
            <a:ext cx="38405" cy="267005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71500" y="3895344"/>
            <a:ext cx="171907" cy="17190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19302" y="3847795"/>
            <a:ext cx="184343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문제점 (EDA 결과)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71500" y="4229100"/>
            <a:ext cx="5372100" cy="685800"/>
          </a:xfrm>
          <a:prstGeom prst="roundRect">
            <a:avLst>
              <a:gd name="adj" fmla="val 14815"/>
            </a:avLst>
          </a:prstGeom>
          <a:solidFill>
            <a:srgbClr val="FEF2F2"/>
          </a:solidFill>
          <a:ln/>
        </p:spPr>
      </p:sp>
      <p:sp>
        <p:nvSpPr>
          <p:cNvPr id="10" name="Shape 7"/>
          <p:cNvSpPr/>
          <p:nvPr/>
        </p:nvSpPr>
        <p:spPr>
          <a:xfrm>
            <a:off x="571500" y="4229100"/>
            <a:ext cx="38405" cy="68580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4"/>
          <a:srcRect l="0" r="0" t="-180" b="-180"/>
          <a:stretch/>
        </p:blipFill>
        <p:spPr>
          <a:xfrm>
            <a:off x="761695" y="4419295"/>
            <a:ext cx="190195" cy="15270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71500" y="5029200"/>
            <a:ext cx="5372100" cy="685800"/>
          </a:xfrm>
          <a:prstGeom prst="roundRect">
            <a:avLst>
              <a:gd name="adj" fmla="val 14815"/>
            </a:avLst>
          </a:prstGeom>
          <a:solidFill>
            <a:srgbClr val="FFF7ED"/>
          </a:solidFill>
          <a:ln/>
        </p:spPr>
      </p:sp>
      <p:sp>
        <p:nvSpPr>
          <p:cNvPr id="13" name="Shape 9"/>
          <p:cNvSpPr/>
          <p:nvPr/>
        </p:nvSpPr>
        <p:spPr>
          <a:xfrm>
            <a:off x="571500" y="5029200"/>
            <a:ext cx="38405" cy="685800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/>
          <a:srcRect l="-33" r="-33" t="0" b="0"/>
          <a:stretch/>
        </p:blipFill>
        <p:spPr>
          <a:xfrm>
            <a:off x="761695" y="5219395"/>
            <a:ext cx="171907" cy="152705"/>
          </a:xfrm>
          <a:prstGeom prst="rect">
            <a:avLst/>
          </a:prstGeom>
        </p:spPr>
      </p:pic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6"/>
          <a:srcRect l="-1064" r="-1064" t="0" b="0"/>
          <a:stretch/>
        </p:blipFill>
        <p:spPr>
          <a:xfrm>
            <a:off x="6248095" y="3895344"/>
            <a:ext cx="219456" cy="171907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543446" y="3847795"/>
            <a:ext cx="1853489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클래스 불균형 및 불일치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6248095" y="4229100"/>
            <a:ext cx="5372100" cy="2428646"/>
          </a:xfrm>
          <a:prstGeom prst="roundRect">
            <a:avLst>
              <a:gd name="adj" fmla="val 1772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6448349" y="5266944"/>
            <a:ext cx="4972507" cy="6858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571500" y="6429146"/>
            <a:ext cx="11048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571500" y="219456"/>
            <a:ext cx="11247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SECTION 2. DATA</a:t>
            </a:r>
            <a:endParaRPr lang="en-US" sz="900" dirty="0"/>
          </a:p>
        </p:txBody>
      </p:sp>
      <p:sp>
        <p:nvSpPr>
          <p:cNvPr id="21" name="Text 15"/>
          <p:cNvSpPr txBox="1"/>
          <p:nvPr/>
        </p:nvSpPr>
        <p:spPr>
          <a:xfrm>
            <a:off x="571500" y="381305"/>
            <a:ext cx="517733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Overview: 품질과 불균형의 문제</a:t>
            </a:r>
            <a:endParaRPr lang="en-US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8497519" y="400507"/>
            <a:ext cx="31107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데이터: “있어 보이는 651장” → “학습 가능한 232장”</a:t>
            </a:r>
            <a:endParaRPr lang="en-US" sz="1000" dirty="0"/>
          </a:p>
        </p:txBody>
      </p:sp>
      <p:sp>
        <p:nvSpPr>
          <p:cNvPr id="23" name="Text 17"/>
          <p:cNvSpPr txBox="1"/>
          <p:nvPr/>
        </p:nvSpPr>
        <p:spPr>
          <a:xfrm>
            <a:off x="724205" y="1019556"/>
            <a:ext cx="14767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현황 분석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1067105" y="4381805"/>
            <a:ext cx="19385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이미지-Annotation 매칭 불일치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067105" y="4600346"/>
            <a:ext cx="28099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JSON 파일 누락, 유실, 파일명 불일치로 인한 데이터 손실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1047902" y="5181905"/>
            <a:ext cx="13194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COCO 포맷 통합 필요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1047902" y="5400446"/>
            <a:ext cx="30961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하나의 이미지에 여러 개의 JSON이 흩어져 있어 통합 작업 필수</a:t>
            </a:r>
            <a:endParaRPr lang="en-US" sz="900" dirty="0"/>
          </a:p>
        </p:txBody>
      </p:sp>
      <p:sp>
        <p:nvSpPr>
          <p:cNvPr id="28" name="Text 22"/>
          <p:cNvSpPr txBox="1"/>
          <p:nvPr/>
        </p:nvSpPr>
        <p:spPr>
          <a:xfrm>
            <a:off x="7205472" y="4419295"/>
            <a:ext cx="6483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클래스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7315200" y="4581144"/>
            <a:ext cx="55778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56</a:t>
            </a:r>
            <a:endParaRPr lang="en-US" sz="2200" dirty="0"/>
          </a:p>
        </p:txBody>
      </p:sp>
      <p:sp>
        <p:nvSpPr>
          <p:cNvPr id="30" name="Text 24"/>
          <p:cNvSpPr txBox="1"/>
          <p:nvPr/>
        </p:nvSpPr>
        <p:spPr>
          <a:xfrm>
            <a:off x="7287768" y="4953305"/>
            <a:ext cx="4864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Classes</a:t>
            </a:r>
            <a:endParaRPr lang="en-US" sz="9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7"/>
          <a:srcRect l="0" r="0" t="-43" b="-43"/>
          <a:stretch/>
        </p:blipFill>
        <p:spPr>
          <a:xfrm>
            <a:off x="8867851" y="4610405"/>
            <a:ext cx="133502" cy="152705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8663026" y="4819802"/>
            <a:ext cx="6291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Mismatch</a:t>
            </a:r>
            <a:endParaRPr lang="en-US" sz="900" dirty="0"/>
          </a:p>
        </p:txBody>
      </p:sp>
      <p:sp>
        <p:nvSpPr>
          <p:cNvPr id="33" name="Text 26"/>
          <p:cNvSpPr txBox="1"/>
          <p:nvPr/>
        </p:nvSpPr>
        <p:spPr>
          <a:xfrm>
            <a:off x="10105949" y="4419295"/>
            <a:ext cx="6483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포함</a:t>
            </a:r>
            <a:endParaRPr lang="en-US" sz="900" dirty="0"/>
          </a:p>
        </p:txBody>
      </p:sp>
      <p:sp>
        <p:nvSpPr>
          <p:cNvPr id="34" name="Text 27"/>
          <p:cNvSpPr txBox="1"/>
          <p:nvPr/>
        </p:nvSpPr>
        <p:spPr>
          <a:xfrm>
            <a:off x="10215677" y="4581144"/>
            <a:ext cx="55778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74</a:t>
            </a:r>
            <a:endParaRPr lang="en-US" sz="2200" dirty="0"/>
          </a:p>
        </p:txBody>
      </p:sp>
      <p:sp>
        <p:nvSpPr>
          <p:cNvPr id="35" name="Text 28"/>
          <p:cNvSpPr txBox="1"/>
          <p:nvPr/>
        </p:nvSpPr>
        <p:spPr>
          <a:xfrm>
            <a:off x="10187330" y="4953305"/>
            <a:ext cx="4864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Classes</a:t>
            </a:r>
            <a:endParaRPr lang="en-US" sz="900" dirty="0"/>
          </a:p>
        </p:txBody>
      </p:sp>
      <p:sp>
        <p:nvSpPr>
          <p:cNvPr id="36" name="Text 29"/>
          <p:cNvSpPr txBox="1"/>
          <p:nvPr/>
        </p:nvSpPr>
        <p:spPr>
          <a:xfrm>
            <a:off x="6572707" y="5400446"/>
            <a:ext cx="4596689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이미지는 651장이지만, 학습 가능한 GT는 232장뿐이라 ‘라벨 품질과 정합성 확보’가 프로젝트의 핵심 레버였습니다.</a:t>
            </a:r>
            <a:endParaRPr lang="en-US" sz="1000" dirty="0"/>
          </a:p>
        </p:txBody>
      </p:sp>
      <p:sp>
        <p:nvSpPr>
          <p:cNvPr id="37" name="Text 30"/>
          <p:cNvSpPr txBox="1"/>
          <p:nvPr/>
        </p:nvSpPr>
        <p:spPr>
          <a:xfrm>
            <a:off x="571500" y="6505956"/>
            <a:ext cx="16486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PillPal Project - Data Analysis</a:t>
            </a:r>
            <a:endParaRPr lang="en-US" sz="900" dirty="0"/>
          </a:p>
        </p:txBody>
      </p:sp>
      <p:sp>
        <p:nvSpPr>
          <p:cNvPr id="38" name="Text 31"/>
          <p:cNvSpPr txBox="1"/>
          <p:nvPr/>
        </p:nvSpPr>
        <p:spPr>
          <a:xfrm>
            <a:off x="11096244" y="6505956"/>
            <a:ext cx="6099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5/18</a:t>
            </a:r>
            <a:endParaRPr lang="en-US" sz="900" dirty="0"/>
          </a:p>
        </p:txBody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8"/>
          <a:srcRect l="-1200" r="-1200" t="0" b="0"/>
          <a:stretch/>
        </p:blipFill>
        <p:spPr>
          <a:xfrm>
            <a:off x="4144975" y="2321662"/>
            <a:ext cx="219456" cy="342900"/>
          </a:xfrm>
          <a:prstGeom prst="rect">
            <a:avLst/>
          </a:prstGeom>
        </p:spPr>
      </p:pic>
      <p:pic>
        <p:nvPicPr>
          <p:cNvPr id="40" name="Image 6" descr="preencoded.png"/>
          <p:cNvPicPr>
            <a:picLocks noChangeAspect="1"/>
          </p:cNvPicPr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7902702" y="2419502"/>
            <a:ext cx="342900" cy="342900"/>
          </a:xfrm>
          <a:prstGeom prst="rect">
            <a:avLst/>
          </a:prstGeom>
        </p:spPr>
      </p:pic>
      <p:sp>
        <p:nvSpPr>
          <p:cNvPr id="41" name="Shape 32"/>
          <p:cNvSpPr/>
          <p:nvPr/>
        </p:nvSpPr>
        <p:spPr>
          <a:xfrm>
            <a:off x="571500" y="1447495"/>
            <a:ext cx="3381451" cy="2095805"/>
          </a:xfrm>
          <a:prstGeom prst="roundRect">
            <a:avLst>
              <a:gd name="adj" fmla="val 238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3" name="Shape 33"/>
          <p:cNvSpPr/>
          <p:nvPr/>
        </p:nvSpPr>
        <p:spPr>
          <a:xfrm>
            <a:off x="2031797" y="1686154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e5e7eb"/>
          </a:solidFill>
          <a:ln/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10"/>
          <a:srcRect l="-1282" r="-1282" t="0" b="0"/>
          <a:stretch/>
        </p:blipFill>
        <p:spPr>
          <a:xfrm>
            <a:off x="2150669" y="1819656"/>
            <a:ext cx="219456" cy="190195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1869948" y="2257654"/>
            <a:ext cx="776326" cy="19111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000" b="1">
                <a:solidFill>
                  <a:srgbClr val="6b7280"/>
                </a:solidFill>
                <a:latin typeface="Noto Sans KR"/>
                <a:ea typeface="Noto Sans KR"/>
                <a:cs typeface="Noto Sans KR"/>
              </a:rPr>
              <a:t>원본 이미지</a:t>
            </a:r>
            <a:endParaRPr lang="en-US" sz="1000"/>
          </a:p>
        </p:txBody>
      </p:sp>
      <p:sp>
        <p:nvSpPr>
          <p:cNvPr id="45" name="Text 35"/>
          <p:cNvSpPr txBox="1"/>
          <p:nvPr/>
        </p:nvSpPr>
        <p:spPr>
          <a:xfrm>
            <a:off x="1669694" y="2410359"/>
            <a:ext cx="1181405" cy="66751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3600" b="1">
                <a:solidFill>
                  <a:srgbClr val="1f2937"/>
                </a:solidFill>
                <a:latin typeface="Noto Sans KR"/>
                <a:ea typeface="Noto Sans KR"/>
                <a:cs typeface="Noto Sans KR"/>
              </a:rPr>
              <a:t>651</a:t>
            </a:r>
            <a:endParaRPr lang="en-US" sz="3600"/>
          </a:p>
        </p:txBody>
      </p:sp>
      <p:sp>
        <p:nvSpPr>
          <p:cNvPr id="46" name="Shape 36"/>
          <p:cNvSpPr/>
          <p:nvPr/>
        </p:nvSpPr>
        <p:spPr>
          <a:xfrm>
            <a:off x="1905610" y="3076956"/>
            <a:ext cx="714146" cy="228600"/>
          </a:xfrm>
          <a:prstGeom prst="roundRect">
            <a:avLst>
              <a:gd name="adj" fmla="val 400000"/>
            </a:avLst>
          </a:prstGeom>
          <a:solidFill>
            <a:srgbClr val="e5e7eb"/>
          </a:solidFill>
          <a:ln/>
        </p:spPr>
      </p:sp>
      <p:sp>
        <p:nvSpPr>
          <p:cNvPr id="47" name="Text 37"/>
          <p:cNvSpPr txBox="1"/>
          <p:nvPr/>
        </p:nvSpPr>
        <p:spPr>
          <a:xfrm>
            <a:off x="1938070" y="3145537"/>
            <a:ext cx="648310" cy="162763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900">
                <a:solidFill>
                  <a:srgbClr val="6b7280"/>
                </a:solidFill>
                <a:latin typeface="Noto Sans KR"/>
                <a:ea typeface="Noto Sans KR"/>
                <a:cs typeface="Noto Sans KR"/>
              </a:rPr>
              <a:t>전체 보유량</a:t>
            </a:r>
            <a:endParaRPr lang="en-US" sz="900"/>
          </a:p>
        </p:txBody>
      </p:sp>
      <p:sp>
        <p:nvSpPr>
          <p:cNvPr id="48" name="Shape 38"/>
          <p:cNvSpPr/>
          <p:nvPr/>
        </p:nvSpPr>
        <p:spPr>
          <a:xfrm>
            <a:off x="4406494" y="1447495"/>
            <a:ext cx="3381451" cy="2095805"/>
          </a:xfrm>
          <a:prstGeom prst="roundRect">
            <a:avLst>
              <a:gd name="adj" fmla="val 238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49" name="Image 8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6000293" y="1819656"/>
            <a:ext cx="190195" cy="190195"/>
          </a:xfrm>
          <a:prstGeom prst="rect">
            <a:avLst/>
          </a:prstGeom>
        </p:spPr>
      </p:pic>
      <p:sp>
        <p:nvSpPr>
          <p:cNvPr id="50" name="Text 39"/>
          <p:cNvSpPr txBox="1"/>
          <p:nvPr/>
        </p:nvSpPr>
        <p:spPr>
          <a:xfrm>
            <a:off x="5658307" y="2257654"/>
            <a:ext cx="9765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가능 (GT)</a:t>
            </a:r>
            <a:endParaRPr lang="en-US" sz="1000" dirty="0"/>
          </a:p>
        </p:txBody>
      </p:sp>
      <p:sp>
        <p:nvSpPr>
          <p:cNvPr id="51" name="Text 40"/>
          <p:cNvSpPr txBox="1"/>
          <p:nvPr/>
        </p:nvSpPr>
        <p:spPr>
          <a:xfrm>
            <a:off x="5493258" y="2467051"/>
            <a:ext cx="1181405" cy="66751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3600" b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232</a:t>
            </a:r>
            <a:endParaRPr lang="en-US" sz="3600"/>
          </a:p>
        </p:txBody>
      </p:sp>
      <p:sp>
        <p:nvSpPr>
          <p:cNvPr id="52" name="Text 41"/>
          <p:cNvSpPr txBox="1"/>
          <p:nvPr/>
        </p:nvSpPr>
        <p:spPr>
          <a:xfrm>
            <a:off x="5566867" y="3105302"/>
            <a:ext cx="11530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활용 가능 (35%)</a:t>
            </a:r>
            <a:endParaRPr lang="en-US" sz="900" dirty="0"/>
          </a:p>
        </p:txBody>
      </p:sp>
      <p:sp>
        <p:nvSpPr>
          <p:cNvPr id="53" name="Shape 42"/>
          <p:cNvSpPr/>
          <p:nvPr/>
        </p:nvSpPr>
        <p:spPr>
          <a:xfrm>
            <a:off x="8242402" y="1447495"/>
            <a:ext cx="3381451" cy="2095805"/>
          </a:xfrm>
          <a:prstGeom prst="roundRect">
            <a:avLst>
              <a:gd name="adj" fmla="val 238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55" name="Shape 43"/>
          <p:cNvSpPr/>
          <p:nvPr/>
        </p:nvSpPr>
        <p:spPr>
          <a:xfrm>
            <a:off x="9702698" y="1686154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ee2e2"/>
          </a:solidFill>
          <a:ln/>
        </p:spPr>
      </p:sp>
      <p:pic>
        <p:nvPicPr>
          <p:cNvPr id="54" name="Image 9" descr="preencoded.png"/>
          <p:cNvPicPr>
            <a:picLocks noChangeAspect="1"/>
          </p:cNvPicPr>
          <p:nvPr/>
        </p:nvPicPr>
        <p:blipFill rotWithShape="1">
          <a:blip r:embed="rId12"/>
          <a:srcRect/>
          <a:stretch>
            <a:fillRect/>
          </a:stretch>
        </p:blipFill>
        <p:spPr>
          <a:xfrm>
            <a:off x="9836201" y="1819656"/>
            <a:ext cx="190195" cy="190195"/>
          </a:xfrm>
          <a:prstGeom prst="rect">
            <a:avLst/>
          </a:prstGeom>
        </p:spPr>
      </p:pic>
      <p:sp>
        <p:nvSpPr>
          <p:cNvPr id="56" name="Text 44"/>
          <p:cNvSpPr txBox="1"/>
          <p:nvPr/>
        </p:nvSpPr>
        <p:spPr>
          <a:xfrm>
            <a:off x="9548165" y="2257654"/>
            <a:ext cx="8723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미라벨 / 불량</a:t>
            </a:r>
            <a:endParaRPr lang="en-US" sz="1000" dirty="0"/>
          </a:p>
        </p:txBody>
      </p:sp>
      <p:sp>
        <p:nvSpPr>
          <p:cNvPr id="57" name="Text 45"/>
          <p:cNvSpPr txBox="1"/>
          <p:nvPr/>
        </p:nvSpPr>
        <p:spPr>
          <a:xfrm>
            <a:off x="9340595" y="2427732"/>
            <a:ext cx="1181405" cy="66751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3600" b="1">
                <a:solidFill>
                  <a:srgbClr val="ef4444"/>
                </a:solidFill>
                <a:latin typeface="Noto Sans KR"/>
                <a:ea typeface="Noto Sans KR"/>
                <a:cs typeface="Noto Sans KR"/>
              </a:rPr>
              <a:t>419</a:t>
            </a:r>
            <a:endParaRPr lang="en-US" sz="3600"/>
          </a:p>
        </p:txBody>
      </p:sp>
      <p:sp>
        <p:nvSpPr>
          <p:cNvPr id="58" name="Shape 46"/>
          <p:cNvSpPr/>
          <p:nvPr/>
        </p:nvSpPr>
        <p:spPr>
          <a:xfrm>
            <a:off x="9457639" y="3076956"/>
            <a:ext cx="952805" cy="228600"/>
          </a:xfrm>
          <a:prstGeom prst="roundRect">
            <a:avLst>
              <a:gd name="adj" fmla="val 400000"/>
            </a:avLst>
          </a:prstGeom>
          <a:solidFill>
            <a:srgbClr val="FEE2E2"/>
          </a:solidFill>
          <a:ln/>
        </p:spPr>
      </p:sp>
      <p:sp>
        <p:nvSpPr>
          <p:cNvPr id="59" name="Text 47"/>
          <p:cNvSpPr txBox="1"/>
          <p:nvPr/>
        </p:nvSpPr>
        <p:spPr>
          <a:xfrm>
            <a:off x="9534449" y="3105302"/>
            <a:ext cx="8860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미달 (65%)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Shape 3"/>
          <p:cNvSpPr/>
          <p:nvPr/>
        </p:nvSpPr>
        <p:spPr>
          <a:xfrm>
            <a:off x="571500" y="1352398"/>
            <a:ext cx="11048695" cy="2771546"/>
          </a:xfrm>
          <a:prstGeom prst="roundRect">
            <a:avLst>
              <a:gd name="adj" fmla="val 1814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9244" y="1628546"/>
            <a:ext cx="190195" cy="19019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1500" y="4352544"/>
            <a:ext cx="6495898" cy="1828800"/>
          </a:xfrm>
          <a:prstGeom prst="roundRect">
            <a:avLst>
              <a:gd name="adj" fmla="val 4167"/>
            </a:avLst>
          </a:prstGeom>
          <a:solidFill>
            <a:srgbClr val="F9FAFB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4352544"/>
            <a:ext cx="38405" cy="1828800"/>
          </a:xfrm>
          <a:prstGeom prst="rect">
            <a:avLst/>
          </a:prstGeom>
          <a:solidFill>
            <a:srgbClr val="9CA3A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38505" y="4647895"/>
            <a:ext cx="228600" cy="2286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218895" y="5296205"/>
            <a:ext cx="5619902" cy="629107"/>
          </a:xfrm>
          <a:prstGeom prst="roundRect">
            <a:avLst>
              <a:gd name="adj" fmla="val 1761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71500" y="6334049"/>
            <a:ext cx="11048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571500" y="504749"/>
            <a:ext cx="11814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PILLPAL PROJECT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571500" y="629107"/>
            <a:ext cx="288676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엔지니어링</a:t>
            </a:r>
            <a:endParaRPr lang="en-US" sz="2700" dirty="0"/>
          </a:p>
        </p:txBody>
      </p:sp>
      <p:sp>
        <p:nvSpPr>
          <p:cNvPr id="14" name="Text 10"/>
          <p:cNvSpPr txBox="1"/>
          <p:nvPr/>
        </p:nvSpPr>
        <p:spPr>
          <a:xfrm>
            <a:off x="1114654" y="1580998"/>
            <a:ext cx="27432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해결 흐름 (입력 → 처리 → 출력)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1181405" y="4619549"/>
            <a:ext cx="13578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Meta Question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1181405" y="4914900"/>
            <a:ext cx="50913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"Pseudo-label은 데이터를 늘리는 게 아니라, 신뢰도 있는 라벨을 만들기 위한 가설이다."</a:t>
            </a:r>
            <a:endParaRPr lang="en-US" sz="10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343254" y="5455310"/>
            <a:ext cx="133502" cy="13350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552651" y="5419649"/>
            <a:ext cx="18150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Risk: 노이즈/편향 발생 가능성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1571854" y="5639105"/>
            <a:ext cx="27340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어떤 실패가 생길 수 있고, QA로 어떻게 잡을 것인가?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571500" y="6409944"/>
            <a:ext cx="13624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PillPal Project Overview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11096244" y="6409944"/>
            <a:ext cx="6099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6/18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9235440" y="790956"/>
            <a:ext cx="25200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"학습 가능한 품질"로 만드는 레버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809244" y="2009851"/>
            <a:ext cx="2476195" cy="1828800"/>
          </a:xfrm>
          <a:prstGeom prst="roundRect">
            <a:avLst>
              <a:gd name="adj" fmla="val 3125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817474" y="1962302"/>
            <a:ext cx="186538" cy="19111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  <a:endParaRPr lang="en-US" altLang="ko-KR" sz="1000" b="1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6"/>
          <a:srcRect l="-607" r="-607" t="0" b="0"/>
          <a:stretch/>
        </p:blipFill>
        <p:spPr>
          <a:xfrm>
            <a:off x="1864462" y="2210105"/>
            <a:ext cx="362102" cy="286207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562710" y="2584094"/>
            <a:ext cx="10716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Initial Training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1009498" y="3105302"/>
            <a:ext cx="2076602" cy="533095"/>
          </a:xfrm>
          <a:prstGeom prst="roundRect">
            <a:avLst>
              <a:gd name="adj" fmla="val 122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28" name="Text 22"/>
          <p:cNvSpPr txBox="1"/>
          <p:nvPr/>
        </p:nvSpPr>
        <p:spPr>
          <a:xfrm>
            <a:off x="1800454" y="3172054"/>
            <a:ext cx="5815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GT 232장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1406347" y="3333902"/>
            <a:ext cx="1400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Stage-1 YOLO 학습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3510382" y="2009851"/>
            <a:ext cx="2476195" cy="1828800"/>
          </a:xfrm>
          <a:prstGeom prst="roundRect">
            <a:avLst>
              <a:gd name="adj" fmla="val 3125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3405226" y="1904695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2563EB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32" name="Text 26"/>
          <p:cNvSpPr txBox="1"/>
          <p:nvPr/>
        </p:nvSpPr>
        <p:spPr>
          <a:xfrm>
            <a:off x="3517697" y="1962302"/>
            <a:ext cx="186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00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603090" y="2210105"/>
            <a:ext cx="286207" cy="286207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4212641" y="2584094"/>
            <a:ext cx="11676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Pseudo-labeling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3709721" y="3105302"/>
            <a:ext cx="2076602" cy="533095"/>
          </a:xfrm>
          <a:prstGeom prst="roundRect">
            <a:avLst>
              <a:gd name="adj" fmla="val 122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36" name="Text 29"/>
          <p:cNvSpPr txBox="1"/>
          <p:nvPr/>
        </p:nvSpPr>
        <p:spPr>
          <a:xfrm>
            <a:off x="4418381" y="3172054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419장 미라벨</a:t>
            </a:r>
            <a:endParaRPr lang="en-US" sz="900" dirty="0"/>
          </a:p>
        </p:txBody>
      </p:sp>
      <p:sp>
        <p:nvSpPr>
          <p:cNvPr id="37" name="Text 30"/>
          <p:cNvSpPr txBox="1"/>
          <p:nvPr/>
        </p:nvSpPr>
        <p:spPr>
          <a:xfrm>
            <a:off x="4128516" y="3333902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651장 규모 확보</a:t>
            </a:r>
            <a:endParaRPr lang="en-US" sz="1200" dirty="0"/>
          </a:p>
        </p:txBody>
      </p:sp>
      <p:sp>
        <p:nvSpPr>
          <p:cNvPr id="38" name="Shape 31"/>
          <p:cNvSpPr/>
          <p:nvPr/>
        </p:nvSpPr>
        <p:spPr>
          <a:xfrm>
            <a:off x="6210605" y="2009851"/>
            <a:ext cx="2476195" cy="1828800"/>
          </a:xfrm>
          <a:prstGeom prst="roundRect">
            <a:avLst>
              <a:gd name="adj" fmla="val 3125"/>
            </a:avLst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6105449" y="1904695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40" name="Text 33"/>
          <p:cNvSpPr txBox="1"/>
          <p:nvPr/>
        </p:nvSpPr>
        <p:spPr>
          <a:xfrm>
            <a:off x="6218834" y="1962302"/>
            <a:ext cx="186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000" dirty="0"/>
          </a:p>
        </p:txBody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7303313" y="2210105"/>
            <a:ext cx="286207" cy="286207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7004304" y="2584094"/>
            <a:ext cx="9866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Selective Aug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6409944" y="3105302"/>
            <a:ext cx="2076602" cy="533095"/>
          </a:xfrm>
          <a:prstGeom prst="roundRect">
            <a:avLst>
              <a:gd name="adj" fmla="val 122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44" name="Text 36"/>
          <p:cNvSpPr txBox="1"/>
          <p:nvPr/>
        </p:nvSpPr>
        <p:spPr>
          <a:xfrm>
            <a:off x="7028993" y="3172054"/>
            <a:ext cx="9244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하위 20% 클래스</a:t>
            </a:r>
            <a:endParaRPr lang="en-US" sz="900" dirty="0"/>
          </a:p>
        </p:txBody>
      </p:sp>
      <p:sp>
        <p:nvSpPr>
          <p:cNvPr id="45" name="Text 37"/>
          <p:cNvSpPr txBox="1"/>
          <p:nvPr/>
        </p:nvSpPr>
        <p:spPr>
          <a:xfrm>
            <a:off x="6733642" y="3333902"/>
            <a:ext cx="15435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밝기/회전/노이즈 증강</a:t>
            </a:r>
            <a:endParaRPr lang="en-US" sz="1200" dirty="0"/>
          </a:p>
        </p:txBody>
      </p:sp>
      <p:sp>
        <p:nvSpPr>
          <p:cNvPr id="46" name="Shape 38"/>
          <p:cNvSpPr/>
          <p:nvPr/>
        </p:nvSpPr>
        <p:spPr>
          <a:xfrm>
            <a:off x="8910828" y="2009851"/>
            <a:ext cx="2476195" cy="1828800"/>
          </a:xfrm>
          <a:prstGeom prst="roundRect">
            <a:avLst>
              <a:gd name="adj" fmla="val 3125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47" name="Shape 39"/>
          <p:cNvSpPr/>
          <p:nvPr/>
        </p:nvSpPr>
        <p:spPr>
          <a:xfrm>
            <a:off x="8805672" y="1904695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48" name="Text 40"/>
          <p:cNvSpPr txBox="1"/>
          <p:nvPr/>
        </p:nvSpPr>
        <p:spPr>
          <a:xfrm>
            <a:off x="8919058" y="1962302"/>
            <a:ext cx="186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000" dirty="0"/>
          </a:p>
        </p:txBody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10003536" y="2210105"/>
            <a:ext cx="286207" cy="286207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9809683" y="2584094"/>
            <a:ext cx="7763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Expansion</a:t>
            </a:r>
            <a:endParaRPr lang="en-US" sz="1000" dirty="0"/>
          </a:p>
        </p:txBody>
      </p:sp>
      <p:sp>
        <p:nvSpPr>
          <p:cNvPr id="51" name="Shape 42"/>
          <p:cNvSpPr/>
          <p:nvPr/>
        </p:nvSpPr>
        <p:spPr>
          <a:xfrm>
            <a:off x="9111082" y="3105302"/>
            <a:ext cx="2076602" cy="533095"/>
          </a:xfrm>
          <a:prstGeom prst="roundRect">
            <a:avLst>
              <a:gd name="adj" fmla="val 122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52" name="Text 43"/>
          <p:cNvSpPr txBox="1"/>
          <p:nvPr/>
        </p:nvSpPr>
        <p:spPr>
          <a:xfrm>
            <a:off x="9731959" y="3172054"/>
            <a:ext cx="9244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18개 신규 라벨링</a:t>
            </a:r>
            <a:endParaRPr lang="en-US" sz="900" dirty="0"/>
          </a:p>
        </p:txBody>
      </p:sp>
      <p:sp>
        <p:nvSpPr>
          <p:cNvPr id="53" name="Text 44"/>
          <p:cNvSpPr txBox="1"/>
          <p:nvPr/>
        </p:nvSpPr>
        <p:spPr>
          <a:xfrm>
            <a:off x="9505188" y="3333902"/>
            <a:ext cx="1400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총 74 Class 확장</a:t>
            </a:r>
            <a:endParaRPr lang="en-US" sz="1200" dirty="0"/>
          </a:p>
        </p:txBody>
      </p:sp>
      <p:sp>
        <p:nvSpPr>
          <p:cNvPr id="54" name="Shape 45"/>
          <p:cNvSpPr/>
          <p:nvPr/>
        </p:nvSpPr>
        <p:spPr>
          <a:xfrm>
            <a:off x="7290511" y="4352544"/>
            <a:ext cx="4334256" cy="1828800"/>
          </a:xfrm>
          <a:prstGeom prst="roundRect">
            <a:avLst>
              <a:gd name="adj" fmla="val 4167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10"/>
          <a:srcRect l="0" r="0" t="-80" b="-80"/>
          <a:stretch/>
        </p:blipFill>
        <p:spPr>
          <a:xfrm>
            <a:off x="3366821" y="2819095"/>
            <a:ext cx="142646" cy="228600"/>
          </a:xfrm>
          <a:prstGeom prst="rect">
            <a:avLst/>
          </a:prstGeom>
        </p:spPr>
      </p:pic>
      <p:pic>
        <p:nvPicPr>
          <p:cNvPr id="56" name="Image 8" descr="preencoded.png">    </p:cNvPr>
          <p:cNvPicPr>
            <a:picLocks noChangeAspect="1"/>
          </p:cNvPicPr>
          <p:nvPr/>
        </p:nvPicPr>
        <p:blipFill>
          <a:blip r:embed="rId11"/>
          <a:srcRect l="0" r="0" t="-80" b="-80"/>
          <a:stretch/>
        </p:blipFill>
        <p:spPr>
          <a:xfrm>
            <a:off x="6067044" y="2819095"/>
            <a:ext cx="142646" cy="228600"/>
          </a:xfrm>
          <a:prstGeom prst="rect">
            <a:avLst/>
          </a:prstGeom>
        </p:spPr>
      </p:pic>
      <p:pic>
        <p:nvPicPr>
          <p:cNvPr id="57" name="Image 9" descr="preencoded.png">    </p:cNvPr>
          <p:cNvPicPr>
            <a:picLocks noChangeAspect="1"/>
          </p:cNvPicPr>
          <p:nvPr/>
        </p:nvPicPr>
        <p:blipFill>
          <a:blip r:embed="rId12"/>
          <a:srcRect l="0" r="0" t="-80" b="-80"/>
          <a:stretch/>
        </p:blipFill>
        <p:spPr>
          <a:xfrm>
            <a:off x="8768182" y="2819095"/>
            <a:ext cx="142646" cy="228600"/>
          </a:xfrm>
          <a:prstGeom prst="rect">
            <a:avLst/>
          </a:prstGeom>
        </p:spPr>
      </p:pic>
      <p:pic>
        <p:nvPicPr>
          <p:cNvPr id="58" name="Image 10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7528255" y="4789627"/>
            <a:ext cx="171907" cy="171907"/>
          </a:xfrm>
          <a:prstGeom prst="rect">
            <a:avLst/>
          </a:prstGeom>
        </p:spPr>
      </p:pic>
      <p:sp>
        <p:nvSpPr>
          <p:cNvPr id="59" name="Text 46"/>
          <p:cNvSpPr txBox="1"/>
          <p:nvPr/>
        </p:nvSpPr>
        <p:spPr>
          <a:xfrm>
            <a:off x="7776058" y="4740250"/>
            <a:ext cx="15764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 Gate Solution</a:t>
            </a:r>
            <a:endParaRPr lang="en-US" sz="1300" dirty="0"/>
          </a:p>
        </p:txBody>
      </p:sp>
      <p:sp>
        <p:nvSpPr>
          <p:cNvPr id="60" name="Text 47"/>
          <p:cNvSpPr txBox="1"/>
          <p:nvPr/>
        </p:nvSpPr>
        <p:spPr>
          <a:xfrm>
            <a:off x="7528255" y="5120640"/>
            <a:ext cx="33485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양적 확장보다 비교 가능한 상태 고정이 우선입니다.</a:t>
            </a:r>
            <a:endParaRPr lang="en-US" sz="1000" dirty="0"/>
          </a:p>
        </p:txBody>
      </p:sp>
      <p:sp>
        <p:nvSpPr>
          <p:cNvPr id="61" name="Shape 48"/>
          <p:cNvSpPr/>
          <p:nvPr/>
        </p:nvSpPr>
        <p:spPr>
          <a:xfrm>
            <a:off x="7528255" y="5479999"/>
            <a:ext cx="1228954" cy="323698"/>
          </a:xfrm>
          <a:prstGeom prst="roundRect">
            <a:avLst>
              <a:gd name="adj" fmla="val 664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62" name="Image 11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7652614" y="5565953"/>
            <a:ext cx="152705" cy="152705"/>
          </a:xfrm>
          <a:prstGeom prst="rect">
            <a:avLst/>
          </a:prstGeom>
        </p:spPr>
      </p:pic>
      <p:sp>
        <p:nvSpPr>
          <p:cNvPr id="63" name="Shape 49"/>
          <p:cNvSpPr/>
          <p:nvPr/>
        </p:nvSpPr>
        <p:spPr>
          <a:xfrm>
            <a:off x="8833104" y="5479999"/>
            <a:ext cx="1628546" cy="323698"/>
          </a:xfrm>
          <a:prstGeom prst="roundRect">
            <a:avLst>
              <a:gd name="adj" fmla="val 664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64" name="Image 12" descr="preencoded.png">    </p:cNvPr>
          <p:cNvPicPr>
            <a:picLocks noChangeAspect="1"/>
          </p:cNvPicPr>
          <p:nvPr/>
        </p:nvPicPr>
        <p:blipFill>
          <a:blip r:embed="rId15"/>
          <a:srcRect l="0" r="0" t="-43" b="-43"/>
          <a:stretch/>
        </p:blipFill>
        <p:spPr>
          <a:xfrm>
            <a:off x="8956548" y="5565953"/>
            <a:ext cx="133502" cy="152705"/>
          </a:xfrm>
          <a:prstGeom prst="rect">
            <a:avLst/>
          </a:prstGeom>
        </p:spPr>
      </p:pic>
      <p:sp>
        <p:nvSpPr>
          <p:cNvPr id="65" name="Text 50"/>
          <p:cNvSpPr txBox="1"/>
          <p:nvPr/>
        </p:nvSpPr>
        <p:spPr>
          <a:xfrm>
            <a:off x="7881214" y="5556809"/>
            <a:ext cx="8385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Leakage Gate</a:t>
            </a:r>
            <a:endParaRPr lang="en-US" sz="900" dirty="0"/>
          </a:p>
        </p:txBody>
      </p:sp>
      <p:sp>
        <p:nvSpPr>
          <p:cNvPr id="66" name="Text 51"/>
          <p:cNvSpPr txBox="1"/>
          <p:nvPr/>
        </p:nvSpPr>
        <p:spPr>
          <a:xfrm>
            <a:off x="9166860" y="5556809"/>
            <a:ext cx="12573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Measurement Freeze</a:t>
            </a:r>
            <a:endParaRPr lang="en-US" sz="900" dirty="0"/>
          </a:p>
        </p:txBody>
      </p:sp>
      <p:sp>
        <p:nvSpPr>
          <p:cNvPr id="67" name="Shape 25"/>
          <p:cNvSpPr/>
          <p:nvPr/>
        </p:nvSpPr>
        <p:spPr>
          <a:xfrm>
            <a:off x="706832" y="1885492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c0cde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68" name="Text 26"/>
          <p:cNvSpPr txBox="1"/>
          <p:nvPr/>
        </p:nvSpPr>
        <p:spPr>
          <a:xfrm>
            <a:off x="824789" y="1971446"/>
            <a:ext cx="186538" cy="19111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altLang="ko-KR" sz="1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  <a:endParaRPr lang="en-US" altLang="ko-KR" sz="1000" b="1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Shape 3"/>
          <p:cNvSpPr/>
          <p:nvPr/>
        </p:nvSpPr>
        <p:spPr>
          <a:xfrm>
            <a:off x="571500" y="2229307"/>
            <a:ext cx="3581705" cy="3952951"/>
          </a:xfrm>
          <a:prstGeom prst="roundRect">
            <a:avLst>
              <a:gd name="adj" fmla="val 81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00" b="-100"/>
          <a:stretch/>
        </p:blipFill>
        <p:spPr>
          <a:xfrm>
            <a:off x="733349" y="2428646"/>
            <a:ext cx="114300" cy="15270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23544" y="2391156"/>
            <a:ext cx="1648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config.yaml 구조 예시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33349" y="2734056"/>
            <a:ext cx="3258007" cy="3019349"/>
          </a:xfrm>
          <a:prstGeom prst="roundRect">
            <a:avLst>
              <a:gd name="adj" fmla="val 76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457700" y="2229307"/>
            <a:ext cx="3504895" cy="1904695"/>
          </a:xfrm>
          <a:prstGeom prst="roundRect">
            <a:avLst>
              <a:gd name="adj" fmla="val 2880"/>
            </a:avLst>
          </a:prstGeom>
          <a:noFill/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62195" y="2533802"/>
            <a:ext cx="171907" cy="171907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115300" y="2229307"/>
            <a:ext cx="3504895" cy="1904695"/>
          </a:xfrm>
          <a:prstGeom prst="roundRect">
            <a:avLst>
              <a:gd name="adj" fmla="val 288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8315554" y="2428646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E0E7F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419795" y="2533802"/>
            <a:ext cx="171907" cy="171907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457700" y="4281221"/>
            <a:ext cx="3504895" cy="1904695"/>
          </a:xfrm>
          <a:prstGeom prst="roundRect">
            <a:avLst>
              <a:gd name="adj" fmla="val 288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657954" y="4481474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DBEAFE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-1064" r="-1064" t="0" b="0"/>
          <a:stretch/>
        </p:blipFill>
        <p:spPr>
          <a:xfrm>
            <a:off x="4738421" y="4586630"/>
            <a:ext cx="219456" cy="171907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15300" y="4281221"/>
            <a:ext cx="3504895" cy="1904695"/>
          </a:xfrm>
          <a:prstGeom prst="roundRect">
            <a:avLst>
              <a:gd name="adj" fmla="val 2880"/>
            </a:avLst>
          </a:prstGeom>
          <a:noFill/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419795" y="4586630"/>
            <a:ext cx="171907" cy="171907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571500" y="6334049"/>
            <a:ext cx="11048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0" name="Text 13"/>
          <p:cNvSpPr txBox="1"/>
          <p:nvPr/>
        </p:nvSpPr>
        <p:spPr>
          <a:xfrm>
            <a:off x="571500" y="504749"/>
            <a:ext cx="11814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PILLPAL PROJECT</a:t>
            </a:r>
            <a:endParaRPr lang="en-US" sz="900" dirty="0"/>
          </a:p>
        </p:txBody>
      </p:sp>
      <p:sp>
        <p:nvSpPr>
          <p:cNvPr id="21" name="Text 14"/>
          <p:cNvSpPr txBox="1"/>
          <p:nvPr/>
        </p:nvSpPr>
        <p:spPr>
          <a:xfrm>
            <a:off x="571500" y="629107"/>
            <a:ext cx="2563063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파이프라인 설계</a:t>
            </a:r>
            <a:endParaRPr lang="en-US" sz="2700" dirty="0"/>
          </a:p>
        </p:txBody>
      </p:sp>
      <p:sp>
        <p:nvSpPr>
          <p:cNvPr id="22" name="Text 15"/>
          <p:cNvSpPr txBox="1"/>
          <p:nvPr/>
        </p:nvSpPr>
        <p:spPr>
          <a:xfrm>
            <a:off x="571500" y="1333195"/>
            <a:ext cx="465795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재현성/유지보수: config 기반 파이프라인 설계</a:t>
            </a:r>
            <a:endParaRPr lang="en-US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571500" y="1742846"/>
            <a:ext cx="62727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"모듈 + 설정 파일" 구조를 통해 조건 변경에도 로직 수정 없이 재실행 가능한 환경 구축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875995" y="2895905"/>
            <a:ext cx="166512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project: "PillPal_v1"</a:t>
            </a:r>
            <a:endParaRPr lang="en-US" sz="900" dirty="0"/>
          </a:p>
        </p:txBody>
      </p:sp>
      <p:sp>
        <p:nvSpPr>
          <p:cNvPr id="25" name="Text 18"/>
          <p:cNvSpPr txBox="1"/>
          <p:nvPr/>
        </p:nvSpPr>
        <p:spPr>
          <a:xfrm>
            <a:off x="875995" y="3081528"/>
            <a:ext cx="47457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data:</a:t>
            </a:r>
            <a:endParaRPr lang="en-US" sz="900" dirty="0"/>
          </a:p>
        </p:txBody>
      </p:sp>
      <p:sp>
        <p:nvSpPr>
          <p:cNvPr id="26" name="Text 19"/>
          <p:cNvSpPr txBox="1"/>
          <p:nvPr/>
        </p:nvSpPr>
        <p:spPr>
          <a:xfrm>
            <a:off x="875995" y="3267151"/>
            <a:ext cx="181691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root: "./dataset/final"</a:t>
            </a:r>
            <a:endParaRPr lang="en-US" sz="900" dirty="0"/>
          </a:p>
        </p:txBody>
      </p:sp>
      <p:sp>
        <p:nvSpPr>
          <p:cNvPr id="27" name="Text 20"/>
          <p:cNvSpPr txBox="1"/>
          <p:nvPr/>
        </p:nvSpPr>
        <p:spPr>
          <a:xfrm>
            <a:off x="875995" y="3452774"/>
            <a:ext cx="253197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split: "fixed_v2.json" # 분할 고정</a:t>
            </a:r>
            <a:endParaRPr lang="en-US" sz="900" dirty="0"/>
          </a:p>
        </p:txBody>
      </p:sp>
      <p:sp>
        <p:nvSpPr>
          <p:cNvPr id="28" name="Text 21"/>
          <p:cNvSpPr txBox="1"/>
          <p:nvPr/>
        </p:nvSpPr>
        <p:spPr>
          <a:xfrm>
            <a:off x="875995" y="3638398"/>
            <a:ext cx="54132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</a:t>
            </a:r>
            <a:endParaRPr lang="en-US" sz="900" dirty="0"/>
          </a:p>
        </p:txBody>
      </p:sp>
      <p:sp>
        <p:nvSpPr>
          <p:cNvPr id="29" name="Text 22"/>
          <p:cNvSpPr txBox="1"/>
          <p:nvPr/>
        </p:nvSpPr>
        <p:spPr>
          <a:xfrm>
            <a:off x="875995" y="3824021"/>
            <a:ext cx="121706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type: "yolo_v8"</a:t>
            </a:r>
            <a:endParaRPr lang="en-US" sz="900" dirty="0"/>
          </a:p>
        </p:txBody>
      </p:sp>
      <p:sp>
        <p:nvSpPr>
          <p:cNvPr id="30" name="Text 23"/>
          <p:cNvSpPr txBox="1"/>
          <p:nvPr/>
        </p:nvSpPr>
        <p:spPr>
          <a:xfrm>
            <a:off x="875995" y="4009644"/>
            <a:ext cx="84582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epochs: 50</a:t>
            </a:r>
            <a:endParaRPr lang="en-US" sz="900" dirty="0"/>
          </a:p>
        </p:txBody>
      </p:sp>
      <p:sp>
        <p:nvSpPr>
          <p:cNvPr id="31" name="Text 24"/>
          <p:cNvSpPr txBox="1"/>
          <p:nvPr/>
        </p:nvSpPr>
        <p:spPr>
          <a:xfrm>
            <a:off x="875995" y="4196182"/>
            <a:ext cx="76992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pipeline:</a:t>
            </a:r>
            <a:endParaRPr lang="en-US" sz="900" dirty="0"/>
          </a:p>
        </p:txBody>
      </p:sp>
      <p:sp>
        <p:nvSpPr>
          <p:cNvPr id="32" name="Text 25"/>
          <p:cNvSpPr txBox="1"/>
          <p:nvPr/>
        </p:nvSpPr>
        <p:spPr>
          <a:xfrm>
            <a:off x="875995" y="4381805"/>
            <a:ext cx="54132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steps:</a:t>
            </a:r>
            <a:endParaRPr lang="en-US" sz="900" dirty="0"/>
          </a:p>
        </p:txBody>
      </p:sp>
      <p:sp>
        <p:nvSpPr>
          <p:cNvPr id="33" name="Text 26"/>
          <p:cNvSpPr txBox="1"/>
          <p:nvPr/>
        </p:nvSpPr>
        <p:spPr>
          <a:xfrm>
            <a:off x="875995" y="4567428"/>
            <a:ext cx="114117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"preprocess"</a:t>
            </a:r>
            <a:endParaRPr lang="en-US" sz="900" dirty="0"/>
          </a:p>
        </p:txBody>
      </p:sp>
      <p:sp>
        <p:nvSpPr>
          <p:cNvPr id="34" name="Text 27"/>
          <p:cNvSpPr txBox="1"/>
          <p:nvPr/>
        </p:nvSpPr>
        <p:spPr>
          <a:xfrm>
            <a:off x="875995" y="4753051"/>
            <a:ext cx="76992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"train"</a:t>
            </a:r>
            <a:endParaRPr lang="en-US" sz="900" dirty="0"/>
          </a:p>
        </p:txBody>
      </p:sp>
      <p:sp>
        <p:nvSpPr>
          <p:cNvPr id="35" name="Text 28"/>
          <p:cNvSpPr txBox="1"/>
          <p:nvPr/>
        </p:nvSpPr>
        <p:spPr>
          <a:xfrm>
            <a:off x="875995" y="4938674"/>
            <a:ext cx="98846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"evaluate"</a:t>
            </a:r>
            <a:endParaRPr lang="en-US" sz="900" dirty="0"/>
          </a:p>
        </p:txBody>
      </p:sp>
      <p:sp>
        <p:nvSpPr>
          <p:cNvPr id="36" name="Text 29"/>
          <p:cNvSpPr txBox="1"/>
          <p:nvPr/>
        </p:nvSpPr>
        <p:spPr>
          <a:xfrm>
            <a:off x="875995" y="5124298"/>
            <a:ext cx="84582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"export"</a:t>
            </a:r>
            <a:endParaRPr lang="en-US" sz="900" dirty="0"/>
          </a:p>
        </p:txBody>
      </p:sp>
      <p:sp>
        <p:nvSpPr>
          <p:cNvPr id="37" name="Text 30"/>
          <p:cNvSpPr txBox="1"/>
          <p:nvPr/>
        </p:nvSpPr>
        <p:spPr>
          <a:xfrm>
            <a:off x="1598371" y="5857646"/>
            <a:ext cx="16194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설정 파일로 전체 실험 제어</a:t>
            </a:r>
            <a:endParaRPr lang="en-US" sz="900" dirty="0"/>
          </a:p>
        </p:txBody>
      </p:sp>
      <p:sp>
        <p:nvSpPr>
          <p:cNvPr id="38" name="Text 31"/>
          <p:cNvSpPr txBox="1"/>
          <p:nvPr/>
        </p:nvSpPr>
        <p:spPr>
          <a:xfrm>
            <a:off x="5152644" y="2495398"/>
            <a:ext cx="9674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재현성 확보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4657954" y="2933395"/>
            <a:ext cx="3110789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조건이 바뀌어도(경로, 버전, 모델) 로직 수정 없이 재실행 가능.</a:t>
            </a:r>
            <a:endParaRPr lang="en-US" sz="1000" dirty="0"/>
          </a:p>
        </p:txBody>
      </p:sp>
      <p:sp>
        <p:nvSpPr>
          <p:cNvPr id="40" name="Text 33"/>
          <p:cNvSpPr txBox="1"/>
          <p:nvPr/>
        </p:nvSpPr>
        <p:spPr>
          <a:xfrm>
            <a:off x="4657954" y="3366821"/>
            <a:ext cx="24149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실험 결과의 신뢰도를 보장하는 핵심 기반.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8810244" y="2495398"/>
            <a:ext cx="12819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유지보수성 향상</a:t>
            </a:r>
            <a:endParaRPr lang="en-US" sz="1300" dirty="0"/>
          </a:p>
        </p:txBody>
      </p:sp>
      <p:sp>
        <p:nvSpPr>
          <p:cNvPr id="42" name="Text 35"/>
          <p:cNvSpPr txBox="1"/>
          <p:nvPr/>
        </p:nvSpPr>
        <p:spPr>
          <a:xfrm>
            <a:off x="8315554" y="2933395"/>
            <a:ext cx="316748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전처리 ↔ 학습 ↔ 추론 ↔ 제출을 하나의 흐름으로 고정.</a:t>
            </a:r>
            <a:endParaRPr lang="en-US" sz="1000" dirty="0"/>
          </a:p>
        </p:txBody>
      </p:sp>
      <p:sp>
        <p:nvSpPr>
          <p:cNvPr id="43" name="Text 36"/>
          <p:cNvSpPr txBox="1"/>
          <p:nvPr/>
        </p:nvSpPr>
        <p:spPr>
          <a:xfrm>
            <a:off x="8315554" y="3366821"/>
            <a:ext cx="24149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변경 없이 파라미터만으로 실험 관리.</a:t>
            </a:r>
            <a:endParaRPr lang="en-US" sz="1000" dirty="0"/>
          </a:p>
        </p:txBody>
      </p:sp>
      <p:sp>
        <p:nvSpPr>
          <p:cNvPr id="44" name="Text 37"/>
          <p:cNvSpPr txBox="1"/>
          <p:nvPr/>
        </p:nvSpPr>
        <p:spPr>
          <a:xfrm>
            <a:off x="5152644" y="4548226"/>
            <a:ext cx="13295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협업 효율성 증대</a:t>
            </a:r>
            <a:endParaRPr lang="en-US" sz="1300" dirty="0"/>
          </a:p>
        </p:txBody>
      </p:sp>
      <p:sp>
        <p:nvSpPr>
          <p:cNvPr id="45" name="Text 38"/>
          <p:cNvSpPr txBox="1"/>
          <p:nvPr/>
        </p:nvSpPr>
        <p:spPr>
          <a:xfrm>
            <a:off x="4657954" y="4986223"/>
            <a:ext cx="19961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"규칙(=config)"이 곧 인터페이스.</a:t>
            </a:r>
            <a:endParaRPr lang="en-US" sz="1000" dirty="0"/>
          </a:p>
        </p:txBody>
      </p:sp>
      <p:sp>
        <p:nvSpPr>
          <p:cNvPr id="46" name="Text 39"/>
          <p:cNvSpPr txBox="1"/>
          <p:nvPr/>
        </p:nvSpPr>
        <p:spPr>
          <a:xfrm>
            <a:off x="4657954" y="5202936"/>
            <a:ext cx="31391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팀원 간 동일한 실험 환경을 손쉽게 공유하고 검증 가능.</a:t>
            </a:r>
            <a:endParaRPr lang="en-US" sz="1000" dirty="0"/>
          </a:p>
        </p:txBody>
      </p:sp>
      <p:sp>
        <p:nvSpPr>
          <p:cNvPr id="47" name="Text 40"/>
          <p:cNvSpPr txBox="1"/>
          <p:nvPr/>
        </p:nvSpPr>
        <p:spPr>
          <a:xfrm>
            <a:off x="8810244" y="4548226"/>
            <a:ext cx="9674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확장성 강화</a:t>
            </a:r>
            <a:endParaRPr lang="en-US" sz="1300" dirty="0"/>
          </a:p>
        </p:txBody>
      </p:sp>
      <p:sp>
        <p:nvSpPr>
          <p:cNvPr id="48" name="Text 41"/>
          <p:cNvSpPr txBox="1"/>
          <p:nvPr/>
        </p:nvSpPr>
        <p:spPr>
          <a:xfrm>
            <a:off x="8315554" y="4986223"/>
            <a:ext cx="306232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새로운 모델이나 데이터셋 추가 시 설정 파일만 업데이트.</a:t>
            </a:r>
            <a:endParaRPr lang="en-US" sz="1000" dirty="0"/>
          </a:p>
        </p:txBody>
      </p:sp>
      <p:sp>
        <p:nvSpPr>
          <p:cNvPr id="49" name="Text 42"/>
          <p:cNvSpPr txBox="1"/>
          <p:nvPr/>
        </p:nvSpPr>
        <p:spPr>
          <a:xfrm>
            <a:off x="8315554" y="5419649"/>
            <a:ext cx="25767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파이프라인 구조 변경 없이 다양한 실험 수용.</a:t>
            </a:r>
            <a:endParaRPr lang="en-US" sz="1000" dirty="0"/>
          </a:p>
        </p:txBody>
      </p:sp>
      <p:sp>
        <p:nvSpPr>
          <p:cNvPr id="50" name="Text 43"/>
          <p:cNvSpPr txBox="1"/>
          <p:nvPr/>
        </p:nvSpPr>
        <p:spPr>
          <a:xfrm>
            <a:off x="571500" y="6409944"/>
            <a:ext cx="15718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PillPal Pipeline Architecture</a:t>
            </a:r>
            <a:endParaRPr lang="en-US" sz="900" dirty="0"/>
          </a:p>
        </p:txBody>
      </p:sp>
      <p:sp>
        <p:nvSpPr>
          <p:cNvPr id="51" name="Text 44"/>
          <p:cNvSpPr txBox="1"/>
          <p:nvPr/>
        </p:nvSpPr>
        <p:spPr>
          <a:xfrm>
            <a:off x="11096244" y="6409944"/>
            <a:ext cx="6099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7/18</a:t>
            </a:r>
            <a:endParaRPr lang="en-US" sz="900" dirty="0"/>
          </a:p>
        </p:txBody>
      </p:sp>
      <p:sp>
        <p:nvSpPr>
          <p:cNvPr id="52" name="Text 45"/>
          <p:cNvSpPr txBox="1"/>
          <p:nvPr/>
        </p:nvSpPr>
        <p:spPr>
          <a:xfrm>
            <a:off x="9843516" y="790956"/>
            <a:ext cx="19101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Architecture &amp; Strategy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Shape 3"/>
          <p:cNvSpPr/>
          <p:nvPr/>
        </p:nvSpPr>
        <p:spPr>
          <a:xfrm>
            <a:off x="571500" y="1352398"/>
            <a:ext cx="11048695" cy="2638044"/>
          </a:xfrm>
          <a:prstGeom prst="roundRect">
            <a:avLst>
              <a:gd name="adj" fmla="val 1502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0644" y="1362456"/>
            <a:ext cx="2762402" cy="523951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" name="Shape 5"/>
          <p:cNvSpPr/>
          <p:nvPr/>
        </p:nvSpPr>
        <p:spPr>
          <a:xfrm>
            <a:off x="3338474" y="1362456"/>
            <a:ext cx="1657807" cy="523951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8" name="Shape 6"/>
          <p:cNvSpPr/>
          <p:nvPr/>
        </p:nvSpPr>
        <p:spPr>
          <a:xfrm>
            <a:off x="4992624" y="1362456"/>
            <a:ext cx="1657807" cy="523951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9" name="Shape 7"/>
          <p:cNvSpPr/>
          <p:nvPr/>
        </p:nvSpPr>
        <p:spPr>
          <a:xfrm>
            <a:off x="6647688" y="1362456"/>
            <a:ext cx="4972507" cy="523951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0" name="Shape 8"/>
          <p:cNvSpPr/>
          <p:nvPr/>
        </p:nvSpPr>
        <p:spPr>
          <a:xfrm>
            <a:off x="580644" y="1883664"/>
            <a:ext cx="2762402" cy="5239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580644" y="2398471"/>
            <a:ext cx="2762402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2" name="Shape 10"/>
          <p:cNvSpPr/>
          <p:nvPr/>
        </p:nvSpPr>
        <p:spPr>
          <a:xfrm>
            <a:off x="3338474" y="1883664"/>
            <a:ext cx="1657807" cy="5239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3338474" y="2398471"/>
            <a:ext cx="1657807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4" name="Shape 12"/>
          <p:cNvSpPr/>
          <p:nvPr/>
        </p:nvSpPr>
        <p:spPr>
          <a:xfrm>
            <a:off x="4992624" y="1883664"/>
            <a:ext cx="1657807" cy="5239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992624" y="2398471"/>
            <a:ext cx="1657807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6" name="Shape 14"/>
          <p:cNvSpPr/>
          <p:nvPr/>
        </p:nvSpPr>
        <p:spPr>
          <a:xfrm>
            <a:off x="6647688" y="1883664"/>
            <a:ext cx="4972507" cy="5239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647688" y="2398471"/>
            <a:ext cx="4972507" cy="9144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99478" y="2072945"/>
            <a:ext cx="133502" cy="133502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7008876" y="2043684"/>
            <a:ext cx="27486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학습/추론 속도가 느리고, 알약 각인 구분이 약함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80644" y="2403958"/>
            <a:ext cx="2762402" cy="5239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8"/>
          <p:cNvSpPr/>
          <p:nvPr/>
        </p:nvSpPr>
        <p:spPr>
          <a:xfrm>
            <a:off x="580644" y="2918765"/>
            <a:ext cx="2762402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2" name="Shape 19"/>
          <p:cNvSpPr/>
          <p:nvPr/>
        </p:nvSpPr>
        <p:spPr>
          <a:xfrm>
            <a:off x="3338474" y="2403958"/>
            <a:ext cx="1657807" cy="5239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0"/>
          <p:cNvSpPr/>
          <p:nvPr/>
        </p:nvSpPr>
        <p:spPr>
          <a:xfrm>
            <a:off x="3338474" y="2918765"/>
            <a:ext cx="1657807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4" name="Shape 21"/>
          <p:cNvSpPr/>
          <p:nvPr/>
        </p:nvSpPr>
        <p:spPr>
          <a:xfrm>
            <a:off x="4992624" y="2403958"/>
            <a:ext cx="1657807" cy="5239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2"/>
          <p:cNvSpPr/>
          <p:nvPr/>
        </p:nvSpPr>
        <p:spPr>
          <a:xfrm>
            <a:off x="4992624" y="2918765"/>
            <a:ext cx="1657807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6" name="Shape 23"/>
          <p:cNvSpPr/>
          <p:nvPr/>
        </p:nvSpPr>
        <p:spPr>
          <a:xfrm>
            <a:off x="6647688" y="2403958"/>
            <a:ext cx="4972507" cy="5239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4"/>
          <p:cNvSpPr/>
          <p:nvPr/>
        </p:nvSpPr>
        <p:spPr>
          <a:xfrm>
            <a:off x="6647688" y="2918765"/>
            <a:ext cx="4972507" cy="9144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799478" y="2592324"/>
            <a:ext cx="133502" cy="133502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7008876" y="2563978"/>
            <a:ext cx="31482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mAP는 양호하나 BBox가 불규칙하여 후처리 튜닝 필요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580644" y="2924251"/>
            <a:ext cx="2762402" cy="5239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7"/>
          <p:cNvSpPr/>
          <p:nvPr/>
        </p:nvSpPr>
        <p:spPr>
          <a:xfrm>
            <a:off x="580644" y="3439058"/>
            <a:ext cx="2762402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2" name="Shape 28"/>
          <p:cNvSpPr/>
          <p:nvPr/>
        </p:nvSpPr>
        <p:spPr>
          <a:xfrm>
            <a:off x="3338474" y="2924251"/>
            <a:ext cx="1657807" cy="5239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29"/>
          <p:cNvSpPr/>
          <p:nvPr/>
        </p:nvSpPr>
        <p:spPr>
          <a:xfrm>
            <a:off x="3338474" y="3439058"/>
            <a:ext cx="1657807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4" name="Shape 30"/>
          <p:cNvSpPr/>
          <p:nvPr/>
        </p:nvSpPr>
        <p:spPr>
          <a:xfrm>
            <a:off x="4992624" y="2924251"/>
            <a:ext cx="1657807" cy="5239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1"/>
          <p:cNvSpPr/>
          <p:nvPr/>
        </p:nvSpPr>
        <p:spPr>
          <a:xfrm>
            <a:off x="4992624" y="3439058"/>
            <a:ext cx="1657807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6" name="Shape 32"/>
          <p:cNvSpPr/>
          <p:nvPr/>
        </p:nvSpPr>
        <p:spPr>
          <a:xfrm>
            <a:off x="6647688" y="2924251"/>
            <a:ext cx="4972507" cy="5239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3"/>
          <p:cNvSpPr/>
          <p:nvPr/>
        </p:nvSpPr>
        <p:spPr>
          <a:xfrm>
            <a:off x="6647688" y="3439058"/>
            <a:ext cx="4972507" cy="9144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100" b="-1100"/>
          <a:stretch/>
        </p:blipFill>
        <p:spPr>
          <a:xfrm>
            <a:off x="6799478" y="3112618"/>
            <a:ext cx="114300" cy="133502"/>
          </a:xfrm>
          <a:prstGeom prst="rect">
            <a:avLst/>
          </a:prstGeom>
        </p:spPr>
      </p:pic>
      <p:sp>
        <p:nvSpPr>
          <p:cNvPr id="39" name="Text 34"/>
          <p:cNvSpPr txBox="1"/>
          <p:nvPr/>
        </p:nvSpPr>
        <p:spPr>
          <a:xfrm>
            <a:off x="6990588" y="3084271"/>
            <a:ext cx="28913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속도는 최고지만, 노이즈 라벨에도 '과잉 확신' 경향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80644" y="3444545"/>
            <a:ext cx="2762402" cy="533095"/>
          </a:xfrm>
          <a:prstGeom prst="rect">
            <a:avLst/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71754" y="3632911"/>
            <a:ext cx="133502" cy="133502"/>
          </a:xfrm>
          <a:prstGeom prst="rect">
            <a:avLst/>
          </a:prstGeom>
        </p:spPr>
      </p:pic>
      <p:sp>
        <p:nvSpPr>
          <p:cNvPr id="42" name="Text 36"/>
          <p:cNvSpPr txBox="1"/>
          <p:nvPr/>
        </p:nvSpPr>
        <p:spPr>
          <a:xfrm>
            <a:off x="981151" y="3597250"/>
            <a:ext cx="16175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YOLO (Final Selection)</a:t>
            </a:r>
            <a:endParaRPr lang="en-US" sz="1000" dirty="0"/>
          </a:p>
        </p:txBody>
      </p:sp>
      <p:sp>
        <p:nvSpPr>
          <p:cNvPr id="43" name="Shape 37"/>
          <p:cNvSpPr/>
          <p:nvPr/>
        </p:nvSpPr>
        <p:spPr>
          <a:xfrm>
            <a:off x="3338474" y="3444545"/>
            <a:ext cx="1657807" cy="533095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44" name="Shape 38"/>
          <p:cNvSpPr/>
          <p:nvPr/>
        </p:nvSpPr>
        <p:spPr>
          <a:xfrm>
            <a:off x="3338474" y="3958438"/>
            <a:ext cx="1657807" cy="1920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5" name="Shape 39"/>
          <p:cNvSpPr/>
          <p:nvPr/>
        </p:nvSpPr>
        <p:spPr>
          <a:xfrm>
            <a:off x="4992624" y="3444545"/>
            <a:ext cx="1657807" cy="533095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46" name="Shape 40"/>
          <p:cNvSpPr/>
          <p:nvPr/>
        </p:nvSpPr>
        <p:spPr>
          <a:xfrm>
            <a:off x="4992624" y="3958438"/>
            <a:ext cx="1657807" cy="1920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7" name="Shape 41"/>
          <p:cNvSpPr/>
          <p:nvPr/>
        </p:nvSpPr>
        <p:spPr>
          <a:xfrm>
            <a:off x="6647688" y="3444545"/>
            <a:ext cx="4972507" cy="533095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48" name="Shape 42"/>
          <p:cNvSpPr/>
          <p:nvPr/>
        </p:nvSpPr>
        <p:spPr>
          <a:xfrm>
            <a:off x="6647688" y="3958438"/>
            <a:ext cx="4972507" cy="19202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49" name="Image 4" descr="preencoded.png">    </p:cNvPr>
          <p:cNvPicPr>
            <a:picLocks noChangeAspect="1"/>
          </p:cNvPicPr>
          <p:nvPr/>
        </p:nvPicPr>
        <p:blipFill>
          <a:blip r:embed="rId5"/>
          <a:srcRect l="-837" r="-837" t="0" b="0"/>
          <a:stretch/>
        </p:blipFill>
        <p:spPr>
          <a:xfrm>
            <a:off x="6799478" y="3632911"/>
            <a:ext cx="152705" cy="133502"/>
          </a:xfrm>
          <a:prstGeom prst="rect">
            <a:avLst/>
          </a:prstGeom>
        </p:spPr>
      </p:pic>
      <p:sp>
        <p:nvSpPr>
          <p:cNvPr id="50" name="Text 43"/>
          <p:cNvSpPr txBox="1"/>
          <p:nvPr/>
        </p:nvSpPr>
        <p:spPr>
          <a:xfrm>
            <a:off x="7028078" y="3604565"/>
            <a:ext cx="29580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실시간·경량·서빙 제약에 가장 부합하는 최적의 균형</a:t>
            </a:r>
            <a:endParaRPr lang="en-US" sz="1000" dirty="0"/>
          </a:p>
        </p:txBody>
      </p:sp>
      <p:sp>
        <p:nvSpPr>
          <p:cNvPr id="51" name="Shape 44"/>
          <p:cNvSpPr/>
          <p:nvPr/>
        </p:nvSpPr>
        <p:spPr>
          <a:xfrm>
            <a:off x="571500" y="4212641"/>
            <a:ext cx="5410505" cy="18288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52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09244" y="4678985"/>
            <a:ext cx="171907" cy="171907"/>
          </a:xfrm>
          <a:prstGeom prst="rect">
            <a:avLst/>
          </a:prstGeom>
        </p:spPr>
      </p:pic>
      <p:sp>
        <p:nvSpPr>
          <p:cNvPr id="53" name="Text 45"/>
          <p:cNvSpPr txBox="1"/>
          <p:nvPr/>
        </p:nvSpPr>
        <p:spPr>
          <a:xfrm>
            <a:off x="1057046" y="4631436"/>
            <a:ext cx="228142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 모델의 한계점 (Trade-off)</a:t>
            </a:r>
            <a:endParaRPr lang="en-US" sz="1300" dirty="0"/>
          </a:p>
        </p:txBody>
      </p:sp>
      <p:sp>
        <p:nvSpPr>
          <p:cNvPr id="54" name="Shape 46"/>
          <p:cNvSpPr/>
          <p:nvPr/>
        </p:nvSpPr>
        <p:spPr>
          <a:xfrm>
            <a:off x="809244" y="5031029"/>
            <a:ext cx="819302" cy="228600"/>
          </a:xfrm>
          <a:prstGeom prst="roundRect">
            <a:avLst>
              <a:gd name="adj" fmla="val 66667"/>
            </a:avLst>
          </a:prstGeom>
          <a:solidFill>
            <a:srgbClr val="F3F4F6"/>
          </a:solidFill>
          <a:ln/>
        </p:spPr>
      </p:sp>
      <p:sp>
        <p:nvSpPr>
          <p:cNvPr id="55" name="Shape 47"/>
          <p:cNvSpPr/>
          <p:nvPr/>
        </p:nvSpPr>
        <p:spPr>
          <a:xfrm>
            <a:off x="809244" y="5393131"/>
            <a:ext cx="790956" cy="228600"/>
          </a:xfrm>
          <a:prstGeom prst="roundRect">
            <a:avLst>
              <a:gd name="adj" fmla="val 66667"/>
            </a:avLst>
          </a:prstGeom>
          <a:solidFill>
            <a:srgbClr val="F3F4F6"/>
          </a:solidFill>
          <a:ln/>
        </p:spPr>
      </p:sp>
      <p:sp>
        <p:nvSpPr>
          <p:cNvPr id="56" name="Shape 48"/>
          <p:cNvSpPr/>
          <p:nvPr/>
        </p:nvSpPr>
        <p:spPr>
          <a:xfrm>
            <a:off x="571500" y="6334049"/>
            <a:ext cx="11048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7" name="Text 49"/>
          <p:cNvSpPr txBox="1"/>
          <p:nvPr/>
        </p:nvSpPr>
        <p:spPr>
          <a:xfrm>
            <a:off x="571500" y="504749"/>
            <a:ext cx="12481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SECTION 3. MODEL</a:t>
            </a:r>
            <a:endParaRPr lang="en-US" sz="900" dirty="0"/>
          </a:p>
        </p:txBody>
      </p:sp>
      <p:sp>
        <p:nvSpPr>
          <p:cNvPr id="58" name="Text 50"/>
          <p:cNvSpPr txBox="1"/>
          <p:nvPr/>
        </p:nvSpPr>
        <p:spPr>
          <a:xfrm>
            <a:off x="571500" y="629107"/>
            <a:ext cx="57918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베이스라인 비교: 정확도 + 속도 + 배포</a:t>
            </a:r>
            <a:endParaRPr lang="en-US" sz="2700" dirty="0"/>
          </a:p>
        </p:txBody>
      </p:sp>
      <p:sp>
        <p:nvSpPr>
          <p:cNvPr id="59" name="Text 51"/>
          <p:cNvSpPr txBox="1"/>
          <p:nvPr/>
        </p:nvSpPr>
        <p:spPr>
          <a:xfrm>
            <a:off x="733349" y="1514246"/>
            <a:ext cx="54681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Model</a:t>
            </a:r>
            <a:endParaRPr lang="en-US" sz="1100" dirty="0"/>
          </a:p>
        </p:txBody>
      </p:sp>
      <p:sp>
        <p:nvSpPr>
          <p:cNvPr id="60" name="Text 52"/>
          <p:cNvSpPr txBox="1"/>
          <p:nvPr/>
        </p:nvSpPr>
        <p:spPr>
          <a:xfrm>
            <a:off x="3491179" y="1514246"/>
            <a:ext cx="83301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mAP50-95</a:t>
            </a:r>
            <a:endParaRPr lang="en-US" sz="1100" dirty="0"/>
          </a:p>
        </p:txBody>
      </p:sp>
      <p:sp>
        <p:nvSpPr>
          <p:cNvPr id="61" name="Text 53"/>
          <p:cNvSpPr txBox="1"/>
          <p:nvPr/>
        </p:nvSpPr>
        <p:spPr>
          <a:xfrm>
            <a:off x="5145329" y="1514246"/>
            <a:ext cx="97566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FPS (Speed)</a:t>
            </a:r>
            <a:endParaRPr lang="en-US" sz="1100" dirty="0"/>
          </a:p>
        </p:txBody>
      </p:sp>
      <p:sp>
        <p:nvSpPr>
          <p:cNvPr id="62" name="Text 54"/>
          <p:cNvSpPr txBox="1"/>
          <p:nvPr/>
        </p:nvSpPr>
        <p:spPr>
          <a:xfrm>
            <a:off x="6799478" y="1514246"/>
            <a:ext cx="155722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비고 (실패 모드 &amp; 특징)</a:t>
            </a:r>
            <a:endParaRPr lang="en-US" sz="1100" dirty="0"/>
          </a:p>
        </p:txBody>
      </p:sp>
      <p:sp>
        <p:nvSpPr>
          <p:cNvPr id="63" name="Text 55"/>
          <p:cNvSpPr txBox="1"/>
          <p:nvPr/>
        </p:nvSpPr>
        <p:spPr>
          <a:xfrm>
            <a:off x="733349" y="2036369"/>
            <a:ext cx="182697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Faster R-CNN (ResNet-50)</a:t>
            </a:r>
            <a:endParaRPr lang="en-US" sz="1000" dirty="0"/>
          </a:p>
        </p:txBody>
      </p:sp>
      <p:sp>
        <p:nvSpPr>
          <p:cNvPr id="64" name="Text 56"/>
          <p:cNvSpPr txBox="1"/>
          <p:nvPr/>
        </p:nvSpPr>
        <p:spPr>
          <a:xfrm>
            <a:off x="3491179" y="2036369"/>
            <a:ext cx="37033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0.57</a:t>
            </a:r>
            <a:endParaRPr lang="en-US" sz="1000" dirty="0"/>
          </a:p>
        </p:txBody>
      </p:sp>
      <p:sp>
        <p:nvSpPr>
          <p:cNvPr id="65" name="Text 57"/>
          <p:cNvSpPr txBox="1"/>
          <p:nvPr/>
        </p:nvSpPr>
        <p:spPr>
          <a:xfrm>
            <a:off x="5145329" y="2036369"/>
            <a:ext cx="37033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12.9</a:t>
            </a:r>
            <a:endParaRPr lang="en-US" sz="1000" dirty="0"/>
          </a:p>
        </p:txBody>
      </p:sp>
      <p:sp>
        <p:nvSpPr>
          <p:cNvPr id="66" name="Text 58"/>
          <p:cNvSpPr txBox="1"/>
          <p:nvPr/>
        </p:nvSpPr>
        <p:spPr>
          <a:xfrm>
            <a:off x="733349" y="2556662"/>
            <a:ext cx="113202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EfficientDet-D0</a:t>
            </a:r>
            <a:endParaRPr lang="en-US" sz="1000" dirty="0"/>
          </a:p>
        </p:txBody>
      </p:sp>
      <p:sp>
        <p:nvSpPr>
          <p:cNvPr id="67" name="Text 59"/>
          <p:cNvSpPr txBox="1"/>
          <p:nvPr/>
        </p:nvSpPr>
        <p:spPr>
          <a:xfrm>
            <a:off x="3491179" y="2556662"/>
            <a:ext cx="37033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0.67</a:t>
            </a:r>
            <a:endParaRPr lang="en-US" sz="1000" dirty="0"/>
          </a:p>
        </p:txBody>
      </p:sp>
      <p:sp>
        <p:nvSpPr>
          <p:cNvPr id="68" name="Text 60"/>
          <p:cNvSpPr txBox="1"/>
          <p:nvPr/>
        </p:nvSpPr>
        <p:spPr>
          <a:xfrm>
            <a:off x="5145329" y="2556662"/>
            <a:ext cx="44622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30.66</a:t>
            </a:r>
            <a:endParaRPr lang="en-US" sz="1000" dirty="0"/>
          </a:p>
        </p:txBody>
      </p:sp>
      <p:sp>
        <p:nvSpPr>
          <p:cNvPr id="69" name="Text 61"/>
          <p:cNvSpPr txBox="1"/>
          <p:nvPr/>
        </p:nvSpPr>
        <p:spPr>
          <a:xfrm>
            <a:off x="733349" y="3076956"/>
            <a:ext cx="16084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Faster R-CNN (Swin-T)</a:t>
            </a:r>
            <a:endParaRPr lang="en-US" sz="1000" dirty="0"/>
          </a:p>
        </p:txBody>
      </p:sp>
      <p:sp>
        <p:nvSpPr>
          <p:cNvPr id="70" name="Text 62"/>
          <p:cNvSpPr txBox="1"/>
          <p:nvPr/>
        </p:nvSpPr>
        <p:spPr>
          <a:xfrm>
            <a:off x="3491179" y="3076956"/>
            <a:ext cx="37033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0.64</a:t>
            </a:r>
            <a:endParaRPr lang="en-US" sz="1000" dirty="0"/>
          </a:p>
        </p:txBody>
      </p:sp>
      <p:sp>
        <p:nvSpPr>
          <p:cNvPr id="71" name="Text 63"/>
          <p:cNvSpPr txBox="1"/>
          <p:nvPr/>
        </p:nvSpPr>
        <p:spPr>
          <a:xfrm>
            <a:off x="5145329" y="3076956"/>
            <a:ext cx="44622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41.98</a:t>
            </a:r>
            <a:endParaRPr lang="en-US" sz="1000" dirty="0"/>
          </a:p>
        </p:txBody>
      </p:sp>
      <p:sp>
        <p:nvSpPr>
          <p:cNvPr id="72" name="Text 64"/>
          <p:cNvSpPr txBox="1"/>
          <p:nvPr/>
        </p:nvSpPr>
        <p:spPr>
          <a:xfrm>
            <a:off x="3491179" y="3597250"/>
            <a:ext cx="44622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0.844</a:t>
            </a:r>
            <a:endParaRPr lang="en-US" sz="1000" dirty="0"/>
          </a:p>
        </p:txBody>
      </p:sp>
      <p:sp>
        <p:nvSpPr>
          <p:cNvPr id="73" name="Text 65"/>
          <p:cNvSpPr txBox="1"/>
          <p:nvPr/>
        </p:nvSpPr>
        <p:spPr>
          <a:xfrm>
            <a:off x="5145329" y="3597250"/>
            <a:ext cx="722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Real-time</a:t>
            </a:r>
            <a:endParaRPr lang="en-US" sz="1000" dirty="0"/>
          </a:p>
        </p:txBody>
      </p:sp>
      <p:sp>
        <p:nvSpPr>
          <p:cNvPr id="74" name="Text 66"/>
          <p:cNvSpPr txBox="1"/>
          <p:nvPr/>
        </p:nvSpPr>
        <p:spPr>
          <a:xfrm>
            <a:off x="886054" y="5060290"/>
            <a:ext cx="7525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EfficientDet</a:t>
            </a:r>
            <a:endParaRPr lang="en-US" sz="900" dirty="0"/>
          </a:p>
        </p:txBody>
      </p:sp>
      <p:sp>
        <p:nvSpPr>
          <p:cNvPr id="75" name="Text 67"/>
          <p:cNvSpPr txBox="1"/>
          <p:nvPr/>
        </p:nvSpPr>
        <p:spPr>
          <a:xfrm>
            <a:off x="1741018" y="5012741"/>
            <a:ext cx="35195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점수는 높지만 BBox 불안정성으로 사용자 경험(UX) 저하 우려</a:t>
            </a:r>
            <a:endParaRPr lang="en-US" sz="1000" dirty="0"/>
          </a:p>
        </p:txBody>
      </p:sp>
      <p:sp>
        <p:nvSpPr>
          <p:cNvPr id="76" name="Text 68"/>
          <p:cNvSpPr txBox="1"/>
          <p:nvPr/>
        </p:nvSpPr>
        <p:spPr>
          <a:xfrm>
            <a:off x="886054" y="5422392"/>
            <a:ext cx="7242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Swin-Trans</a:t>
            </a:r>
            <a:endParaRPr lang="en-US" sz="900" dirty="0"/>
          </a:p>
        </p:txBody>
      </p:sp>
      <p:sp>
        <p:nvSpPr>
          <p:cNvPr id="77" name="Text 69"/>
          <p:cNvSpPr txBox="1"/>
          <p:nvPr/>
        </p:nvSpPr>
        <p:spPr>
          <a:xfrm>
            <a:off x="1705356" y="5373929"/>
            <a:ext cx="37965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빠르지만 '과잉 확신(Overconfidence)'으로 오탐 리스크 존재</a:t>
            </a:r>
            <a:endParaRPr lang="en-US" sz="1000" dirty="0"/>
          </a:p>
        </p:txBody>
      </p:sp>
      <p:sp>
        <p:nvSpPr>
          <p:cNvPr id="78" name="Text 70"/>
          <p:cNvSpPr txBox="1"/>
          <p:nvPr/>
        </p:nvSpPr>
        <p:spPr>
          <a:xfrm>
            <a:off x="571500" y="6409944"/>
            <a:ext cx="17913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PillPal Project - Model Selection</a:t>
            </a:r>
            <a:endParaRPr lang="en-US" sz="900" dirty="0"/>
          </a:p>
        </p:txBody>
      </p:sp>
      <p:sp>
        <p:nvSpPr>
          <p:cNvPr id="79" name="Text 71"/>
          <p:cNvSpPr txBox="1"/>
          <p:nvPr/>
        </p:nvSpPr>
        <p:spPr>
          <a:xfrm>
            <a:off x="11096244" y="6409944"/>
            <a:ext cx="6099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8/18</a:t>
            </a:r>
            <a:endParaRPr lang="en-US" sz="900" dirty="0"/>
          </a:p>
        </p:txBody>
      </p:sp>
      <p:sp>
        <p:nvSpPr>
          <p:cNvPr id="80" name="Text 72"/>
          <p:cNvSpPr txBox="1"/>
          <p:nvPr/>
        </p:nvSpPr>
        <p:spPr>
          <a:xfrm>
            <a:off x="8539582" y="790956"/>
            <a:ext cx="32150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Validation mAP (@50:95) &amp; FPS Analysis</a:t>
            </a:r>
            <a:endParaRPr lang="en-US" sz="1300" dirty="0"/>
          </a:p>
        </p:txBody>
      </p:sp>
      <p:sp>
        <p:nvSpPr>
          <p:cNvPr id="81" name="Shape 73"/>
          <p:cNvSpPr/>
          <p:nvPr/>
        </p:nvSpPr>
        <p:spPr>
          <a:xfrm>
            <a:off x="6210605" y="4212641"/>
            <a:ext cx="5410505" cy="1828800"/>
          </a:xfrm>
          <a:prstGeom prst="roundRect">
            <a:avLst>
              <a:gd name="adj" fmla="val 312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82" name="Shape 74"/>
          <p:cNvSpPr/>
          <p:nvPr/>
        </p:nvSpPr>
        <p:spPr>
          <a:xfrm>
            <a:off x="6210605" y="4212641"/>
            <a:ext cx="57607" cy="1828800"/>
          </a:xfrm>
          <a:prstGeom prst="rect">
            <a:avLst/>
          </a:prstGeom>
          <a:solidFill>
            <a:srgbClr val="0F766E"/>
          </a:solidFill>
          <a:ln/>
        </p:spPr>
      </p:sp>
      <p:pic>
        <p:nvPicPr>
          <p:cNvPr id="83" name="Image 6" descr="preencoded.png">    </p:cNvPr>
          <p:cNvPicPr>
            <a:picLocks noChangeAspect="1"/>
          </p:cNvPicPr>
          <p:nvPr/>
        </p:nvPicPr>
        <p:blipFill>
          <a:blip r:embed="rId7"/>
          <a:srcRect l="-1648" r="-1648" t="0" b="0"/>
          <a:stretch/>
        </p:blipFill>
        <p:spPr>
          <a:xfrm>
            <a:off x="6601054" y="4695444"/>
            <a:ext cx="171907" cy="190195"/>
          </a:xfrm>
          <a:prstGeom prst="rect">
            <a:avLst/>
          </a:prstGeom>
        </p:spPr>
      </p:pic>
      <p:sp>
        <p:nvSpPr>
          <p:cNvPr id="84" name="Text 75"/>
          <p:cNvSpPr txBox="1"/>
          <p:nvPr/>
        </p:nvSpPr>
        <p:spPr>
          <a:xfrm>
            <a:off x="6991502" y="4647895"/>
            <a:ext cx="905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결론</a:t>
            </a:r>
            <a:endParaRPr lang="en-US" sz="1500" dirty="0"/>
          </a:p>
        </p:txBody>
      </p:sp>
      <p:sp>
        <p:nvSpPr>
          <p:cNvPr id="85" name="Text 76"/>
          <p:cNvSpPr txBox="1"/>
          <p:nvPr/>
        </p:nvSpPr>
        <p:spPr>
          <a:xfrm>
            <a:off x="6495898" y="5105095"/>
            <a:ext cx="4977079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"최종 모델"은 점수 1개가 아니라, 서비스 목적(속도/배포)에 맞는 균형으로 결정했습니다.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Shape 3"/>
          <p:cNvSpPr/>
          <p:nvPr/>
        </p:nvSpPr>
        <p:spPr>
          <a:xfrm>
            <a:off x="571500" y="1214323"/>
            <a:ext cx="5372100" cy="4895698"/>
          </a:xfrm>
          <a:prstGeom prst="roundRect">
            <a:avLst>
              <a:gd name="adj" fmla="val 436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1500" y="1214323"/>
            <a:ext cx="57607" cy="489569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933602" y="1983334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DBEAF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47902" y="2097634"/>
            <a:ext cx="228600" cy="22860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33602" y="2707538"/>
            <a:ext cx="190195" cy="190195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33602" y="3431743"/>
            <a:ext cx="190195" cy="190195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33602" y="4155034"/>
            <a:ext cx="190195" cy="190195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33602" y="4879238"/>
            <a:ext cx="190195" cy="190195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571500" y="6334049"/>
            <a:ext cx="11048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4" name="Text 7"/>
          <p:cNvSpPr txBox="1"/>
          <p:nvPr/>
        </p:nvSpPr>
        <p:spPr>
          <a:xfrm>
            <a:off x="571500" y="366674"/>
            <a:ext cx="12865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SECTION 3 · MODEL</a:t>
            </a:r>
            <a:endParaRPr lang="en-US" sz="900" dirty="0"/>
          </a:p>
        </p:txBody>
      </p:sp>
      <p:sp>
        <p:nvSpPr>
          <p:cNvPr id="15" name="Text 8"/>
          <p:cNvSpPr txBox="1"/>
          <p:nvPr/>
        </p:nvSpPr>
        <p:spPr>
          <a:xfrm>
            <a:off x="571500" y="490118"/>
            <a:ext cx="584850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선택: YOLO (실시간 서비스 구조)</a:t>
            </a:r>
            <a:endParaRPr lang="en-US" sz="2700" dirty="0"/>
          </a:p>
        </p:txBody>
      </p:sp>
      <p:sp>
        <p:nvSpPr>
          <p:cNvPr id="16" name="Text 9"/>
          <p:cNvSpPr txBox="1"/>
          <p:nvPr/>
        </p:nvSpPr>
        <p:spPr>
          <a:xfrm>
            <a:off x="1543507" y="2040941"/>
            <a:ext cx="363931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 기준을 "서비스 스펙"으로 번역</a:t>
            </a:r>
            <a:endParaRPr lang="en-US" sz="1800" dirty="0"/>
          </a:p>
        </p:txBody>
      </p:sp>
      <p:sp>
        <p:nvSpPr>
          <p:cNvPr id="17" name="Text 10"/>
          <p:cNvSpPr txBox="1"/>
          <p:nvPr/>
        </p:nvSpPr>
        <p:spPr>
          <a:xfrm>
            <a:off x="1276502" y="2679192"/>
            <a:ext cx="15389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정확도 (Accuracy)</a:t>
            </a:r>
            <a:endParaRPr lang="en-US" sz="1300" dirty="0"/>
          </a:p>
        </p:txBody>
      </p:sp>
      <p:sp>
        <p:nvSpPr>
          <p:cNvPr id="18" name="Text 11"/>
          <p:cNvSpPr txBox="1"/>
          <p:nvPr/>
        </p:nvSpPr>
        <p:spPr>
          <a:xfrm>
            <a:off x="1276502" y="2936138"/>
            <a:ext cx="34866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제한된 데이터 환경에서 충분한 mAP/PR 확보 가능성</a:t>
            </a:r>
            <a:endParaRPr lang="en-US" sz="1200" dirty="0"/>
          </a:p>
        </p:txBody>
      </p:sp>
      <p:sp>
        <p:nvSpPr>
          <p:cNvPr id="19" name="Text 12"/>
          <p:cNvSpPr txBox="1"/>
          <p:nvPr/>
        </p:nvSpPr>
        <p:spPr>
          <a:xfrm>
            <a:off x="1276502" y="3402482"/>
            <a:ext cx="11576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속도 (Speed)</a:t>
            </a:r>
            <a:endParaRPr lang="en-US" sz="1300" dirty="0"/>
          </a:p>
        </p:txBody>
      </p:sp>
      <p:sp>
        <p:nvSpPr>
          <p:cNvPr id="20" name="Text 13"/>
          <p:cNvSpPr txBox="1"/>
          <p:nvPr/>
        </p:nvSpPr>
        <p:spPr>
          <a:xfrm>
            <a:off x="1276502" y="3660343"/>
            <a:ext cx="3877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모바일/웹 환경에서 지연(Latency)이 사용자 경험(UX) 결정</a:t>
            </a:r>
            <a:endParaRPr lang="en-US" sz="1200" dirty="0"/>
          </a:p>
        </p:txBody>
      </p:sp>
      <p:sp>
        <p:nvSpPr>
          <p:cNvPr id="21" name="Text 14"/>
          <p:cNvSpPr txBox="1"/>
          <p:nvPr/>
        </p:nvSpPr>
        <p:spPr>
          <a:xfrm>
            <a:off x="1276502" y="4126687"/>
            <a:ext cx="16623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 (Deployment)</a:t>
            </a:r>
            <a:endParaRPr lang="en-US" sz="1300" dirty="0"/>
          </a:p>
        </p:txBody>
      </p:sp>
      <p:sp>
        <p:nvSpPr>
          <p:cNvPr id="22" name="Text 15"/>
          <p:cNvSpPr txBox="1"/>
          <p:nvPr/>
        </p:nvSpPr>
        <p:spPr>
          <a:xfrm>
            <a:off x="1276502" y="4383634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경량화 모델 및 서빙 용이성 (표준화된 인퍼런스 파이프라인)</a:t>
            </a:r>
            <a:endParaRPr lang="en-US" sz="1200" dirty="0"/>
          </a:p>
        </p:txBody>
      </p:sp>
      <p:sp>
        <p:nvSpPr>
          <p:cNvPr id="23" name="Text 16"/>
          <p:cNvSpPr txBox="1"/>
          <p:nvPr/>
        </p:nvSpPr>
        <p:spPr>
          <a:xfrm>
            <a:off x="1276502" y="4850892"/>
            <a:ext cx="14913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안정성 (Stability)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1276502" y="5107838"/>
            <a:ext cx="3600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노이즈/잘못된 라벨에 대한 과잉 확신 등 실패 모드 진단</a:t>
            </a:r>
            <a:endParaRPr 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571500" y="6409944"/>
            <a:ext cx="13716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Model Selection Criteria</a:t>
            </a:r>
            <a:endParaRPr lang="en-US" sz="900" dirty="0"/>
          </a:p>
        </p:txBody>
      </p:sp>
      <p:sp>
        <p:nvSpPr>
          <p:cNvPr id="26" name="Text 19"/>
          <p:cNvSpPr txBox="1"/>
          <p:nvPr/>
        </p:nvSpPr>
        <p:spPr>
          <a:xfrm>
            <a:off x="11096244" y="6409944"/>
            <a:ext cx="6099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9/18</a:t>
            </a:r>
            <a:endParaRPr lang="en-US" sz="900" dirty="0"/>
          </a:p>
        </p:txBody>
      </p:sp>
      <p:sp>
        <p:nvSpPr>
          <p:cNvPr id="27" name="Text 20"/>
          <p:cNvSpPr txBox="1"/>
          <p:nvPr/>
        </p:nvSpPr>
        <p:spPr>
          <a:xfrm>
            <a:off x="10550347" y="652882"/>
            <a:ext cx="12051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PillPal Project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6248095" y="1214323"/>
            <a:ext cx="5372100" cy="3438144"/>
          </a:xfrm>
          <a:prstGeom prst="roundRect">
            <a:avLst>
              <a:gd name="adj" fmla="val 884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>
            <a:alphaModFix amt="50000"/>
          </a:blip>
          <a:srcRect l="-23" r="-23" t="0" b="0"/>
          <a:stretch/>
        </p:blipFill>
        <p:spPr>
          <a:xfrm>
            <a:off x="10468051" y="3800246"/>
            <a:ext cx="1524305" cy="1218895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6248095" y="4876495"/>
            <a:ext cx="5372100" cy="1228954"/>
          </a:xfrm>
          <a:prstGeom prst="roundRect">
            <a:avLst>
              <a:gd name="adj" fmla="val 6921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31" name="Text 23"/>
          <p:cNvSpPr txBox="1"/>
          <p:nvPr/>
        </p:nvSpPr>
        <p:spPr>
          <a:xfrm>
            <a:off x="6553505" y="5076749"/>
            <a:ext cx="9720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TAKEAWAY</a:t>
            </a:r>
            <a:endParaRPr lang="en-US" sz="900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rcRect l="-743" r="-743" t="0" b="0"/>
          <a:stretch/>
        </p:blipFill>
        <p:spPr>
          <a:xfrm>
            <a:off x="11087100" y="5609844"/>
            <a:ext cx="304495" cy="34290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6580022" y="5191049"/>
            <a:ext cx="4858207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"Swin 계열의 강점(정확도)을 참고하되, 경량·실시간·서빙 생태계 측면에서 YOLO가 제약에 더 부합했습니다."</a:t>
            </a:r>
            <a:endParaRPr lang="en-US" sz="1500" dirty="0"/>
          </a:p>
        </p:txBody>
      </p:sp>
      <p:sp>
        <p:nvSpPr>
          <p:cNvPr id="34" name="Text 25"/>
          <p:cNvSpPr txBox="1"/>
          <p:nvPr/>
        </p:nvSpPr>
        <p:spPr>
          <a:xfrm>
            <a:off x="8405165" y="1442923"/>
            <a:ext cx="12097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Why YOLO?</a:t>
            </a:r>
            <a:endParaRPr lang="en-US" sz="1500" dirty="0"/>
          </a:p>
        </p:txBody>
      </p:sp>
      <p:sp>
        <p:nvSpPr>
          <p:cNvPr id="35" name="Shape 26"/>
          <p:cNvSpPr/>
          <p:nvPr/>
        </p:nvSpPr>
        <p:spPr>
          <a:xfrm>
            <a:off x="6486754" y="2024482"/>
            <a:ext cx="2333549" cy="1086307"/>
          </a:xfrm>
          <a:prstGeom prst="roundRect">
            <a:avLst>
              <a:gd name="adj" fmla="val 590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36" name="Shape 27"/>
          <p:cNvSpPr/>
          <p:nvPr/>
        </p:nvSpPr>
        <p:spPr>
          <a:xfrm>
            <a:off x="9048902" y="2024482"/>
            <a:ext cx="2333549" cy="1086307"/>
          </a:xfrm>
          <a:prstGeom prst="roundRect">
            <a:avLst>
              <a:gd name="adj" fmla="val 590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37" name="Shape 28"/>
          <p:cNvSpPr/>
          <p:nvPr/>
        </p:nvSpPr>
        <p:spPr>
          <a:xfrm>
            <a:off x="6486754" y="3331159"/>
            <a:ext cx="2333549" cy="1086307"/>
          </a:xfrm>
          <a:prstGeom prst="roundRect">
            <a:avLst>
              <a:gd name="adj" fmla="val 590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38" name="Shape 29"/>
          <p:cNvSpPr/>
          <p:nvPr/>
        </p:nvSpPr>
        <p:spPr>
          <a:xfrm>
            <a:off x="9048902" y="3331159"/>
            <a:ext cx="2333549" cy="1086307"/>
          </a:xfrm>
          <a:prstGeom prst="roundRect">
            <a:avLst>
              <a:gd name="adj" fmla="val 590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530" b="-530"/>
          <a:stretch/>
        </p:blipFill>
        <p:spPr>
          <a:xfrm>
            <a:off x="7529170" y="2186330"/>
            <a:ext cx="247802" cy="286207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7289597" y="2559406"/>
            <a:ext cx="8485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Real-time</a:t>
            </a:r>
            <a:endParaRPr lang="en-US" sz="1200" dirty="0"/>
          </a:p>
        </p:txBody>
      </p:sp>
      <p:sp>
        <p:nvSpPr>
          <p:cNvPr id="41" name="Text 31"/>
          <p:cNvSpPr txBox="1"/>
          <p:nvPr/>
        </p:nvSpPr>
        <p:spPr>
          <a:xfrm>
            <a:off x="7374636" y="2778862"/>
            <a:ext cx="6483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처리</a:t>
            </a:r>
            <a:endParaRPr lang="en-US" sz="900" dirty="0"/>
          </a:p>
        </p:txBody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10073030" y="2186330"/>
            <a:ext cx="286207" cy="286207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9763049" y="2559406"/>
            <a:ext cx="10195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Lightweight</a:t>
            </a:r>
            <a:endParaRPr lang="en-US" sz="1200" dirty="0"/>
          </a:p>
        </p:txBody>
      </p:sp>
      <p:sp>
        <p:nvSpPr>
          <p:cNvPr id="44" name="Text 33"/>
          <p:cNvSpPr txBox="1"/>
          <p:nvPr/>
        </p:nvSpPr>
        <p:spPr>
          <a:xfrm>
            <a:off x="10057486" y="2778862"/>
            <a:ext cx="4096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경량화</a:t>
            </a:r>
            <a:endParaRPr lang="en-US" sz="900" dirty="0"/>
          </a:p>
        </p:txBody>
      </p:sp>
      <p:pic>
        <p:nvPicPr>
          <p:cNvPr id="45" name="Image 9" descr="preencoded.png">    </p:cNvPr>
          <p:cNvPicPr>
            <a:picLocks noChangeAspect="1"/>
          </p:cNvPicPr>
          <p:nvPr/>
        </p:nvPicPr>
        <p:blipFill>
          <a:blip r:embed="rId10"/>
          <a:srcRect l="-266" r="-266" t="0" b="0"/>
          <a:stretch/>
        </p:blipFill>
        <p:spPr>
          <a:xfrm>
            <a:off x="7491679" y="3493008"/>
            <a:ext cx="323698" cy="286207"/>
          </a:xfrm>
          <a:prstGeom prst="rect">
            <a:avLst/>
          </a:prstGeom>
        </p:spPr>
      </p:pic>
      <p:sp>
        <p:nvSpPr>
          <p:cNvPr id="46" name="Text 34"/>
          <p:cNvSpPr txBox="1"/>
          <p:nvPr/>
        </p:nvSpPr>
        <p:spPr>
          <a:xfrm>
            <a:off x="7258507" y="3866998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Ecosystem</a:t>
            </a:r>
            <a:endParaRPr lang="en-US" sz="1200" dirty="0"/>
          </a:p>
        </p:txBody>
      </p:sp>
      <p:sp>
        <p:nvSpPr>
          <p:cNvPr id="47" name="Text 35"/>
          <p:cNvSpPr txBox="1"/>
          <p:nvPr/>
        </p:nvSpPr>
        <p:spPr>
          <a:xfrm>
            <a:off x="7321601" y="4086454"/>
            <a:ext cx="7525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풍부한 생태계</a:t>
            </a:r>
            <a:endParaRPr lang="en-US" sz="900" dirty="0"/>
          </a:p>
        </p:txBody>
      </p:sp>
      <p:pic>
        <p:nvPicPr>
          <p:cNvPr id="48" name="Image 10" descr="preencoded.png">    </p:cNvPr>
          <p:cNvPicPr>
            <a:picLocks noChangeAspect="1"/>
          </p:cNvPicPr>
          <p:nvPr/>
        </p:nvPicPr>
        <p:blipFill>
          <a:blip r:embed="rId11"/>
          <a:srcRect l="-1118" r="-1118" t="0" b="0"/>
          <a:stretch/>
        </p:blipFill>
        <p:spPr>
          <a:xfrm>
            <a:off x="10105949" y="3493008"/>
            <a:ext cx="219456" cy="286207"/>
          </a:xfrm>
          <a:prstGeom prst="rect">
            <a:avLst/>
          </a:prstGeom>
        </p:spPr>
      </p:pic>
      <p:sp>
        <p:nvSpPr>
          <p:cNvPr id="49" name="Text 36"/>
          <p:cNvSpPr txBox="1"/>
          <p:nvPr/>
        </p:nvSpPr>
        <p:spPr>
          <a:xfrm>
            <a:off x="9710014" y="3866998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Mobile Ready</a:t>
            </a:r>
            <a:endParaRPr lang="en-US" sz="1200" dirty="0"/>
          </a:p>
        </p:txBody>
      </p:sp>
      <p:sp>
        <p:nvSpPr>
          <p:cNvPr id="50" name="Text 37"/>
          <p:cNvSpPr txBox="1"/>
          <p:nvPr/>
        </p:nvSpPr>
        <p:spPr>
          <a:xfrm>
            <a:off x="9883750" y="4086454"/>
            <a:ext cx="7525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모바일 최적화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Shape 3"/>
          <p:cNvSpPr/>
          <p:nvPr/>
        </p:nvSpPr>
        <p:spPr>
          <a:xfrm>
            <a:off x="571500" y="1352398"/>
            <a:ext cx="11048695" cy="590702"/>
          </a:xfrm>
          <a:prstGeom prst="roundRect">
            <a:avLst>
              <a:gd name="adj" fmla="val 29961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500" y="6334049"/>
            <a:ext cx="11048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71500" y="504749"/>
            <a:ext cx="10287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SECTION 4 · QA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629107"/>
            <a:ext cx="242956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 프레임워크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3696005" y="1505102"/>
            <a:ext cx="49441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QA는 “점수 상승”보다 먼저, 결과 해석의 전제조건을 만든다.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71500" y="6409944"/>
            <a:ext cx="13624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PillPal Project Overview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033150" y="6409944"/>
            <a:ext cx="6766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10/18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714232" y="790956"/>
            <a:ext cx="30440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"비교 가능하고 신뢰 가능한 결론" 만들기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1500" y="2247595"/>
            <a:ext cx="5410505" cy="1857146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71500" y="2247595"/>
            <a:ext cx="75895" cy="1857146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alphaModFix amt="5000"/>
          </a:blip>
          <a:srcRect l="-13" r="-13" t="0" b="0"/>
          <a:stretch/>
        </p:blipFill>
        <p:spPr>
          <a:xfrm>
            <a:off x="4800600" y="3071470"/>
            <a:ext cx="1371600" cy="1218895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6210605" y="2247595"/>
            <a:ext cx="5410505" cy="1857146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210605" y="2247595"/>
            <a:ext cx="75895" cy="185714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>
            <a:alphaModFix amt="5000"/>
          </a:blip>
          <a:srcRect l="-27" r="-27" t="0" b="0"/>
          <a:stretch/>
        </p:blipFill>
        <p:spPr>
          <a:xfrm>
            <a:off x="10744200" y="3071470"/>
            <a:ext cx="1067105" cy="1218895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71500" y="4328770"/>
            <a:ext cx="5410505" cy="1857146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71500" y="4328770"/>
            <a:ext cx="75895" cy="1857146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>
            <a:alphaModFix amt="5000"/>
          </a:blip>
          <a:srcRect l="0" r="0" t="0" b="0"/>
          <a:stretch/>
        </p:blipFill>
        <p:spPr>
          <a:xfrm>
            <a:off x="4953305" y="5152644"/>
            <a:ext cx="1218895" cy="1218895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6210605" y="4328770"/>
            <a:ext cx="5410505" cy="1857146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210605" y="4328770"/>
            <a:ext cx="75895" cy="1857146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>
            <a:alphaModFix amt="5000"/>
          </a:blip>
          <a:srcRect l="0" r="0" t="0" b="0"/>
          <a:stretch/>
        </p:blipFill>
        <p:spPr>
          <a:xfrm>
            <a:off x="10591495" y="5152644"/>
            <a:ext cx="1218895" cy="1218895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875995" y="2517343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EE2E2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09498" y="2649931"/>
            <a:ext cx="190195" cy="19019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485900" y="2574036"/>
            <a:ext cx="16770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Leakage Gate</a:t>
            </a:r>
            <a:endParaRPr lang="en-US" sz="1800" dirty="0"/>
          </a:p>
        </p:txBody>
      </p:sp>
      <p:sp>
        <p:nvSpPr>
          <p:cNvPr id="28" name="Text 21"/>
          <p:cNvSpPr txBox="1"/>
          <p:nvPr/>
        </p:nvSpPr>
        <p:spPr>
          <a:xfrm>
            <a:off x="875995" y="3088843"/>
            <a:ext cx="17629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중복(가짜 개선) 사전 차단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75995" y="3393338"/>
            <a:ext cx="4876495" cy="437998"/>
          </a:xfrm>
          <a:prstGeom prst="roundRect">
            <a:avLst>
              <a:gd name="adj" fmla="val 36307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100" b="-1100"/>
          <a:stretch/>
        </p:blipFill>
        <p:spPr>
          <a:xfrm>
            <a:off x="1000354" y="3552444"/>
            <a:ext cx="114300" cy="13350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190549" y="3516782"/>
            <a:ext cx="22055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 / Val / Probe 데이터 교차 검증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6515100" y="2517343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DBEAFE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rcRect l="-1282" r="-1282" t="0" b="0"/>
          <a:stretch/>
        </p:blipFill>
        <p:spPr>
          <a:xfrm>
            <a:off x="6633972" y="2649931"/>
            <a:ext cx="219456" cy="190195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7125005" y="2574036"/>
            <a:ext cx="25146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Measurement Freeze</a:t>
            </a:r>
            <a:endParaRPr lang="en-US" sz="1800" dirty="0"/>
          </a:p>
        </p:txBody>
      </p:sp>
      <p:sp>
        <p:nvSpPr>
          <p:cNvPr id="35" name="Text 26"/>
          <p:cNvSpPr txBox="1"/>
          <p:nvPr/>
        </p:nvSpPr>
        <p:spPr>
          <a:xfrm>
            <a:off x="6515100" y="3088843"/>
            <a:ext cx="14676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파이프라인 고정</a:t>
            </a:r>
            <a:endParaRPr lang="en-US" sz="1200" dirty="0"/>
          </a:p>
        </p:txBody>
      </p:sp>
      <p:sp>
        <p:nvSpPr>
          <p:cNvPr id="36" name="Shape 27"/>
          <p:cNvSpPr/>
          <p:nvPr/>
        </p:nvSpPr>
        <p:spPr>
          <a:xfrm>
            <a:off x="6515100" y="3393338"/>
            <a:ext cx="4876495" cy="437998"/>
          </a:xfrm>
          <a:prstGeom prst="roundRect">
            <a:avLst>
              <a:gd name="adj" fmla="val 36307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1100" b="-1100"/>
          <a:stretch/>
        </p:blipFill>
        <p:spPr>
          <a:xfrm>
            <a:off x="6638544" y="3552444"/>
            <a:ext cx="114300" cy="133502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6829654" y="3516782"/>
            <a:ext cx="20912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매칭/지표/후처리 고정 → 원인 분리</a:t>
            </a:r>
            <a:endParaRPr lang="en-US" sz="1000" dirty="0"/>
          </a:p>
        </p:txBody>
      </p:sp>
      <p:sp>
        <p:nvSpPr>
          <p:cNvPr id="39" name="Shape 29"/>
          <p:cNvSpPr/>
          <p:nvPr/>
        </p:nvSpPr>
        <p:spPr>
          <a:xfrm>
            <a:off x="875995" y="4598518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EDE9FE"/>
          </a:solidFill>
          <a:ln/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1009498" y="4731106"/>
            <a:ext cx="190195" cy="190195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1485900" y="4655210"/>
            <a:ext cx="28767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Confidence &amp; Threshold</a:t>
            </a:r>
            <a:endParaRPr lang="en-US" sz="1800" dirty="0"/>
          </a:p>
        </p:txBody>
      </p:sp>
      <p:sp>
        <p:nvSpPr>
          <p:cNvPr id="42" name="Text 31"/>
          <p:cNvSpPr txBox="1"/>
          <p:nvPr/>
        </p:nvSpPr>
        <p:spPr>
          <a:xfrm>
            <a:off x="875995" y="5170018"/>
            <a:ext cx="1191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관점의 해석</a:t>
            </a:r>
            <a:endParaRPr lang="en-US" sz="1200" dirty="0"/>
          </a:p>
        </p:txBody>
      </p:sp>
      <p:sp>
        <p:nvSpPr>
          <p:cNvPr id="43" name="Shape 32"/>
          <p:cNvSpPr/>
          <p:nvPr/>
        </p:nvSpPr>
        <p:spPr>
          <a:xfrm>
            <a:off x="875995" y="5474513"/>
            <a:ext cx="4876495" cy="437998"/>
          </a:xfrm>
          <a:prstGeom prst="roundRect">
            <a:avLst>
              <a:gd name="adj" fmla="val 36307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1100" b="-1100"/>
          <a:stretch/>
        </p:blipFill>
        <p:spPr>
          <a:xfrm>
            <a:off x="1000354" y="5633618"/>
            <a:ext cx="114300" cy="133502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1190549" y="5597957"/>
            <a:ext cx="20336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mAP 외 실패 모드(미탐/오탐) 진단</a:t>
            </a:r>
            <a:endParaRPr lang="en-US" sz="1000" dirty="0"/>
          </a:p>
        </p:txBody>
      </p:sp>
      <p:pic>
        <p:nvPicPr>
          <p:cNvPr id="46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6648602" y="4731106"/>
            <a:ext cx="190195" cy="190195"/>
          </a:xfrm>
          <a:prstGeom prst="rect">
            <a:avLst/>
          </a:prstGeom>
        </p:spPr>
      </p:pic>
      <p:sp>
        <p:nvSpPr>
          <p:cNvPr id="47" name="Text 34"/>
          <p:cNvSpPr txBox="1"/>
          <p:nvPr/>
        </p:nvSpPr>
        <p:spPr>
          <a:xfrm>
            <a:off x="7125005" y="4655210"/>
            <a:ext cx="13341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Probe 운영</a:t>
            </a:r>
            <a:endParaRPr lang="en-US" sz="1800" dirty="0"/>
          </a:p>
        </p:txBody>
      </p:sp>
      <p:sp>
        <p:nvSpPr>
          <p:cNvPr id="48" name="Text 35"/>
          <p:cNvSpPr txBox="1"/>
          <p:nvPr/>
        </p:nvSpPr>
        <p:spPr>
          <a:xfrm>
            <a:off x="6515100" y="5170018"/>
            <a:ext cx="148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안정성/커버리지 확보</a:t>
            </a:r>
            <a:endParaRPr lang="en-US" sz="1200" dirty="0"/>
          </a:p>
        </p:txBody>
      </p:sp>
      <p:sp>
        <p:nvSpPr>
          <p:cNvPr id="49" name="Shape 36"/>
          <p:cNvSpPr/>
          <p:nvPr/>
        </p:nvSpPr>
        <p:spPr>
          <a:xfrm>
            <a:off x="6515100" y="5474513"/>
            <a:ext cx="4876495" cy="437998"/>
          </a:xfrm>
          <a:prstGeom prst="roundRect">
            <a:avLst>
              <a:gd name="adj" fmla="val 36307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pic>
        <p:nvPicPr>
          <p:cNvPr id="50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-1100" b="-1100"/>
          <a:stretch/>
        </p:blipFill>
        <p:spPr>
          <a:xfrm>
            <a:off x="6638544" y="5633618"/>
            <a:ext cx="114300" cy="133502"/>
          </a:xfrm>
          <a:prstGeom prst="rect">
            <a:avLst/>
          </a:prstGeom>
        </p:spPr>
      </p:pic>
      <p:sp>
        <p:nvSpPr>
          <p:cNvPr id="51" name="Text 37"/>
          <p:cNvSpPr txBox="1"/>
          <p:nvPr/>
        </p:nvSpPr>
        <p:spPr>
          <a:xfrm>
            <a:off x="6829654" y="5597957"/>
            <a:ext cx="20912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Core(고정) + Ext(취약 조건) 테스트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Shape 3"/>
          <p:cNvSpPr/>
          <p:nvPr/>
        </p:nvSpPr>
        <p:spPr>
          <a:xfrm>
            <a:off x="571500" y="1123798"/>
            <a:ext cx="5372100" cy="1943100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1500" y="1123798"/>
            <a:ext cx="75895" cy="194310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875995" y="1352398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FEE2E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3"/>
          <a:srcRect l="0" r="0" t="-1087" b="-1087"/>
          <a:stretch/>
        </p:blipFill>
        <p:spPr>
          <a:xfrm>
            <a:off x="1014070" y="1457554"/>
            <a:ext cx="105156" cy="17190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75995" y="1886407"/>
            <a:ext cx="28200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Train-Val 중복 시, 성능이 과대평가될 위험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75995" y="2266798"/>
            <a:ext cx="114300" cy="114300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75995" y="2609698"/>
            <a:ext cx="114300" cy="1143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1104595" y="2572207"/>
            <a:ext cx="2457907" cy="267005"/>
          </a:xfrm>
          <a:prstGeom prst="roundRect">
            <a:avLst>
              <a:gd name="adj" fmla="val 48924"/>
            </a:avLst>
          </a:prstGeom>
          <a:solidFill>
            <a:srgbClr val="FEF2F2"/>
          </a:solidFill>
          <a:ln/>
        </p:spPr>
      </p:sp>
      <p:sp>
        <p:nvSpPr>
          <p:cNvPr id="13" name="Shape 8"/>
          <p:cNvSpPr/>
          <p:nvPr/>
        </p:nvSpPr>
        <p:spPr>
          <a:xfrm>
            <a:off x="6248095" y="1123798"/>
            <a:ext cx="5372100" cy="1943100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6248095" y="1123798"/>
            <a:ext cx="75895" cy="194310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5" name="Shape 10"/>
          <p:cNvSpPr/>
          <p:nvPr/>
        </p:nvSpPr>
        <p:spPr>
          <a:xfrm>
            <a:off x="6553505" y="1352398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DBEAFE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/>
          <a:srcRect l="-1064" r="-1064" t="0" b="0"/>
          <a:stretch/>
        </p:blipFill>
        <p:spPr>
          <a:xfrm>
            <a:off x="6633972" y="1457554"/>
            <a:ext cx="219456" cy="17190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553505" y="1886407"/>
            <a:ext cx="2467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Hash 기반 중복 체크 (이미지 + 라벨)</a:t>
            </a:r>
            <a:endParaRPr lang="en-US" sz="12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7"/>
          <a:srcRect l="-133" r="-133" t="0" b="0"/>
          <a:stretch/>
        </p:blipFill>
        <p:spPr>
          <a:xfrm>
            <a:off x="6553505" y="2266798"/>
            <a:ext cx="85954" cy="114300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553505" y="2609698"/>
            <a:ext cx="114300" cy="11430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571500" y="7067398"/>
            <a:ext cx="11048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1" name="Text 13"/>
          <p:cNvSpPr txBox="1"/>
          <p:nvPr/>
        </p:nvSpPr>
        <p:spPr>
          <a:xfrm>
            <a:off x="571500" y="276149"/>
            <a:ext cx="10287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SECTION 4 · QA</a:t>
            </a:r>
            <a:endParaRPr lang="en-US" sz="900" dirty="0"/>
          </a:p>
        </p:txBody>
      </p:sp>
      <p:sp>
        <p:nvSpPr>
          <p:cNvPr id="22" name="Text 14"/>
          <p:cNvSpPr txBox="1"/>
          <p:nvPr/>
        </p:nvSpPr>
        <p:spPr>
          <a:xfrm>
            <a:off x="571500" y="400507"/>
            <a:ext cx="330555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Leakage Gate 상세</a:t>
            </a:r>
            <a:endParaRPr lang="en-US" sz="2700" dirty="0"/>
          </a:p>
        </p:txBody>
      </p:sp>
      <p:sp>
        <p:nvSpPr>
          <p:cNvPr id="23" name="Text 15"/>
          <p:cNvSpPr txBox="1"/>
          <p:nvPr/>
        </p:nvSpPr>
        <p:spPr>
          <a:xfrm>
            <a:off x="1371600" y="1399946"/>
            <a:ext cx="10195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Why: 의도</a:t>
            </a:r>
            <a:endParaRPr lang="en-US" sz="1500" dirty="0"/>
          </a:p>
        </p:txBody>
      </p:sp>
      <p:sp>
        <p:nvSpPr>
          <p:cNvPr id="24" name="Text 16"/>
          <p:cNvSpPr txBox="1"/>
          <p:nvPr/>
        </p:nvSpPr>
        <p:spPr>
          <a:xfrm>
            <a:off x="1104595" y="2229307"/>
            <a:ext cx="3905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버전(D1/D2/VAL) 교차가 발생하면 일반화 성능 왜곡</a:t>
            </a:r>
            <a:endParaRPr lang="en-US" sz="1200" dirty="0"/>
          </a:p>
        </p:txBody>
      </p:sp>
      <p:sp>
        <p:nvSpPr>
          <p:cNvPr id="25" name="Text 17"/>
          <p:cNvSpPr txBox="1"/>
          <p:nvPr/>
        </p:nvSpPr>
        <p:spPr>
          <a:xfrm>
            <a:off x="1181405" y="2609698"/>
            <a:ext cx="24057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Gate Fail 결과는 성능으로 인정하지 않음</a:t>
            </a:r>
            <a:endParaRPr lang="en-US" sz="1000" dirty="0"/>
          </a:p>
        </p:txBody>
      </p:sp>
      <p:sp>
        <p:nvSpPr>
          <p:cNvPr id="26" name="Text 18"/>
          <p:cNvSpPr txBox="1"/>
          <p:nvPr/>
        </p:nvSpPr>
        <p:spPr>
          <a:xfrm>
            <a:off x="7048195" y="1399946"/>
            <a:ext cx="14383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How: 체크 방식</a:t>
            </a:r>
            <a:endParaRPr lang="en-US" sz="1500" dirty="0"/>
          </a:p>
        </p:txBody>
      </p:sp>
      <p:sp>
        <p:nvSpPr>
          <p:cNvPr id="27" name="Text 19"/>
          <p:cNvSpPr txBox="1"/>
          <p:nvPr/>
        </p:nvSpPr>
        <p:spPr>
          <a:xfrm>
            <a:off x="6752844" y="2229307"/>
            <a:ext cx="2543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Split Manifest(데이터셋 명세서) 고정</a:t>
            </a:r>
            <a:endParaRPr lang="en-US" sz="1200" dirty="0"/>
          </a:p>
        </p:txBody>
      </p:sp>
      <p:sp>
        <p:nvSpPr>
          <p:cNvPr id="28" name="Text 20"/>
          <p:cNvSpPr txBox="1"/>
          <p:nvPr/>
        </p:nvSpPr>
        <p:spPr>
          <a:xfrm>
            <a:off x="6782105" y="2572207"/>
            <a:ext cx="3048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file_name 해시 대조로 물리적 중복 원천 차단</a:t>
            </a:r>
            <a:endParaRPr lang="en-US" sz="1200" dirty="0"/>
          </a:p>
        </p:txBody>
      </p:sp>
      <p:sp>
        <p:nvSpPr>
          <p:cNvPr id="29" name="Text 21"/>
          <p:cNvSpPr txBox="1"/>
          <p:nvPr/>
        </p:nvSpPr>
        <p:spPr>
          <a:xfrm>
            <a:off x="571500" y="7144207"/>
            <a:ext cx="13624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PillPal Project Overview</a:t>
            </a:r>
            <a:endParaRPr lang="en-US" sz="900" dirty="0"/>
          </a:p>
        </p:txBody>
      </p:sp>
      <p:sp>
        <p:nvSpPr>
          <p:cNvPr id="30" name="Text 22"/>
          <p:cNvSpPr txBox="1"/>
          <p:nvPr/>
        </p:nvSpPr>
        <p:spPr>
          <a:xfrm>
            <a:off x="11033150" y="7144207"/>
            <a:ext cx="6766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11/18</a:t>
            </a:r>
            <a:endParaRPr lang="en-US" sz="900" dirty="0"/>
          </a:p>
        </p:txBody>
      </p:sp>
      <p:sp>
        <p:nvSpPr>
          <p:cNvPr id="31" name="Text 23"/>
          <p:cNvSpPr txBox="1"/>
          <p:nvPr/>
        </p:nvSpPr>
        <p:spPr>
          <a:xfrm>
            <a:off x="9756648" y="562356"/>
            <a:ext cx="19961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"가짜 개선"을 먼저 막는다</a:t>
            </a:r>
            <a:endParaRPr lang="en-US" sz="1300" dirty="0"/>
          </a:p>
        </p:txBody>
      </p:sp>
      <p:sp>
        <p:nvSpPr>
          <p:cNvPr id="32" name="Shape 24"/>
          <p:cNvSpPr/>
          <p:nvPr/>
        </p:nvSpPr>
        <p:spPr>
          <a:xfrm>
            <a:off x="571500" y="3295498"/>
            <a:ext cx="11048695" cy="3619195"/>
          </a:xfrm>
          <a:prstGeom prst="roundRect">
            <a:avLst>
              <a:gd name="adj" fmla="val 79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 rotWithShape="1">
          <a:blip r:embed="rId9">
            <a:alphaModFix amt="10000"/>
          </a:blip>
          <a:srcRect l="-27" r="-27"/>
          <a:stretch>
            <a:fillRect/>
          </a:stretch>
        </p:blipFill>
        <p:spPr>
          <a:xfrm>
            <a:off x="10392156" y="3524098"/>
            <a:ext cx="1067105" cy="1218895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4128516" y="3610051"/>
            <a:ext cx="41148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FINAL RESULT 데이터 무결성 검증 결과</a:t>
            </a:r>
            <a:endParaRPr lang="en-US" sz="1800" dirty="0"/>
          </a:p>
        </p:txBody>
      </p:sp>
      <p:sp>
        <p:nvSpPr>
          <p:cNvPr id="35" name="Shape 26"/>
          <p:cNvSpPr/>
          <p:nvPr/>
        </p:nvSpPr>
        <p:spPr>
          <a:xfrm>
            <a:off x="2820924" y="6163056"/>
            <a:ext cx="6553505" cy="437998"/>
          </a:xfrm>
          <a:prstGeom prst="roundRect">
            <a:avLst>
              <a:gd name="adj" fmla="val 208768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27"/>
          <p:cNvSpPr txBox="1"/>
          <p:nvPr/>
        </p:nvSpPr>
        <p:spPr>
          <a:xfrm>
            <a:off x="3058668" y="6258154"/>
            <a:ext cx="62060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성능의 변화는 누수(Leakage)가 아니라, 온전히 모델과 데이터 처리의 변화입니다.</a:t>
            </a:r>
            <a:endParaRPr lang="en-US" sz="1300" dirty="0"/>
          </a:p>
        </p:txBody>
      </p:sp>
      <p:sp>
        <p:nvSpPr>
          <p:cNvPr id="37" name="Shape 28"/>
          <p:cNvSpPr/>
          <p:nvPr/>
        </p:nvSpPr>
        <p:spPr>
          <a:xfrm>
            <a:off x="886054" y="4219956"/>
            <a:ext cx="3323844" cy="1638605"/>
          </a:xfrm>
          <a:prstGeom prst="roundRect">
            <a:avLst>
              <a:gd name="adj" fmla="val 2596"/>
            </a:avLst>
          </a:prstGeom>
          <a:solidFill>
            <a:srgbClr val="f0fdfa"/>
          </a:solidFill>
          <a:ln w="25400">
            <a:solidFill>
              <a:srgbClr val="ccfbf1"/>
            </a:solidFill>
            <a:prstDash val="solid"/>
          </a:ln>
          <a:effectLst>
            <a:outerShdw blurRad="139700" dist="101600" dir="5400000" algn="bl" rotWithShape="0">
              <a:srgbClr val="0f766e">
                <a:alpha val="10000"/>
              </a:srgbClr>
            </a:outerShdw>
          </a:effectLst>
        </p:spPr>
      </p:sp>
      <p:sp>
        <p:nvSpPr>
          <p:cNvPr id="38" name="Text 29"/>
          <p:cNvSpPr txBox="1"/>
          <p:nvPr/>
        </p:nvSpPr>
        <p:spPr>
          <a:xfrm>
            <a:off x="2413102" y="5152644"/>
            <a:ext cx="6291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3600" dirty="0"/>
          </a:p>
        </p:txBody>
      </p:sp>
      <p:sp>
        <p:nvSpPr>
          <p:cNvPr id="39" name="Text 30"/>
          <p:cNvSpPr txBox="1"/>
          <p:nvPr/>
        </p:nvSpPr>
        <p:spPr>
          <a:xfrm>
            <a:off x="2170786" y="4466844"/>
            <a:ext cx="8531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VS 검증</a:t>
            </a:r>
            <a:endParaRPr lang="en-US" sz="1000" dirty="0"/>
          </a:p>
        </p:txBody>
      </p:sp>
      <p:sp>
        <p:nvSpPr>
          <p:cNvPr id="40" name="Text 31"/>
          <p:cNvSpPr txBox="1"/>
          <p:nvPr/>
        </p:nvSpPr>
        <p:spPr>
          <a:xfrm>
            <a:off x="1813255" y="4695444"/>
            <a:ext cx="95737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</a:t>
            </a:r>
            <a:endParaRPr lang="en-US" sz="2200" dirty="0"/>
          </a:p>
        </p:txBody>
      </p:sp>
      <p:sp>
        <p:nvSpPr>
          <p:cNvPr id="41" name="Text 32"/>
          <p:cNvSpPr txBox="1"/>
          <p:nvPr/>
        </p:nvSpPr>
        <p:spPr>
          <a:xfrm>
            <a:off x="2554834" y="4695444"/>
            <a:ext cx="50017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∩</a:t>
            </a:r>
            <a:endParaRPr lang="en-US" sz="2200" dirty="0"/>
          </a:p>
        </p:txBody>
      </p:sp>
      <p:sp>
        <p:nvSpPr>
          <p:cNvPr id="42" name="Text 33"/>
          <p:cNvSpPr txBox="1"/>
          <p:nvPr/>
        </p:nvSpPr>
        <p:spPr>
          <a:xfrm>
            <a:off x="2841041" y="4695444"/>
            <a:ext cx="65288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Val</a:t>
            </a:r>
            <a:endParaRPr lang="en-US" sz="2200" dirty="0"/>
          </a:p>
        </p:txBody>
      </p:sp>
      <p:sp>
        <p:nvSpPr>
          <p:cNvPr id="43" name="Text 34"/>
          <p:cNvSpPr txBox="1"/>
          <p:nvPr/>
        </p:nvSpPr>
        <p:spPr>
          <a:xfrm>
            <a:off x="2058314" y="5048402"/>
            <a:ext cx="629107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=</a:t>
            </a:r>
            <a:endParaRPr lang="en-US" sz="3600" dirty="0"/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 rotWithShape="1">
          <a:blip r:embed="rId10"/>
          <a:srcRect/>
          <a:stretch>
            <a:fillRect/>
          </a:stretch>
        </p:blipFill>
        <p:spPr>
          <a:xfrm>
            <a:off x="3023921" y="5266945"/>
            <a:ext cx="228600" cy="228600"/>
          </a:xfrm>
          <a:prstGeom prst="rect">
            <a:avLst/>
          </a:prstGeom>
        </p:spPr>
      </p:pic>
      <p:sp>
        <p:nvSpPr>
          <p:cNvPr id="45" name="Shape 35"/>
          <p:cNvSpPr/>
          <p:nvPr/>
        </p:nvSpPr>
        <p:spPr>
          <a:xfrm>
            <a:off x="4435754" y="4219956"/>
            <a:ext cx="3323844" cy="1638605"/>
          </a:xfrm>
          <a:prstGeom prst="roundRect">
            <a:avLst>
              <a:gd name="adj" fmla="val 2596"/>
            </a:avLst>
          </a:prstGeom>
          <a:solidFill>
            <a:srgbClr val="f0fdfa"/>
          </a:solidFill>
          <a:ln w="25400">
            <a:solidFill>
              <a:srgbClr val="ccfbf1"/>
            </a:solidFill>
            <a:prstDash val="solid"/>
          </a:ln>
          <a:effectLst>
            <a:outerShdw blurRad="139700" dist="101600" dir="5400000" algn="bl" rotWithShape="0">
              <a:srgbClr val="0f766e">
                <a:alpha val="10000"/>
              </a:srgbClr>
            </a:outerShdw>
          </a:effectLst>
        </p:spPr>
      </p:sp>
      <p:sp>
        <p:nvSpPr>
          <p:cNvPr id="46" name="Text 36"/>
          <p:cNvSpPr txBox="1"/>
          <p:nvPr/>
        </p:nvSpPr>
        <p:spPr>
          <a:xfrm>
            <a:off x="5962802" y="5152644"/>
            <a:ext cx="6291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3600" dirty="0"/>
          </a:p>
        </p:txBody>
      </p:sp>
      <p:sp>
        <p:nvSpPr>
          <p:cNvPr id="47" name="Text 37"/>
          <p:cNvSpPr txBox="1"/>
          <p:nvPr/>
        </p:nvSpPr>
        <p:spPr>
          <a:xfrm>
            <a:off x="5439766" y="4466844"/>
            <a:ext cx="14145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운영(PROBE) VS 검증</a:t>
            </a:r>
            <a:endParaRPr lang="en-US" sz="1000" dirty="0"/>
          </a:p>
        </p:txBody>
      </p:sp>
      <p:sp>
        <p:nvSpPr>
          <p:cNvPr id="48" name="Text 38"/>
          <p:cNvSpPr txBox="1"/>
          <p:nvPr/>
        </p:nvSpPr>
        <p:spPr>
          <a:xfrm>
            <a:off x="5302606" y="4695444"/>
            <a:ext cx="108173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Probe</a:t>
            </a:r>
            <a:endParaRPr lang="en-US" sz="2200" dirty="0"/>
          </a:p>
        </p:txBody>
      </p:sp>
      <p:sp>
        <p:nvSpPr>
          <p:cNvPr id="49" name="Text 39"/>
          <p:cNvSpPr txBox="1"/>
          <p:nvPr/>
        </p:nvSpPr>
        <p:spPr>
          <a:xfrm>
            <a:off x="6165799" y="4695444"/>
            <a:ext cx="50017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∩</a:t>
            </a:r>
            <a:endParaRPr lang="en-US" sz="2200" dirty="0"/>
          </a:p>
        </p:txBody>
      </p:sp>
      <p:sp>
        <p:nvSpPr>
          <p:cNvPr id="50" name="Text 40"/>
          <p:cNvSpPr txBox="1"/>
          <p:nvPr/>
        </p:nvSpPr>
        <p:spPr>
          <a:xfrm>
            <a:off x="6452006" y="4695444"/>
            <a:ext cx="65288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Val</a:t>
            </a:r>
            <a:endParaRPr lang="en-US" sz="2200" dirty="0"/>
          </a:p>
        </p:txBody>
      </p:sp>
      <p:sp>
        <p:nvSpPr>
          <p:cNvPr id="51" name="Text 41"/>
          <p:cNvSpPr txBox="1"/>
          <p:nvPr/>
        </p:nvSpPr>
        <p:spPr>
          <a:xfrm>
            <a:off x="5608015" y="5048402"/>
            <a:ext cx="629107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=</a:t>
            </a:r>
            <a:endParaRPr lang="en-US" sz="3600" dirty="0"/>
          </a:p>
        </p:txBody>
      </p:sp>
      <p:pic>
        <p:nvPicPr>
          <p:cNvPr id="52" name="Image 8" descr="preencoded.png"/>
          <p:cNvPicPr>
            <a:picLocks noChangeAspect="1"/>
          </p:cNvPicPr>
          <p:nvPr/>
        </p:nvPicPr>
        <p:blipFill rotWithShape="1">
          <a:blip r:embed="rId11"/>
          <a:srcRect/>
          <a:stretch>
            <a:fillRect/>
          </a:stretch>
        </p:blipFill>
        <p:spPr>
          <a:xfrm>
            <a:off x="6573622" y="5266945"/>
            <a:ext cx="228600" cy="228600"/>
          </a:xfrm>
          <a:prstGeom prst="rect">
            <a:avLst/>
          </a:prstGeom>
        </p:spPr>
      </p:pic>
      <p:sp>
        <p:nvSpPr>
          <p:cNvPr id="53" name="Shape 42"/>
          <p:cNvSpPr/>
          <p:nvPr/>
        </p:nvSpPr>
        <p:spPr>
          <a:xfrm>
            <a:off x="7985455" y="4219956"/>
            <a:ext cx="3323844" cy="1638605"/>
          </a:xfrm>
          <a:prstGeom prst="roundRect">
            <a:avLst>
              <a:gd name="adj" fmla="val 2596"/>
            </a:avLst>
          </a:prstGeom>
          <a:solidFill>
            <a:srgbClr val="f0fdfa"/>
          </a:solidFill>
          <a:ln w="25400">
            <a:solidFill>
              <a:srgbClr val="ccfbf1"/>
            </a:solidFill>
            <a:prstDash val="solid"/>
          </a:ln>
          <a:effectLst>
            <a:outerShdw blurRad="139700" dist="101600" dir="5400000" algn="bl" rotWithShape="0">
              <a:srgbClr val="0f766e">
                <a:alpha val="10000"/>
              </a:srgbClr>
            </a:outerShdw>
          </a:effectLst>
        </p:spPr>
      </p:sp>
      <p:sp>
        <p:nvSpPr>
          <p:cNvPr id="54" name="Text 43"/>
          <p:cNvSpPr txBox="1"/>
          <p:nvPr/>
        </p:nvSpPr>
        <p:spPr>
          <a:xfrm>
            <a:off x="9512503" y="5152644"/>
            <a:ext cx="629107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3600" b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0</a:t>
            </a:r>
            <a:endParaRPr lang="en-US" sz="3600"/>
          </a:p>
        </p:txBody>
      </p:sp>
      <p:sp>
        <p:nvSpPr>
          <p:cNvPr id="55" name="Text 44"/>
          <p:cNvSpPr txBox="1"/>
          <p:nvPr/>
        </p:nvSpPr>
        <p:spPr>
          <a:xfrm>
            <a:off x="9270187" y="4466844"/>
            <a:ext cx="8531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VS 운영</a:t>
            </a:r>
            <a:endParaRPr lang="en-US" sz="1000" dirty="0"/>
          </a:p>
        </p:txBody>
      </p:sp>
      <p:sp>
        <p:nvSpPr>
          <p:cNvPr id="56" name="Text 45"/>
          <p:cNvSpPr txBox="1"/>
          <p:nvPr/>
        </p:nvSpPr>
        <p:spPr>
          <a:xfrm>
            <a:off x="8699602" y="4695444"/>
            <a:ext cx="95737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</a:t>
            </a:r>
            <a:endParaRPr lang="en-US" sz="2200" dirty="0"/>
          </a:p>
        </p:txBody>
      </p:sp>
      <p:sp>
        <p:nvSpPr>
          <p:cNvPr id="57" name="Text 46"/>
          <p:cNvSpPr txBox="1"/>
          <p:nvPr/>
        </p:nvSpPr>
        <p:spPr>
          <a:xfrm>
            <a:off x="9441180" y="4695444"/>
            <a:ext cx="50017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∩</a:t>
            </a:r>
            <a:endParaRPr lang="en-US" sz="2200" dirty="0"/>
          </a:p>
        </p:txBody>
      </p:sp>
      <p:sp>
        <p:nvSpPr>
          <p:cNvPr id="58" name="Text 47"/>
          <p:cNvSpPr txBox="1"/>
          <p:nvPr/>
        </p:nvSpPr>
        <p:spPr>
          <a:xfrm>
            <a:off x="9727387" y="4695444"/>
            <a:ext cx="108173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Probe</a:t>
            </a:r>
            <a:endParaRPr lang="en-US" sz="2200" dirty="0"/>
          </a:p>
        </p:txBody>
      </p:sp>
      <p:sp>
        <p:nvSpPr>
          <p:cNvPr id="59" name="Text 48"/>
          <p:cNvSpPr txBox="1"/>
          <p:nvPr/>
        </p:nvSpPr>
        <p:spPr>
          <a:xfrm>
            <a:off x="9157716" y="5048402"/>
            <a:ext cx="629107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=</a:t>
            </a:r>
            <a:endParaRPr lang="en-US" sz="3600" dirty="0"/>
          </a:p>
        </p:txBody>
      </p:sp>
      <p:pic>
        <p:nvPicPr>
          <p:cNvPr id="60" name="Image 9" descr="preencoded.png"/>
          <p:cNvPicPr>
            <a:picLocks noChangeAspect="1"/>
          </p:cNvPicPr>
          <p:nvPr/>
        </p:nvPicPr>
        <p:blipFill rotWithShape="1">
          <a:blip r:embed="rId12"/>
          <a:srcRect/>
          <a:stretch>
            <a:fillRect/>
          </a:stretch>
        </p:blipFill>
        <p:spPr>
          <a:xfrm>
            <a:off x="10123323" y="5267858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Shape 3"/>
          <p:cNvSpPr/>
          <p:nvPr/>
        </p:nvSpPr>
        <p:spPr>
          <a:xfrm>
            <a:off x="571500" y="1314907"/>
            <a:ext cx="11048695" cy="857707"/>
          </a:xfrm>
          <a:prstGeom prst="roundRect">
            <a:avLst>
              <a:gd name="adj" fmla="val 14215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500" y="2400300"/>
            <a:ext cx="5372100" cy="3781044"/>
          </a:xfrm>
          <a:prstGeom prst="roundRect">
            <a:avLst>
              <a:gd name="adj" fmla="val 731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9244" y="2686507"/>
            <a:ext cx="171907" cy="17190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57046" y="2638044"/>
            <a:ext cx="187177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Threshold 민감도 분석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48095" y="2400300"/>
            <a:ext cx="2609698" cy="1238098"/>
          </a:xfrm>
          <a:prstGeom prst="roundRect">
            <a:avLst>
              <a:gd name="adj" fmla="val 6817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467344" y="2600554"/>
            <a:ext cx="190195" cy="190195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9010498" y="2400300"/>
            <a:ext cx="2609698" cy="1238098"/>
          </a:xfrm>
          <a:prstGeom prst="roundRect">
            <a:avLst>
              <a:gd name="adj" fmla="val 6817"/>
            </a:avLst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1229746" y="2600554"/>
            <a:ext cx="190195" cy="190195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248095" y="3791102"/>
            <a:ext cx="5372100" cy="2391156"/>
          </a:xfrm>
          <a:prstGeom prst="roundRect">
            <a:avLst>
              <a:gd name="adj" fmla="val 1828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6486754" y="4448556"/>
            <a:ext cx="4895698" cy="9144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100" b="-1100"/>
          <a:stretch/>
        </p:blipFill>
        <p:spPr>
          <a:xfrm>
            <a:off x="6486754" y="4647895"/>
            <a:ext cx="114300" cy="133502"/>
          </a:xfrm>
          <a:prstGeom prst="rect">
            <a:avLst/>
          </a:prstGeom>
        </p:spPr>
      </p:pic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1100" b="-1100"/>
          <a:stretch/>
        </p:blipFill>
        <p:spPr>
          <a:xfrm>
            <a:off x="6486754" y="5105095"/>
            <a:ext cx="114300" cy="133502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100" b="-1100"/>
          <a:stretch/>
        </p:blipFill>
        <p:spPr>
          <a:xfrm>
            <a:off x="6486754" y="5562295"/>
            <a:ext cx="114300" cy="133502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571500" y="6334049"/>
            <a:ext cx="11048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9" name="Text 11"/>
          <p:cNvSpPr txBox="1"/>
          <p:nvPr/>
        </p:nvSpPr>
        <p:spPr>
          <a:xfrm>
            <a:off x="571500" y="466344"/>
            <a:ext cx="10287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SECTION 4 · QA</a:t>
            </a:r>
            <a:endParaRPr lang="en-US" sz="900" dirty="0"/>
          </a:p>
        </p:txBody>
      </p:sp>
      <p:sp>
        <p:nvSpPr>
          <p:cNvPr id="20" name="Text 12"/>
          <p:cNvSpPr txBox="1"/>
          <p:nvPr/>
        </p:nvSpPr>
        <p:spPr>
          <a:xfrm>
            <a:off x="571500" y="590702"/>
            <a:ext cx="44293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Confidence &amp; Threshold</a:t>
            </a:r>
            <a:endParaRPr lang="en-US" sz="2700" dirty="0"/>
          </a:p>
        </p:txBody>
      </p:sp>
      <p:sp>
        <p:nvSpPr>
          <p:cNvPr id="21" name="Text 13"/>
          <p:cNvSpPr txBox="1"/>
          <p:nvPr/>
        </p:nvSpPr>
        <p:spPr>
          <a:xfrm>
            <a:off x="743407" y="1466698"/>
            <a:ext cx="10849356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mAP 점수로는 "왜 실패하는지" 설명할 수 없습니다. 특히 약 인식은 Threshold에 의해 잘려나가는 "미탐(False Negative)" 리스크 관리가 핵심입니다.</a:t>
            </a:r>
            <a:endParaRPr lang="en-US" sz="1500" dirty="0"/>
          </a:p>
        </p:txBody>
      </p:sp>
      <p:sp>
        <p:nvSpPr>
          <p:cNvPr id="22" name="Text 14"/>
          <p:cNvSpPr txBox="1"/>
          <p:nvPr/>
        </p:nvSpPr>
        <p:spPr>
          <a:xfrm>
            <a:off x="1198778" y="5781751"/>
            <a:ext cx="42108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Threshold가 높아질수록 Recall(재현율)이 급격히 하락하는 지점을 파악해야 합니다.</a:t>
            </a:r>
            <a:endParaRPr lang="en-US" sz="900" dirty="0"/>
          </a:p>
        </p:txBody>
      </p:sp>
      <p:sp>
        <p:nvSpPr>
          <p:cNvPr id="23" name="Text 15"/>
          <p:cNvSpPr txBox="1"/>
          <p:nvPr/>
        </p:nvSpPr>
        <p:spPr>
          <a:xfrm>
            <a:off x="6448349" y="2600554"/>
            <a:ext cx="10908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Threshold 0.50</a:t>
            </a:r>
            <a:endParaRPr lang="en-US" sz="1000" dirty="0"/>
          </a:p>
        </p:txBody>
      </p:sp>
      <p:sp>
        <p:nvSpPr>
          <p:cNvPr id="24" name="Text 16"/>
          <p:cNvSpPr txBox="1"/>
          <p:nvPr/>
        </p:nvSpPr>
        <p:spPr>
          <a:xfrm>
            <a:off x="6448349" y="2809951"/>
            <a:ext cx="101041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0.89</a:t>
            </a:r>
            <a:endParaRPr lang="en-US" sz="2700" dirty="0"/>
          </a:p>
        </p:txBody>
      </p:sp>
      <p:sp>
        <p:nvSpPr>
          <p:cNvPr id="25" name="Text 17"/>
          <p:cNvSpPr txBox="1"/>
          <p:nvPr/>
        </p:nvSpPr>
        <p:spPr>
          <a:xfrm>
            <a:off x="6448349" y="3276295"/>
            <a:ext cx="8485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Recall (안정적)</a:t>
            </a:r>
            <a:endParaRPr lang="en-US" sz="900" dirty="0"/>
          </a:p>
        </p:txBody>
      </p:sp>
      <p:sp>
        <p:nvSpPr>
          <p:cNvPr id="26" name="Text 18"/>
          <p:cNvSpPr txBox="1"/>
          <p:nvPr/>
        </p:nvSpPr>
        <p:spPr>
          <a:xfrm>
            <a:off x="9210751" y="2600554"/>
            <a:ext cx="10908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Threshold 0.90</a:t>
            </a:r>
            <a:endParaRPr lang="en-US" sz="1000" dirty="0"/>
          </a:p>
        </p:txBody>
      </p:sp>
      <p:sp>
        <p:nvSpPr>
          <p:cNvPr id="27" name="Text 19"/>
          <p:cNvSpPr txBox="1"/>
          <p:nvPr/>
        </p:nvSpPr>
        <p:spPr>
          <a:xfrm>
            <a:off x="9210751" y="2809951"/>
            <a:ext cx="101041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0.79</a:t>
            </a:r>
            <a:endParaRPr lang="en-US" sz="2700" dirty="0"/>
          </a:p>
        </p:txBody>
      </p:sp>
      <p:sp>
        <p:nvSpPr>
          <p:cNvPr id="28" name="Text 20"/>
          <p:cNvSpPr txBox="1"/>
          <p:nvPr/>
        </p:nvSpPr>
        <p:spPr>
          <a:xfrm>
            <a:off x="9210751" y="3276295"/>
            <a:ext cx="12097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Recall (미탐 리스크↑)</a:t>
            </a:r>
            <a:endParaRPr lang="en-US" sz="9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rcRect l="-1773" r="-1773" t="0" b="0"/>
          <a:stretch/>
        </p:blipFill>
        <p:spPr>
          <a:xfrm>
            <a:off x="6486754" y="4165092"/>
            <a:ext cx="133502" cy="171907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6696151" y="4114800"/>
            <a:ext cx="11768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대응 전략</a:t>
            </a:r>
            <a:endParaRPr lang="en-US" sz="1300" dirty="0"/>
          </a:p>
        </p:txBody>
      </p:sp>
      <p:sp>
        <p:nvSpPr>
          <p:cNvPr id="31" name="Text 22"/>
          <p:cNvSpPr txBox="1"/>
          <p:nvPr/>
        </p:nvSpPr>
        <p:spPr>
          <a:xfrm>
            <a:off x="6715354" y="4610405"/>
            <a:ext cx="14054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Confidence 분포 진단</a:t>
            </a:r>
            <a:endParaRPr lang="en-US" sz="1000" dirty="0"/>
          </a:p>
        </p:txBody>
      </p:sp>
      <p:sp>
        <p:nvSpPr>
          <p:cNvPr id="32" name="Text 23"/>
          <p:cNvSpPr txBox="1"/>
          <p:nvPr/>
        </p:nvSpPr>
        <p:spPr>
          <a:xfrm>
            <a:off x="6715354" y="4791456"/>
            <a:ext cx="2591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모델이 정답을 맞출 때 얼마나 '확신'하는지 분포 확인</a:t>
            </a:r>
            <a:endParaRPr lang="en-US" sz="900" dirty="0"/>
          </a:p>
        </p:txBody>
      </p:sp>
      <p:sp>
        <p:nvSpPr>
          <p:cNvPr id="33" name="Text 24"/>
          <p:cNvSpPr txBox="1"/>
          <p:nvPr/>
        </p:nvSpPr>
        <p:spPr>
          <a:xfrm>
            <a:off x="6715354" y="5067605"/>
            <a:ext cx="9198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실패 모드 분리</a:t>
            </a:r>
            <a:endParaRPr lang="en-US" sz="1000" dirty="0"/>
          </a:p>
        </p:txBody>
      </p:sp>
      <p:sp>
        <p:nvSpPr>
          <p:cNvPr id="34" name="Text 25"/>
          <p:cNvSpPr txBox="1"/>
          <p:nvPr/>
        </p:nvSpPr>
        <p:spPr>
          <a:xfrm>
            <a:off x="6715354" y="5248656"/>
            <a:ext cx="23052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탐지 실패(미탐) vs 오인식(오탐)의 비율을 조절</a:t>
            </a:r>
            <a:endParaRPr lang="en-US" sz="900" dirty="0"/>
          </a:p>
        </p:txBody>
      </p:sp>
      <p:sp>
        <p:nvSpPr>
          <p:cNvPr id="35" name="Text 26"/>
          <p:cNvSpPr txBox="1"/>
          <p:nvPr/>
        </p:nvSpPr>
        <p:spPr>
          <a:xfrm>
            <a:off x="6715354" y="5524805"/>
            <a:ext cx="6912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UX적 보완</a:t>
            </a:r>
            <a:endParaRPr lang="en-US" sz="1000" dirty="0"/>
          </a:p>
        </p:txBody>
      </p:sp>
      <p:sp>
        <p:nvSpPr>
          <p:cNvPr id="36" name="Text 27"/>
          <p:cNvSpPr txBox="1"/>
          <p:nvPr/>
        </p:nvSpPr>
        <p:spPr>
          <a:xfrm>
            <a:off x="6715354" y="5705856"/>
            <a:ext cx="27340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낮은 확신도일 경우 "다시 촬영해주세요" 등 가이드 제공</a:t>
            </a:r>
            <a:endParaRPr lang="en-US" sz="900" dirty="0"/>
          </a:p>
        </p:txBody>
      </p:sp>
      <p:sp>
        <p:nvSpPr>
          <p:cNvPr id="37" name="Text 28"/>
          <p:cNvSpPr txBox="1"/>
          <p:nvPr/>
        </p:nvSpPr>
        <p:spPr>
          <a:xfrm>
            <a:off x="571500" y="6409944"/>
            <a:ext cx="23436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PillPal Project - QA Operational Sensitivity</a:t>
            </a:r>
            <a:endParaRPr lang="en-US" sz="900" dirty="0"/>
          </a:p>
        </p:txBody>
      </p:sp>
      <p:sp>
        <p:nvSpPr>
          <p:cNvPr id="38" name="Text 29"/>
          <p:cNvSpPr txBox="1"/>
          <p:nvPr/>
        </p:nvSpPr>
        <p:spPr>
          <a:xfrm>
            <a:off x="11033150" y="6409944"/>
            <a:ext cx="6766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12/18</a:t>
            </a:r>
            <a:endParaRPr lang="en-US" sz="900" dirty="0"/>
          </a:p>
        </p:txBody>
      </p:sp>
      <p:sp>
        <p:nvSpPr>
          <p:cNvPr id="39" name="Text 30"/>
          <p:cNvSpPr txBox="1"/>
          <p:nvPr/>
        </p:nvSpPr>
        <p:spPr>
          <a:xfrm>
            <a:off x="9598457" y="752551"/>
            <a:ext cx="21579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정책을 "수치로" 만든다</a:t>
            </a:r>
            <a:endParaRPr lang="en-US" sz="1300" dirty="0"/>
          </a:p>
        </p:txBody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rcRect l="-3" r="-3" t="0" b="0"/>
          <a:stretch/>
        </p:blipFill>
        <p:spPr>
          <a:xfrm>
            <a:off x="809244" y="3057754"/>
            <a:ext cx="4895698" cy="265724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Shape 3"/>
          <p:cNvSpPr/>
          <p:nvPr/>
        </p:nvSpPr>
        <p:spPr>
          <a:xfrm>
            <a:off x="571500" y="4324198"/>
            <a:ext cx="5410505" cy="1857146"/>
          </a:xfrm>
          <a:prstGeom prst="roundRect">
            <a:avLst>
              <a:gd name="adj" fmla="val 303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1500" y="4324198"/>
            <a:ext cx="47549" cy="1857146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52805" y="4690872"/>
            <a:ext cx="171907" cy="171907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47649" y="5158130"/>
            <a:ext cx="152705" cy="152705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47649" y="5501030"/>
            <a:ext cx="152705" cy="152705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6210605" y="4324198"/>
            <a:ext cx="5410505" cy="1857146"/>
          </a:xfrm>
          <a:prstGeom prst="roundRect">
            <a:avLst>
              <a:gd name="adj" fmla="val 303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6210605" y="4324198"/>
            <a:ext cx="47549" cy="185714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7"/>
          <p:cNvSpPr/>
          <p:nvPr/>
        </p:nvSpPr>
        <p:spPr>
          <a:xfrm>
            <a:off x="6486754" y="4598518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E0E7FF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rcRect l="-1064" r="-1064" t="0" b="0"/>
          <a:stretch/>
        </p:blipFill>
        <p:spPr>
          <a:xfrm>
            <a:off x="6567221" y="4702759"/>
            <a:ext cx="219456" cy="171907"/>
          </a:xfrm>
          <a:prstGeom prst="rect">
            <a:avLst/>
          </a:prstGeom>
        </p:spPr>
      </p:pic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180" b="-180"/>
          <a:stretch/>
        </p:blipFill>
        <p:spPr>
          <a:xfrm>
            <a:off x="6486754" y="5170018"/>
            <a:ext cx="190195" cy="152705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6524244" y="5474513"/>
            <a:ext cx="19202" cy="437998"/>
          </a:xfrm>
          <a:prstGeom prst="rect">
            <a:avLst/>
          </a:prstGeom>
          <a:solidFill>
            <a:srgbClr val="C7D2FE"/>
          </a:solidFill>
          <a:ln/>
        </p:spPr>
      </p:sp>
      <p:sp>
        <p:nvSpPr>
          <p:cNvPr id="16" name="Shape 9"/>
          <p:cNvSpPr/>
          <p:nvPr/>
        </p:nvSpPr>
        <p:spPr>
          <a:xfrm>
            <a:off x="571500" y="6334049"/>
            <a:ext cx="11048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7" name="Text 10"/>
          <p:cNvSpPr txBox="1"/>
          <p:nvPr/>
        </p:nvSpPr>
        <p:spPr>
          <a:xfrm>
            <a:off x="571500" y="504749"/>
            <a:ext cx="1314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SECTION 5 · RESULT</a:t>
            </a:r>
            <a:endParaRPr lang="en-US" sz="900" dirty="0"/>
          </a:p>
        </p:txBody>
      </p:sp>
      <p:sp>
        <p:nvSpPr>
          <p:cNvPr id="18" name="Text 11"/>
          <p:cNvSpPr txBox="1"/>
          <p:nvPr/>
        </p:nvSpPr>
        <p:spPr>
          <a:xfrm>
            <a:off x="571500" y="629107"/>
            <a:ext cx="51060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Official 모델 성과 (Validation)</a:t>
            </a:r>
            <a:endParaRPr lang="en-US" sz="2700" dirty="0"/>
          </a:p>
        </p:txBody>
      </p:sp>
      <p:sp>
        <p:nvSpPr>
          <p:cNvPr id="19" name="Text 12"/>
          <p:cNvSpPr txBox="1"/>
          <p:nvPr/>
        </p:nvSpPr>
        <p:spPr>
          <a:xfrm>
            <a:off x="1343254" y="4634179"/>
            <a:ext cx="1524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점수의 "질" 해석</a:t>
            </a:r>
            <a:endParaRPr lang="en-US" sz="1500" dirty="0"/>
          </a:p>
        </p:txBody>
      </p:sp>
      <p:sp>
        <p:nvSpPr>
          <p:cNvPr id="20" name="Text 13"/>
          <p:cNvSpPr txBox="1"/>
          <p:nvPr/>
        </p:nvSpPr>
        <p:spPr>
          <a:xfrm>
            <a:off x="1114654" y="5119726"/>
            <a:ext cx="4496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mAP50(0.958)은 매우 높음 → 탐지(Detection) 자체는 매우 성공적</a:t>
            </a:r>
            <a:endParaRPr lang="en-US" sz="1200" dirty="0"/>
          </a:p>
        </p:txBody>
      </p:sp>
      <p:sp>
        <p:nvSpPr>
          <p:cNvPr id="21" name="Text 14"/>
          <p:cNvSpPr txBox="1"/>
          <p:nvPr/>
        </p:nvSpPr>
        <p:spPr>
          <a:xfrm>
            <a:off x="1114654" y="5462626"/>
            <a:ext cx="45912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mAP50-95와의 차이 발생 → IoU 기준이 엄격할수록 박스 정밀도 영향 (Tight BBox 이슈)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6981444" y="4646066"/>
            <a:ext cx="14767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관점의 적용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6791249" y="5131613"/>
            <a:ext cx="2496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점수보다 중요한 Trade-off 관리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6848856" y="5483657"/>
            <a:ext cx="4644238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운영에서는 Threshold 설정을 통해 오탐(FP)과 미탐(FN)의 균형을 서비스 목적(안전 vs 편의)에 맞게 조절합니다.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571500" y="6409944"/>
            <a:ext cx="1686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PillPal Project - Model Results</a:t>
            </a:r>
            <a:endParaRPr lang="en-US" sz="900" dirty="0"/>
          </a:p>
        </p:txBody>
      </p:sp>
      <p:sp>
        <p:nvSpPr>
          <p:cNvPr id="26" name="Text 19"/>
          <p:cNvSpPr txBox="1"/>
          <p:nvPr/>
        </p:nvSpPr>
        <p:spPr>
          <a:xfrm>
            <a:off x="11033150" y="6409944"/>
            <a:ext cx="6766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13/18</a:t>
            </a:r>
            <a:endParaRPr lang="en-US" sz="900" dirty="0"/>
          </a:p>
        </p:txBody>
      </p:sp>
      <p:sp>
        <p:nvSpPr>
          <p:cNvPr id="27" name="Text 20"/>
          <p:cNvSpPr txBox="1"/>
          <p:nvPr/>
        </p:nvSpPr>
        <p:spPr>
          <a:xfrm>
            <a:off x="9196121" y="790956"/>
            <a:ext cx="25575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Performance Metrics &amp; Analysis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571500" y="1352398"/>
            <a:ext cx="2590495" cy="2743200"/>
          </a:xfrm>
          <a:prstGeom prst="roundRect">
            <a:avLst>
              <a:gd name="adj" fmla="val 207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29" name="Text 22"/>
          <p:cNvSpPr txBox="1"/>
          <p:nvPr/>
        </p:nvSpPr>
        <p:spPr>
          <a:xfrm>
            <a:off x="1452982" y="1591056"/>
            <a:ext cx="9290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MAP (50-95)</a:t>
            </a:r>
            <a:endParaRPr lang="en-US" sz="1000" dirty="0"/>
          </a:p>
        </p:txBody>
      </p:sp>
      <p:sp>
        <p:nvSpPr>
          <p:cNvPr id="30" name="Text 23"/>
          <p:cNvSpPr txBox="1"/>
          <p:nvPr/>
        </p:nvSpPr>
        <p:spPr>
          <a:xfrm>
            <a:off x="1388974" y="1762049"/>
            <a:ext cx="12198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0.844</a:t>
            </a:r>
            <a:endParaRPr lang="en-US" sz="2700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200607" y="2523744"/>
            <a:ext cx="1333195" cy="1333195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3390595" y="1352398"/>
            <a:ext cx="2590495" cy="2743200"/>
          </a:xfrm>
          <a:prstGeom prst="roundRect">
            <a:avLst>
              <a:gd name="adj" fmla="val 207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33" name="Text 25"/>
          <p:cNvSpPr txBox="1"/>
          <p:nvPr/>
        </p:nvSpPr>
        <p:spPr>
          <a:xfrm>
            <a:off x="4380890" y="1591056"/>
            <a:ext cx="7196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MAP (50)</a:t>
            </a:r>
            <a:endParaRPr lang="en-US" sz="1000" dirty="0"/>
          </a:p>
        </p:txBody>
      </p:sp>
      <p:sp>
        <p:nvSpPr>
          <p:cNvPr id="34" name="Text 26"/>
          <p:cNvSpPr txBox="1"/>
          <p:nvPr/>
        </p:nvSpPr>
        <p:spPr>
          <a:xfrm>
            <a:off x="4208069" y="1762049"/>
            <a:ext cx="12198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0.958</a:t>
            </a:r>
            <a:endParaRPr lang="en-US" sz="2700" dirty="0"/>
          </a:p>
        </p:txBody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019702" y="2523744"/>
            <a:ext cx="1333195" cy="1333195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6210605" y="1352398"/>
            <a:ext cx="2590495" cy="2743200"/>
          </a:xfrm>
          <a:prstGeom prst="roundRect">
            <a:avLst>
              <a:gd name="adj" fmla="val 207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37" name="Text 28"/>
          <p:cNvSpPr txBox="1"/>
          <p:nvPr/>
        </p:nvSpPr>
        <p:spPr>
          <a:xfrm>
            <a:off x="7128662" y="1591056"/>
            <a:ext cx="8622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38" name="Text 29"/>
          <p:cNvSpPr txBox="1"/>
          <p:nvPr/>
        </p:nvSpPr>
        <p:spPr>
          <a:xfrm>
            <a:off x="7027164" y="1762049"/>
            <a:ext cx="12198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0.764</a:t>
            </a:r>
            <a:endParaRPr lang="en-US" sz="2700" dirty="0"/>
          </a:p>
        </p:txBody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838798" y="2523744"/>
            <a:ext cx="1333195" cy="1333195"/>
          </a:xfrm>
          <a:prstGeom prst="rect">
            <a:avLst/>
          </a:prstGeom>
        </p:spPr>
      </p:pic>
      <p:sp>
        <p:nvSpPr>
          <p:cNvPr id="40" name="Shape 30"/>
          <p:cNvSpPr/>
          <p:nvPr/>
        </p:nvSpPr>
        <p:spPr>
          <a:xfrm>
            <a:off x="9029700" y="1352398"/>
            <a:ext cx="2590495" cy="2743200"/>
          </a:xfrm>
          <a:prstGeom prst="roundRect">
            <a:avLst>
              <a:gd name="adj" fmla="val 207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1" name="Text 31"/>
          <p:cNvSpPr txBox="1"/>
          <p:nvPr/>
        </p:nvSpPr>
        <p:spPr>
          <a:xfrm>
            <a:off x="10064801" y="1591056"/>
            <a:ext cx="6245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RECALL</a:t>
            </a:r>
            <a:endParaRPr lang="en-US" sz="1000" dirty="0"/>
          </a:p>
        </p:txBody>
      </p:sp>
      <p:sp>
        <p:nvSpPr>
          <p:cNvPr id="42" name="Text 32"/>
          <p:cNvSpPr txBox="1"/>
          <p:nvPr/>
        </p:nvSpPr>
        <p:spPr>
          <a:xfrm>
            <a:off x="9847174" y="1762049"/>
            <a:ext cx="12198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6366F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0.833</a:t>
            </a:r>
            <a:endParaRPr lang="en-US" sz="2700" dirty="0"/>
          </a:p>
        </p:txBody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9658807" y="2523744"/>
            <a:ext cx="1333195" cy="133319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Shape 3"/>
          <p:cNvSpPr/>
          <p:nvPr/>
        </p:nvSpPr>
        <p:spPr>
          <a:xfrm>
            <a:off x="9961474" y="362102"/>
            <a:ext cx="1666951" cy="267005"/>
          </a:xfrm>
          <a:prstGeom prst="roundRect">
            <a:avLst>
              <a:gd name="adj" fmla="val 48924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71500" y="4651553"/>
            <a:ext cx="5372100" cy="1362456"/>
          </a:xfrm>
          <a:prstGeom prst="roundRect">
            <a:avLst>
              <a:gd name="adj" fmla="val 5632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1754" y="4890211"/>
            <a:ext cx="152705" cy="1527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00354" y="4851806"/>
            <a:ext cx="1571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타이트한 BBox의 영향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48095" y="4651553"/>
            <a:ext cx="5372100" cy="1362456"/>
          </a:xfrm>
          <a:prstGeom prst="roundRect">
            <a:avLst>
              <a:gd name="adj" fmla="val 5632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00" b="-100"/>
          <a:stretch/>
        </p:blipFill>
        <p:spPr>
          <a:xfrm>
            <a:off x="6448349" y="4890211"/>
            <a:ext cx="114300" cy="15270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638544" y="4851806"/>
            <a:ext cx="1400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해결 방향 (Insight)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71500" y="6429146"/>
            <a:ext cx="11048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571500" y="219456"/>
            <a:ext cx="11247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SECTION 2. DATA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571500" y="381305"/>
            <a:ext cx="569122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클래스 불일치(56↔74)와 셀프 라벨링의 함정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10075774" y="400507"/>
            <a:ext cx="15389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Data/Label Challenges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771754" y="5166360"/>
            <a:ext cx="5072177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박스가 객체에 너무 딱 맞게 그려지면, 모델이 아주 조금만 크게 예측해도 IoU(교집합/합집합) 점수가 크게 떨어짐. 이는 특히 mAP50-95 같은 엄격한 지표에서 성능 하락의 주원인이 됨.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6448349" y="5166360"/>
            <a:ext cx="5072177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"적정 여유 공간"을 가진 BBox로 조정하면 IoU 안정성이 높아져 mAP50-95 회복 가능. 클래스 분류 정확도는 이미 확보되었으므로, 위치 정밀도 튜닝이 다음 과제임.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571500" y="6505956"/>
            <a:ext cx="21342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PillPal Project - Data/Label Challenges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11033150" y="6505956"/>
            <a:ext cx="6766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14/18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571500" y="1299362"/>
            <a:ext cx="3486607" cy="3047695"/>
          </a:xfrm>
          <a:prstGeom prst="roundRect">
            <a:avLst>
              <a:gd name="adj" fmla="val 112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09244" y="1537106"/>
            <a:ext cx="895198" cy="228600"/>
          </a:xfrm>
          <a:prstGeom prst="roundRect">
            <a:avLst>
              <a:gd name="adj" fmla="val 400000"/>
            </a:avLst>
          </a:prstGeom>
          <a:solidFill>
            <a:srgbClr val="FEE2E2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923544" y="1565453"/>
            <a:ext cx="7525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1. 문제</a:t>
            </a:r>
            <a:endParaRPr lang="en-US" sz="9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622853" y="1537106"/>
            <a:ext cx="190195" cy="190195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809244" y="1908353"/>
            <a:ext cx="12481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클래스 불일치</a:t>
            </a:r>
            <a:endParaRPr lang="en-US" sz="1500" dirty="0"/>
          </a:p>
        </p:txBody>
      </p:sp>
      <p:sp>
        <p:nvSpPr>
          <p:cNvPr id="25" name="Shape 20"/>
          <p:cNvSpPr/>
          <p:nvPr/>
        </p:nvSpPr>
        <p:spPr>
          <a:xfrm>
            <a:off x="809244" y="2261311"/>
            <a:ext cx="3010205" cy="1772107"/>
          </a:xfrm>
          <a:prstGeom prst="roundRect">
            <a:avLst>
              <a:gd name="adj" fmla="val 2219"/>
            </a:avLst>
          </a:prstGeom>
          <a:solidFill>
            <a:srgbClr val="F9FAFB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1119226" y="2675534"/>
            <a:ext cx="3621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</a:t>
            </a:r>
            <a:endParaRPr lang="en-US" sz="900" dirty="0"/>
          </a:p>
        </p:txBody>
      </p:sp>
      <p:sp>
        <p:nvSpPr>
          <p:cNvPr id="27" name="Text 22"/>
          <p:cNvSpPr txBox="1"/>
          <p:nvPr/>
        </p:nvSpPr>
        <p:spPr>
          <a:xfrm>
            <a:off x="1114654" y="2818181"/>
            <a:ext cx="4572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56</a:t>
            </a:r>
            <a:endParaRPr lang="en-US" sz="1800" dirty="0"/>
          </a:p>
        </p:txBody>
      </p:sp>
      <p:sp>
        <p:nvSpPr>
          <p:cNvPr id="28" name="Text 23"/>
          <p:cNvSpPr txBox="1"/>
          <p:nvPr/>
        </p:nvSpPr>
        <p:spPr>
          <a:xfrm>
            <a:off x="2244852" y="2818181"/>
            <a:ext cx="2340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≠</a:t>
            </a:r>
            <a:endParaRPr lang="en-US" sz="1000" dirty="0"/>
          </a:p>
        </p:txBody>
      </p:sp>
      <p:sp>
        <p:nvSpPr>
          <p:cNvPr id="29" name="Text 24"/>
          <p:cNvSpPr txBox="1"/>
          <p:nvPr/>
        </p:nvSpPr>
        <p:spPr>
          <a:xfrm>
            <a:off x="3260750" y="2675534"/>
            <a:ext cx="305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</a:t>
            </a:r>
            <a:endParaRPr lang="en-US" sz="900" dirty="0"/>
          </a:p>
        </p:txBody>
      </p:sp>
      <p:sp>
        <p:nvSpPr>
          <p:cNvPr id="30" name="Text 25"/>
          <p:cNvSpPr txBox="1"/>
          <p:nvPr/>
        </p:nvSpPr>
        <p:spPr>
          <a:xfrm>
            <a:off x="3229661" y="2818181"/>
            <a:ext cx="4572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74</a:t>
            </a:r>
            <a:endParaRPr lang="en-US" sz="1800" dirty="0"/>
          </a:p>
        </p:txBody>
      </p:sp>
      <p:sp>
        <p:nvSpPr>
          <p:cNvPr id="31" name="Shape 26"/>
          <p:cNvSpPr/>
          <p:nvPr/>
        </p:nvSpPr>
        <p:spPr>
          <a:xfrm>
            <a:off x="961949" y="3218688"/>
            <a:ext cx="270479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1580083" y="3294583"/>
            <a:ext cx="15526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데이터에는 없는 클래스가</a:t>
            </a:r>
            <a:endParaRPr lang="en-US" sz="900" dirty="0"/>
          </a:p>
        </p:txBody>
      </p:sp>
      <p:sp>
        <p:nvSpPr>
          <p:cNvPr id="33" name="Text 28"/>
          <p:cNvSpPr txBox="1"/>
          <p:nvPr/>
        </p:nvSpPr>
        <p:spPr>
          <a:xfrm>
            <a:off x="1805940" y="3447288"/>
            <a:ext cx="11055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테스트셋에 다수 존재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4356202" y="1299362"/>
            <a:ext cx="3486607" cy="3047695"/>
          </a:xfrm>
          <a:prstGeom prst="roundRect">
            <a:avLst>
              <a:gd name="adj" fmla="val 112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35" name="Text 30"/>
          <p:cNvSpPr txBox="1"/>
          <p:nvPr/>
        </p:nvSpPr>
        <p:spPr>
          <a:xfrm>
            <a:off x="4708246" y="1565453"/>
            <a:ext cx="7525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2. 해결</a:t>
            </a:r>
            <a:endParaRPr lang="en-US" sz="900" dirty="0"/>
          </a:p>
        </p:txBody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407554" y="1537106"/>
            <a:ext cx="190195" cy="190195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4593946" y="1908353"/>
            <a:ext cx="10771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셀프 라벨링</a:t>
            </a:r>
            <a:endParaRPr lang="en-US" sz="1500" dirty="0"/>
          </a:p>
        </p:txBody>
      </p:sp>
      <p:sp>
        <p:nvSpPr>
          <p:cNvPr id="38" name="Text 32"/>
          <p:cNvSpPr txBox="1"/>
          <p:nvPr/>
        </p:nvSpPr>
        <p:spPr>
          <a:xfrm>
            <a:off x="4746650" y="2746858"/>
            <a:ext cx="21479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이미지명/메타 데이터 기반 매핑 구축</a:t>
            </a:r>
            <a:endParaRPr lang="en-US" sz="1000" dirty="0"/>
          </a:p>
        </p:txBody>
      </p:sp>
      <p:sp>
        <p:nvSpPr>
          <p:cNvPr id="39" name="Text 33"/>
          <p:cNvSpPr txBox="1"/>
          <p:nvPr/>
        </p:nvSpPr>
        <p:spPr>
          <a:xfrm>
            <a:off x="4746650" y="3051353"/>
            <a:ext cx="20336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18개 신규 클래스 추가 라벨링 진행</a:t>
            </a:r>
            <a:endParaRPr lang="en-US" sz="1000" dirty="0"/>
          </a:p>
        </p:txBody>
      </p:sp>
      <p:sp>
        <p:nvSpPr>
          <p:cNvPr id="40" name="Text 34"/>
          <p:cNvSpPr txBox="1"/>
          <p:nvPr/>
        </p:nvSpPr>
        <p:spPr>
          <a:xfrm>
            <a:off x="4746650" y="3356762"/>
            <a:ext cx="16340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74개 클래스로 확장 완료</a:t>
            </a:r>
            <a:endParaRPr lang="en-US" sz="1000" dirty="0"/>
          </a:p>
        </p:txBody>
      </p:sp>
      <p:sp>
        <p:nvSpPr>
          <p:cNvPr id="41" name="Shape 35"/>
          <p:cNvSpPr/>
          <p:nvPr/>
        </p:nvSpPr>
        <p:spPr>
          <a:xfrm>
            <a:off x="8140903" y="1299362"/>
            <a:ext cx="3486607" cy="3047695"/>
          </a:xfrm>
          <a:prstGeom prst="roundRect">
            <a:avLst>
              <a:gd name="adj" fmla="val 112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2" name="Text 36"/>
          <p:cNvSpPr txBox="1"/>
          <p:nvPr/>
        </p:nvSpPr>
        <p:spPr>
          <a:xfrm>
            <a:off x="8492947" y="1565453"/>
            <a:ext cx="11055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3. 새로운 문제</a:t>
            </a:r>
            <a:endParaRPr lang="en-US" sz="900" dirty="0"/>
          </a:p>
        </p:txBody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1192256" y="1537106"/>
            <a:ext cx="190195" cy="190195"/>
          </a:xfrm>
          <a:prstGeom prst="rect">
            <a:avLst/>
          </a:prstGeom>
        </p:spPr>
      </p:pic>
      <p:sp>
        <p:nvSpPr>
          <p:cNvPr id="44" name="Text 37"/>
          <p:cNvSpPr txBox="1"/>
          <p:nvPr/>
        </p:nvSpPr>
        <p:spPr>
          <a:xfrm>
            <a:off x="8378647" y="1908353"/>
            <a:ext cx="17145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BBox Tight Issue</a:t>
            </a:r>
            <a:endParaRPr lang="en-US" sz="1500" dirty="0"/>
          </a:p>
        </p:txBody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>
            <a:alphaModFix amt="20000"/>
          </a:blip>
          <a:srcRect l="-469" r="-469" t="0" b="0"/>
          <a:stretch/>
        </p:blipFill>
        <p:spPr>
          <a:xfrm>
            <a:off x="10801807" y="2370125"/>
            <a:ext cx="504749" cy="571500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8531352" y="2413102"/>
            <a:ext cx="10241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IoU 민감도 증가</a:t>
            </a:r>
            <a:endParaRPr lang="en-US" sz="1000" dirty="0"/>
          </a:p>
        </p:txBody>
      </p:sp>
      <p:sp>
        <p:nvSpPr>
          <p:cNvPr id="47" name="Text 39"/>
          <p:cNvSpPr txBox="1"/>
          <p:nvPr/>
        </p:nvSpPr>
        <p:spPr>
          <a:xfrm>
            <a:off x="8531352" y="2689250"/>
            <a:ext cx="273405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라벨링된 박스가 너무 "타이트"하게 그려져서, 예측이 조금만 벗어나도 IoU가 급격히 하락함</a:t>
            </a:r>
            <a:endParaRPr lang="en-US" sz="900" dirty="0"/>
          </a:p>
        </p:txBody>
      </p:sp>
      <p:sp>
        <p:nvSpPr>
          <p:cNvPr id="48" name="Shape 40"/>
          <p:cNvSpPr/>
          <p:nvPr/>
        </p:nvSpPr>
        <p:spPr>
          <a:xfrm>
            <a:off x="8531352" y="3165653"/>
            <a:ext cx="2704795" cy="418795"/>
          </a:xfrm>
          <a:prstGeom prst="roundRect">
            <a:avLst>
              <a:gd name="adj" fmla="val 19849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9" name="Text 41"/>
          <p:cNvSpPr txBox="1"/>
          <p:nvPr/>
        </p:nvSpPr>
        <p:spPr>
          <a:xfrm>
            <a:off x="8617306" y="3251606"/>
            <a:ext cx="14676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IoU Threshold Fail Risk ↑</a:t>
            </a:r>
            <a:endParaRPr lang="en-US" sz="900" dirty="0"/>
          </a:p>
        </p:txBody>
      </p:sp>
      <p:sp>
        <p:nvSpPr>
          <p:cNvPr id="50" name="Shape 42"/>
          <p:cNvSpPr/>
          <p:nvPr/>
        </p:nvSpPr>
        <p:spPr>
          <a:xfrm>
            <a:off x="8617306" y="3441802"/>
            <a:ext cx="2533802" cy="57607"/>
          </a:xfrm>
          <a:prstGeom prst="roundRect">
            <a:avLst>
              <a:gd name="adj" fmla="val 1587307"/>
            </a:avLst>
          </a:prstGeom>
          <a:solidFill>
            <a:srgbClr val="E5E7EB"/>
          </a:solidFill>
          <a:ln/>
        </p:spPr>
      </p:sp>
      <p:sp>
        <p:nvSpPr>
          <p:cNvPr id="51" name="Shape 43"/>
          <p:cNvSpPr/>
          <p:nvPr/>
        </p:nvSpPr>
        <p:spPr>
          <a:xfrm>
            <a:off x="8617306" y="3441802"/>
            <a:ext cx="2152498" cy="57607"/>
          </a:xfrm>
          <a:prstGeom prst="roundRect">
            <a:avLst>
              <a:gd name="adj" fmla="val 1587307"/>
            </a:avLst>
          </a:prstGeom>
          <a:solidFill>
            <a:srgbClr val="F87171"/>
          </a:solidFill>
          <a:ln/>
        </p:spPr>
      </p:sp>
      <p:pic>
        <p:nvPicPr>
          <p:cNvPr id="5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80" b="-80"/>
          <a:stretch/>
        </p:blipFill>
        <p:spPr>
          <a:xfrm>
            <a:off x="4127602" y="2708453"/>
            <a:ext cx="142646" cy="228600"/>
          </a:xfrm>
          <a:prstGeom prst="rect">
            <a:avLst/>
          </a:prstGeom>
        </p:spPr>
      </p:pic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80" b="-80"/>
          <a:stretch/>
        </p:blipFill>
        <p:spPr>
          <a:xfrm>
            <a:off x="7912303" y="2708453"/>
            <a:ext cx="142646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Shape 3"/>
          <p:cNvSpPr/>
          <p:nvPr/>
        </p:nvSpPr>
        <p:spPr>
          <a:xfrm>
            <a:off x="571500" y="4162349"/>
            <a:ext cx="5410505" cy="2018995"/>
          </a:xfrm>
          <a:prstGeom prst="roundRect">
            <a:avLst>
              <a:gd name="adj" fmla="val 2564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1500" y="4162349"/>
            <a:ext cx="47549" cy="2018995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52805" y="4496105"/>
            <a:ext cx="171907" cy="171907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4"/>
          <a:srcRect l="0" r="0" t="-43" b="-43"/>
          <a:stretch/>
        </p:blipFill>
        <p:spPr>
          <a:xfrm>
            <a:off x="847649" y="4962449"/>
            <a:ext cx="133502" cy="152705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47649" y="5533949"/>
            <a:ext cx="152705" cy="152705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6210605" y="4162349"/>
            <a:ext cx="5410505" cy="2018995"/>
          </a:xfrm>
          <a:prstGeom prst="roundRect">
            <a:avLst>
              <a:gd name="adj" fmla="val 2564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6210605" y="4162349"/>
            <a:ext cx="47549" cy="20189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7"/>
          <p:cNvSpPr/>
          <p:nvPr/>
        </p:nvSpPr>
        <p:spPr>
          <a:xfrm>
            <a:off x="6486754" y="4441241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E0E7FF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/>
          <a:srcRect l="-1773" r="-1773" t="0" b="0"/>
          <a:stretch/>
        </p:blipFill>
        <p:spPr>
          <a:xfrm>
            <a:off x="6610198" y="4545482"/>
            <a:ext cx="133502" cy="171907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486754" y="5522062"/>
            <a:ext cx="19202" cy="381305"/>
          </a:xfrm>
          <a:prstGeom prst="rect">
            <a:avLst/>
          </a:prstGeom>
          <a:solidFill>
            <a:srgbClr val="C7D2FE"/>
          </a:solidFill>
          <a:ln/>
        </p:spPr>
      </p:sp>
      <p:sp>
        <p:nvSpPr>
          <p:cNvPr id="15" name="Shape 9"/>
          <p:cNvSpPr/>
          <p:nvPr/>
        </p:nvSpPr>
        <p:spPr>
          <a:xfrm>
            <a:off x="571500" y="6334049"/>
            <a:ext cx="11048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6" name="Text 10"/>
          <p:cNvSpPr txBox="1"/>
          <p:nvPr/>
        </p:nvSpPr>
        <p:spPr>
          <a:xfrm>
            <a:off x="571500" y="342900"/>
            <a:ext cx="13716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SECTION 5 · INSIGHT</a:t>
            </a:r>
            <a:endParaRPr lang="en-US" sz="900" dirty="0"/>
          </a:p>
        </p:txBody>
      </p:sp>
      <p:sp>
        <p:nvSpPr>
          <p:cNvPr id="17" name="Text 11"/>
          <p:cNvSpPr txBox="1"/>
          <p:nvPr/>
        </p:nvSpPr>
        <p:spPr>
          <a:xfrm>
            <a:off x="571500" y="466344"/>
            <a:ext cx="428670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라벨링 후 mAP 하락의 해석</a:t>
            </a:r>
            <a:endParaRPr lang="en-US" sz="2700" dirty="0"/>
          </a:p>
        </p:txBody>
      </p:sp>
      <p:sp>
        <p:nvSpPr>
          <p:cNvPr id="18" name="Text 12"/>
          <p:cNvSpPr txBox="1"/>
          <p:nvPr/>
        </p:nvSpPr>
        <p:spPr>
          <a:xfrm>
            <a:off x="1343254" y="4438498"/>
            <a:ext cx="33247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역설: 점수는 떨어졌지만 더 똑똑해졌다?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095451" y="4924044"/>
            <a:ext cx="47055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Class 예측 오류는 1.9%에 불과 (16/843) → 알약의 종류는 거의 완벽하게 구분함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1114654" y="5495544"/>
            <a:ext cx="468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Tight BBox로 인한 IoU 패널티 → 박스가 너무 '딱 맞게' 그려져서, 정답과 미세하게 어긋나도 점수 하락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6981444" y="4488790"/>
            <a:ext cx="28575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메타 질문 (Meta Question)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486754" y="4965192"/>
            <a:ext cx="28337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730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"지표가 바뀌면(Accuracy vs mAP),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6486754" y="5201107"/>
            <a:ext cx="24816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730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우리가 최적화한 대상도 바뀐다."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6657746" y="5522062"/>
            <a:ext cx="477682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우리는 "박스를 예쁘게 그리는 것"보다 "어떤 약인지 맞추는 것"을 우선순위에 두었기에, mAP 하락을 감수하고 Class 정확도를 선택했습니다.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571500" y="6409944"/>
            <a:ext cx="13716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PillPal Project - Analysis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11033150" y="6409944"/>
            <a:ext cx="6766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15/18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9112910" y="629107"/>
            <a:ext cx="26435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Class Accuracy vs IoU Sensitivity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571500" y="1190549"/>
            <a:ext cx="2590495" cy="2743200"/>
          </a:xfrm>
          <a:prstGeom prst="roundRect">
            <a:avLst>
              <a:gd name="adj" fmla="val 207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29" name="Text 23"/>
          <p:cNvSpPr txBox="1"/>
          <p:nvPr/>
        </p:nvSpPr>
        <p:spPr>
          <a:xfrm>
            <a:off x="1289304" y="1476756"/>
            <a:ext cx="1262786" cy="19111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000" b="1">
                <a:solidFill>
                  <a:srgbClr val="6b7280"/>
                </a:solidFill>
                <a:latin typeface="Noto Sans KR"/>
                <a:ea typeface="Noto Sans KR"/>
                <a:cs typeface="Noto Sans KR"/>
              </a:rPr>
              <a:t>VALIDATION MAP</a:t>
            </a:r>
            <a:endParaRPr lang="en-US" sz="1000"/>
          </a:p>
        </p:txBody>
      </p:sp>
      <p:sp>
        <p:nvSpPr>
          <p:cNvPr id="30" name="Text 24"/>
          <p:cNvSpPr txBox="1"/>
          <p:nvPr/>
        </p:nvSpPr>
        <p:spPr>
          <a:xfrm>
            <a:off x="1310792" y="1714500"/>
            <a:ext cx="1219810" cy="49560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2700" b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0.776</a:t>
            </a:r>
            <a:endParaRPr lang="en-US" sz="270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1388973" y="2256739"/>
            <a:ext cx="952805" cy="952805"/>
          </a:xfrm>
          <a:prstGeom prst="rect">
            <a:avLst/>
          </a:prstGeom>
        </p:spPr>
      </p:pic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8"/>
          <a:srcRect l="-133" r="-133" t="0" b="0"/>
          <a:stretch/>
        </p:blipFill>
        <p:spPr>
          <a:xfrm>
            <a:off x="1217981" y="3481121"/>
            <a:ext cx="85954" cy="11430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1342339" y="3448202"/>
            <a:ext cx="12673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Pre-labeling 대비 하락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3390595" y="1190549"/>
            <a:ext cx="2590495" cy="2743200"/>
          </a:xfrm>
          <a:prstGeom prst="roundRect">
            <a:avLst>
              <a:gd name="adj" fmla="val 207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35" name="Text 27"/>
          <p:cNvSpPr txBox="1"/>
          <p:nvPr/>
        </p:nvSpPr>
        <p:spPr>
          <a:xfrm>
            <a:off x="4096512" y="1476756"/>
            <a:ext cx="12819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CLASS ACCURACY</a:t>
            </a:r>
            <a:endParaRPr lang="en-US" sz="1000" dirty="0"/>
          </a:p>
        </p:txBody>
      </p:sp>
      <p:sp>
        <p:nvSpPr>
          <p:cNvPr id="36" name="Text 28"/>
          <p:cNvSpPr txBox="1"/>
          <p:nvPr/>
        </p:nvSpPr>
        <p:spPr>
          <a:xfrm>
            <a:off x="4143146" y="1647749"/>
            <a:ext cx="13432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98.1%</a:t>
            </a:r>
            <a:endParaRPr lang="en-US" sz="2700" dirty="0"/>
          </a:p>
        </p:txBody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4209898" y="2276856"/>
            <a:ext cx="952805" cy="952805"/>
          </a:xfrm>
          <a:prstGeom prst="rect">
            <a:avLst/>
          </a:prstGeom>
        </p:spPr>
      </p:pic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10"/>
          <a:srcRect l="-2571" r="-2571" t="0" b="0"/>
          <a:stretch/>
        </p:blipFill>
        <p:spPr>
          <a:xfrm>
            <a:off x="4214470" y="3481121"/>
            <a:ext cx="105156" cy="114300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4357116" y="3448202"/>
            <a:ext cx="8961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 신뢰도 상승</a:t>
            </a:r>
            <a:endParaRPr lang="en-US" sz="900" dirty="0"/>
          </a:p>
        </p:txBody>
      </p:sp>
      <p:sp>
        <p:nvSpPr>
          <p:cNvPr id="40" name="Shape 30"/>
          <p:cNvSpPr/>
          <p:nvPr/>
        </p:nvSpPr>
        <p:spPr>
          <a:xfrm>
            <a:off x="6210605" y="1190549"/>
            <a:ext cx="2590495" cy="2743200"/>
          </a:xfrm>
          <a:prstGeom prst="roundRect">
            <a:avLst>
              <a:gd name="adj" fmla="val 207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1" name="Text 31"/>
          <p:cNvSpPr txBox="1"/>
          <p:nvPr/>
        </p:nvSpPr>
        <p:spPr>
          <a:xfrm>
            <a:off x="6816852" y="1390802"/>
            <a:ext cx="14813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TOTAL TEST IMAGES</a:t>
            </a:r>
            <a:endParaRPr lang="en-US" sz="1000" dirty="0"/>
          </a:p>
        </p:txBody>
      </p:sp>
      <p:sp>
        <p:nvSpPr>
          <p:cNvPr id="42" name="Shape 32"/>
          <p:cNvSpPr/>
          <p:nvPr/>
        </p:nvSpPr>
        <p:spPr>
          <a:xfrm>
            <a:off x="7029907" y="2229307"/>
            <a:ext cx="952805" cy="952805"/>
          </a:xfrm>
          <a:prstGeom prst="ellipse">
            <a:avLst/>
          </a:prstGeom>
          <a:solidFill>
            <a:srgbClr val="f3f4f6"/>
          </a:solidFill>
          <a:ln/>
        </p:spPr>
      </p:sp>
      <p:pic>
        <p:nvPicPr>
          <p:cNvPr id="43" name="Image 8" descr="preencoded.png"/>
          <p:cNvPicPr>
            <a:picLocks noChangeAspect="1"/>
          </p:cNvPicPr>
          <p:nvPr/>
        </p:nvPicPr>
        <p:blipFill rotWithShape="1">
          <a:blip r:embed="rId11"/>
          <a:srcRect l="-266" r="-266"/>
          <a:stretch>
            <a:fillRect/>
          </a:stretch>
        </p:blipFill>
        <p:spPr>
          <a:xfrm>
            <a:off x="7343546" y="2562149"/>
            <a:ext cx="323698" cy="286207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7062368" y="3257550"/>
            <a:ext cx="886054" cy="49560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2700" b="1">
                <a:solidFill>
                  <a:srgbClr val="374151"/>
                </a:solidFill>
                <a:latin typeface="Noto Sans KR"/>
                <a:ea typeface="Noto Sans KR"/>
                <a:cs typeface="Noto Sans KR"/>
              </a:rPr>
              <a:t>843</a:t>
            </a:r>
            <a:endParaRPr lang="en-US" sz="2700"/>
          </a:p>
        </p:txBody>
      </p:sp>
      <p:sp>
        <p:nvSpPr>
          <p:cNvPr id="45" name="Shape 34"/>
          <p:cNvSpPr/>
          <p:nvPr/>
        </p:nvSpPr>
        <p:spPr>
          <a:xfrm>
            <a:off x="9029700" y="1190549"/>
            <a:ext cx="2590495" cy="2743200"/>
          </a:xfrm>
          <a:prstGeom prst="roundRect">
            <a:avLst>
              <a:gd name="adj" fmla="val 207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6" name="Text 35"/>
          <p:cNvSpPr txBox="1"/>
          <p:nvPr/>
        </p:nvSpPr>
        <p:spPr>
          <a:xfrm>
            <a:off x="9667037" y="1390802"/>
            <a:ext cx="14246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CATEGORY ERRORS</a:t>
            </a:r>
            <a:endParaRPr lang="en-US" sz="1000" dirty="0"/>
          </a:p>
        </p:txBody>
      </p:sp>
      <p:sp>
        <p:nvSpPr>
          <p:cNvPr id="47" name="Shape 36"/>
          <p:cNvSpPr/>
          <p:nvPr/>
        </p:nvSpPr>
        <p:spPr>
          <a:xfrm>
            <a:off x="9849002" y="2229307"/>
            <a:ext cx="952805" cy="952805"/>
          </a:xfrm>
          <a:prstGeom prst="ellipse">
            <a:avLst/>
          </a:prstGeom>
          <a:solidFill>
            <a:srgbClr val="F3F4F6"/>
          </a:solidFill>
          <a:ln/>
        </p:spPr>
      </p:sp>
      <p:pic>
        <p:nvPicPr>
          <p:cNvPr id="48" name="Image 9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10181844" y="2562149"/>
            <a:ext cx="286207" cy="286207"/>
          </a:xfrm>
          <a:prstGeom prst="rect">
            <a:avLst/>
          </a:prstGeom>
        </p:spPr>
      </p:pic>
      <p:sp>
        <p:nvSpPr>
          <p:cNvPr id="49" name="Text 37"/>
          <p:cNvSpPr txBox="1"/>
          <p:nvPr/>
        </p:nvSpPr>
        <p:spPr>
          <a:xfrm>
            <a:off x="9987076" y="3362249"/>
            <a:ext cx="676656" cy="49560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2700" b="1">
                <a:solidFill>
                  <a:srgbClr val="3b82f6"/>
                </a:solidFill>
                <a:latin typeface="Noto Sans KR"/>
                <a:ea typeface="Noto Sans KR"/>
                <a:cs typeface="Noto Sans KR"/>
              </a:rPr>
              <a:t>16</a:t>
            </a:r>
            <a:endParaRPr lang="en-US" sz="27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Shape 3"/>
          <p:cNvSpPr/>
          <p:nvPr/>
        </p:nvSpPr>
        <p:spPr>
          <a:xfrm>
            <a:off x="9743846" y="362102"/>
            <a:ext cx="1876349" cy="267005"/>
          </a:xfrm>
          <a:prstGeom prst="roundRect">
            <a:avLst>
              <a:gd name="adj" fmla="val 48924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71500" y="1104595"/>
            <a:ext cx="11048695" cy="2305202"/>
          </a:xfrm>
          <a:prstGeom prst="roundRect">
            <a:avLst>
              <a:gd name="adj" fmla="val 1967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-1064" r="-1064" t="0" b="0"/>
          <a:stretch/>
        </p:blipFill>
        <p:spPr>
          <a:xfrm>
            <a:off x="809244" y="1390802"/>
            <a:ext cx="219456" cy="17190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04595" y="1343254"/>
            <a:ext cx="165323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흐름 아키텍처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71500" y="3638398"/>
            <a:ext cx="11048695" cy="2562149"/>
          </a:xfrm>
          <a:prstGeom prst="roundRect">
            <a:avLst>
              <a:gd name="adj" fmla="val 159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9244" y="3924605"/>
            <a:ext cx="171907" cy="17190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57046" y="3877056"/>
            <a:ext cx="183428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경험 (UX Flow)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71500" y="6429146"/>
            <a:ext cx="11048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571500" y="219456"/>
            <a:ext cx="13716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SECTION 5 · SERVICE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571500" y="381305"/>
            <a:ext cx="595823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서빙 &amp; UI: Next.js + FastAPI + Genkit 연결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9858146" y="400507"/>
            <a:ext cx="17483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Serving Architecture &amp; UX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571500" y="6505956"/>
            <a:ext cx="20098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PillPal Project - Service Architecture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11033150" y="6505956"/>
            <a:ext cx="6766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16/18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2771546" y="2505456"/>
            <a:ext cx="286207" cy="1920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9" name="Shape 15"/>
          <p:cNvSpPr/>
          <p:nvPr/>
        </p:nvSpPr>
        <p:spPr>
          <a:xfrm>
            <a:off x="4886554" y="2505456"/>
            <a:ext cx="286207" cy="1920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0" name="Shape 16"/>
          <p:cNvSpPr/>
          <p:nvPr/>
        </p:nvSpPr>
        <p:spPr>
          <a:xfrm>
            <a:off x="7000646" y="2505456"/>
            <a:ext cx="286207" cy="1920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1" name="Shape 17"/>
          <p:cNvSpPr/>
          <p:nvPr/>
        </p:nvSpPr>
        <p:spPr>
          <a:xfrm>
            <a:off x="9115654" y="2505456"/>
            <a:ext cx="286207" cy="1920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2" name="Shape 18"/>
          <p:cNvSpPr/>
          <p:nvPr/>
        </p:nvSpPr>
        <p:spPr>
          <a:xfrm>
            <a:off x="809244" y="4371746"/>
            <a:ext cx="2476195" cy="1533449"/>
          </a:xfrm>
          <a:prstGeom prst="roundRect">
            <a:avLst>
              <a:gd name="adj" fmla="val 2963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009498" y="457200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3B82F6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1089965" y="4610405"/>
            <a:ext cx="1627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1314907" y="4591202"/>
            <a:ext cx="8814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 업로드</a:t>
            </a:r>
            <a:endParaRPr lang="en-US" sz="1000" dirty="0"/>
          </a:p>
        </p:txBody>
      </p:sp>
      <p:sp>
        <p:nvSpPr>
          <p:cNvPr id="26" name="Text 22"/>
          <p:cNvSpPr txBox="1"/>
          <p:nvPr/>
        </p:nvSpPr>
        <p:spPr>
          <a:xfrm>
            <a:off x="1009498" y="4924044"/>
            <a:ext cx="2115007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사용자가 알약 사진을 촬영하거나 갤러리에서 선택하여 업로드</a:t>
            </a:r>
            <a:endParaRPr lang="en-US" sz="90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795321" y="5400446"/>
            <a:ext cx="286207" cy="286207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3510382" y="4371746"/>
            <a:ext cx="2476195" cy="1533449"/>
          </a:xfrm>
          <a:prstGeom prst="roundRect">
            <a:avLst>
              <a:gd name="adj" fmla="val 2963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3790188" y="4610405"/>
            <a:ext cx="1627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900" dirty="0"/>
          </a:p>
        </p:txBody>
      </p:sp>
      <p:sp>
        <p:nvSpPr>
          <p:cNvPr id="30" name="Text 25"/>
          <p:cNvSpPr txBox="1"/>
          <p:nvPr/>
        </p:nvSpPr>
        <p:spPr>
          <a:xfrm>
            <a:off x="4015130" y="4591202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알약 식별</a:t>
            </a:r>
            <a:endParaRPr lang="en-US" sz="1000" dirty="0"/>
          </a:p>
        </p:txBody>
      </p:sp>
      <p:sp>
        <p:nvSpPr>
          <p:cNvPr id="31" name="Text 26"/>
          <p:cNvSpPr txBox="1"/>
          <p:nvPr/>
        </p:nvSpPr>
        <p:spPr>
          <a:xfrm>
            <a:off x="3709721" y="4924044"/>
            <a:ext cx="2115007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YOLO 모델이 알약의 종류와 특징을 실시간으로 분석</a:t>
            </a:r>
            <a:endParaRPr lang="en-US" sz="9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495544" y="5400446"/>
            <a:ext cx="286207" cy="286207"/>
          </a:xfrm>
          <a:prstGeom prst="rect">
            <a:avLst/>
          </a:prstGeom>
        </p:spPr>
      </p:pic>
      <p:sp>
        <p:nvSpPr>
          <p:cNvPr id="33" name="Shape 27"/>
          <p:cNvSpPr/>
          <p:nvPr/>
        </p:nvSpPr>
        <p:spPr>
          <a:xfrm>
            <a:off x="6210605" y="4371746"/>
            <a:ext cx="2476195" cy="1533449"/>
          </a:xfrm>
          <a:prstGeom prst="roundRect">
            <a:avLst>
              <a:gd name="adj" fmla="val 2963"/>
            </a:avLst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6409944" y="457200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6366F1"/>
          </a:solidFill>
          <a:ln/>
        </p:spPr>
      </p:sp>
      <p:sp>
        <p:nvSpPr>
          <p:cNvPr id="35" name="Text 29"/>
          <p:cNvSpPr txBox="1"/>
          <p:nvPr/>
        </p:nvSpPr>
        <p:spPr>
          <a:xfrm>
            <a:off x="6490411" y="4610405"/>
            <a:ext cx="1627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900" dirty="0"/>
          </a:p>
        </p:txBody>
      </p:sp>
      <p:sp>
        <p:nvSpPr>
          <p:cNvPr id="36" name="Text 30"/>
          <p:cNvSpPr txBox="1"/>
          <p:nvPr/>
        </p:nvSpPr>
        <p:spPr>
          <a:xfrm>
            <a:off x="6715354" y="4591202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12E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 제공</a:t>
            </a:r>
            <a:endParaRPr lang="en-US" sz="1000" dirty="0"/>
          </a:p>
        </p:txBody>
      </p:sp>
      <p:sp>
        <p:nvSpPr>
          <p:cNvPr id="37" name="Text 31"/>
          <p:cNvSpPr txBox="1"/>
          <p:nvPr/>
        </p:nvSpPr>
        <p:spPr>
          <a:xfrm>
            <a:off x="6409944" y="4924044"/>
            <a:ext cx="207660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30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Genkit이 전문 의약 정보를 이해하기 쉬운 한글로 가공하여 제공</a:t>
            </a:r>
            <a:endParaRPr lang="en-US" sz="900" dirty="0"/>
          </a:p>
        </p:txBody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530" b="-530"/>
          <a:stretch/>
        </p:blipFill>
        <p:spPr>
          <a:xfrm>
            <a:off x="8234172" y="5400446"/>
            <a:ext cx="247802" cy="286207"/>
          </a:xfrm>
          <a:prstGeom prst="rect">
            <a:avLst/>
          </a:prstGeom>
        </p:spPr>
      </p:pic>
      <p:sp>
        <p:nvSpPr>
          <p:cNvPr id="39" name="Shape 32"/>
          <p:cNvSpPr/>
          <p:nvPr/>
        </p:nvSpPr>
        <p:spPr>
          <a:xfrm>
            <a:off x="8910828" y="4371746"/>
            <a:ext cx="2476195" cy="1533449"/>
          </a:xfrm>
          <a:prstGeom prst="roundRect">
            <a:avLst>
              <a:gd name="adj" fmla="val 2963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9111082" y="457200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0B981"/>
          </a:solidFill>
          <a:ln/>
        </p:spPr>
      </p:sp>
      <p:sp>
        <p:nvSpPr>
          <p:cNvPr id="41" name="Text 34"/>
          <p:cNvSpPr txBox="1"/>
          <p:nvPr/>
        </p:nvSpPr>
        <p:spPr>
          <a:xfrm>
            <a:off x="9191549" y="4610405"/>
            <a:ext cx="1627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900" dirty="0"/>
          </a:p>
        </p:txBody>
      </p:sp>
      <p:sp>
        <p:nvSpPr>
          <p:cNvPr id="42" name="Text 35"/>
          <p:cNvSpPr txBox="1"/>
          <p:nvPr/>
        </p:nvSpPr>
        <p:spPr>
          <a:xfrm>
            <a:off x="9415577" y="4591202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4E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복약 알림</a:t>
            </a:r>
            <a:endParaRPr lang="en-US" sz="1000" dirty="0"/>
          </a:p>
        </p:txBody>
      </p:sp>
      <p:sp>
        <p:nvSpPr>
          <p:cNvPr id="43" name="Text 36"/>
          <p:cNvSpPr txBox="1"/>
          <p:nvPr/>
        </p:nvSpPr>
        <p:spPr>
          <a:xfrm>
            <a:off x="9111082" y="4924044"/>
            <a:ext cx="203911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복약 기간 및 시간대를 설정하여 스마트한 알림 스케줄 생성</a:t>
            </a:r>
            <a:endParaRPr lang="en-US" sz="900" dirty="0"/>
          </a:p>
        </p:txBody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530" b="-530"/>
          <a:stretch/>
        </p:blipFill>
        <p:spPr>
          <a:xfrm>
            <a:off x="10934395" y="5400446"/>
            <a:ext cx="247802" cy="286207"/>
          </a:xfrm>
          <a:prstGeom prst="rect">
            <a:avLst/>
          </a:prstGeom>
        </p:spPr>
      </p:pic>
      <p:sp>
        <p:nvSpPr>
          <p:cNvPr id="45" name="Shape 37"/>
          <p:cNvSpPr/>
          <p:nvPr/>
        </p:nvSpPr>
        <p:spPr>
          <a:xfrm>
            <a:off x="961949" y="1837944"/>
            <a:ext cx="1809598" cy="1333195"/>
          </a:xfrm>
          <a:prstGeom prst="roundRect">
            <a:avLst>
              <a:gd name="adj" fmla="val 587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6" name="Shape 38"/>
          <p:cNvSpPr/>
          <p:nvPr/>
        </p:nvSpPr>
        <p:spPr>
          <a:xfrm>
            <a:off x="1638605" y="2009851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3F4F6"/>
          </a:solidFill>
          <a:ln/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795882" y="2143354"/>
            <a:ext cx="142646" cy="190195"/>
          </a:xfrm>
          <a:prstGeom prst="rect">
            <a:avLst/>
          </a:prstGeom>
        </p:spPr>
      </p:pic>
      <p:sp>
        <p:nvSpPr>
          <p:cNvPr id="48" name="Text 39"/>
          <p:cNvSpPr txBox="1"/>
          <p:nvPr/>
        </p:nvSpPr>
        <p:spPr>
          <a:xfrm>
            <a:off x="1644091" y="2581351"/>
            <a:ext cx="5623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Client</a:t>
            </a:r>
            <a:endParaRPr lang="en-US" sz="1200" dirty="0"/>
          </a:p>
        </p:txBody>
      </p:sp>
      <p:sp>
        <p:nvSpPr>
          <p:cNvPr id="49" name="Text 40"/>
          <p:cNvSpPr txBox="1"/>
          <p:nvPr/>
        </p:nvSpPr>
        <p:spPr>
          <a:xfrm>
            <a:off x="1417320" y="2838298"/>
            <a:ext cx="9912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Camera / Gallery</a:t>
            </a:r>
            <a:endParaRPr lang="en-US" sz="900" dirty="0"/>
          </a:p>
        </p:txBody>
      </p:sp>
      <p:sp>
        <p:nvSpPr>
          <p:cNvPr id="50" name="Shape 41"/>
          <p:cNvSpPr/>
          <p:nvPr/>
        </p:nvSpPr>
        <p:spPr>
          <a:xfrm>
            <a:off x="3076956" y="1837944"/>
            <a:ext cx="1809598" cy="1333195"/>
          </a:xfrm>
          <a:prstGeom prst="roundRect">
            <a:avLst>
              <a:gd name="adj" fmla="val 587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51" name="Shape 42"/>
          <p:cNvSpPr/>
          <p:nvPr/>
        </p:nvSpPr>
        <p:spPr>
          <a:xfrm>
            <a:off x="3752698" y="1967789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3F4F6"/>
          </a:solidFill>
          <a:ln/>
        </p:spPr>
      </p:sp>
      <p:pic>
        <p:nvPicPr>
          <p:cNvPr id="52" name="Image 7" descr="preencoded.png">    </p:cNvPr>
          <p:cNvPicPr>
            <a:picLocks noChangeAspect="1"/>
          </p:cNvPicPr>
          <p:nvPr/>
        </p:nvPicPr>
        <p:blipFill>
          <a:blip r:embed="rId8"/>
          <a:srcRect l="-1648" r="-1648" t="0" b="0"/>
          <a:stretch/>
        </p:blipFill>
        <p:spPr>
          <a:xfrm>
            <a:off x="3895344" y="2101291"/>
            <a:ext cx="171907" cy="190195"/>
          </a:xfrm>
          <a:prstGeom prst="rect">
            <a:avLst/>
          </a:prstGeom>
        </p:spPr>
      </p:pic>
      <p:sp>
        <p:nvSpPr>
          <p:cNvPr id="53" name="Shape 43"/>
          <p:cNvSpPr/>
          <p:nvPr/>
        </p:nvSpPr>
        <p:spPr>
          <a:xfrm>
            <a:off x="3454603" y="2843784"/>
            <a:ext cx="1057046" cy="200254"/>
          </a:xfrm>
          <a:prstGeom prst="roundRect">
            <a:avLst>
              <a:gd name="adj" fmla="val 260926"/>
            </a:avLst>
          </a:prstGeom>
          <a:solidFill>
            <a:srgbClr val="E5E7EB"/>
          </a:solidFill>
          <a:ln/>
        </p:spPr>
      </p:sp>
      <p:sp>
        <p:nvSpPr>
          <p:cNvPr id="54" name="Text 44"/>
          <p:cNvSpPr txBox="1"/>
          <p:nvPr/>
        </p:nvSpPr>
        <p:spPr>
          <a:xfrm>
            <a:off x="3612794" y="2539289"/>
            <a:ext cx="857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Next.js 15</a:t>
            </a:r>
            <a:endParaRPr lang="en-US" sz="1200" dirty="0"/>
          </a:p>
        </p:txBody>
      </p:sp>
      <p:sp>
        <p:nvSpPr>
          <p:cNvPr id="55" name="Text 45"/>
          <p:cNvSpPr txBox="1"/>
          <p:nvPr/>
        </p:nvSpPr>
        <p:spPr>
          <a:xfrm>
            <a:off x="3530498" y="2862986"/>
            <a:ext cx="9857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SERVER ACTIONS</a:t>
            </a:r>
            <a:endParaRPr lang="en-US" sz="800" dirty="0"/>
          </a:p>
        </p:txBody>
      </p:sp>
      <p:sp>
        <p:nvSpPr>
          <p:cNvPr id="56" name="Shape 46"/>
          <p:cNvSpPr/>
          <p:nvPr/>
        </p:nvSpPr>
        <p:spPr>
          <a:xfrm>
            <a:off x="5191049" y="1837944"/>
            <a:ext cx="1809598" cy="1333195"/>
          </a:xfrm>
          <a:prstGeom prst="roundRect">
            <a:avLst>
              <a:gd name="adj" fmla="val 587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rcRect l="-1648" r="-1648" t="0" b="0"/>
          <a:stretch/>
        </p:blipFill>
        <p:spPr>
          <a:xfrm>
            <a:off x="6010351" y="2101291"/>
            <a:ext cx="171907" cy="190195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5817413" y="2539289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FastAPI</a:t>
            </a:r>
            <a:endParaRPr lang="en-US" sz="1200" dirty="0"/>
          </a:p>
        </p:txBody>
      </p:sp>
      <p:sp>
        <p:nvSpPr>
          <p:cNvPr id="59" name="Text 48"/>
          <p:cNvSpPr txBox="1"/>
          <p:nvPr/>
        </p:nvSpPr>
        <p:spPr>
          <a:xfrm>
            <a:off x="5610758" y="2862986"/>
            <a:ext cx="105247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 BACKEND</a:t>
            </a:r>
            <a:endParaRPr lang="en-US" sz="800" dirty="0"/>
          </a:p>
        </p:txBody>
      </p:sp>
      <p:sp>
        <p:nvSpPr>
          <p:cNvPr id="60" name="Shape 49"/>
          <p:cNvSpPr/>
          <p:nvPr/>
        </p:nvSpPr>
        <p:spPr>
          <a:xfrm>
            <a:off x="7306056" y="1837944"/>
            <a:ext cx="1809598" cy="1333195"/>
          </a:xfrm>
          <a:prstGeom prst="roundRect">
            <a:avLst>
              <a:gd name="adj" fmla="val 587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61" name="Shape 50"/>
          <p:cNvSpPr/>
          <p:nvPr/>
        </p:nvSpPr>
        <p:spPr>
          <a:xfrm>
            <a:off x="7981798" y="1967789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EFF6FF"/>
          </a:solidFill>
          <a:ln/>
        </p:spPr>
      </p:sp>
      <p:pic>
        <p:nvPicPr>
          <p:cNvPr id="62" name="Image 9" descr="preencoded.png">    </p:cNvPr>
          <p:cNvPicPr>
            <a:picLocks noChangeAspect="1"/>
          </p:cNvPicPr>
          <p:nvPr/>
        </p:nvPicPr>
        <p:blipFill>
          <a:blip r:embed="rId10"/>
          <a:srcRect l="-1282" r="-1282" t="0" b="0"/>
          <a:stretch/>
        </p:blipFill>
        <p:spPr>
          <a:xfrm>
            <a:off x="8100670" y="2101291"/>
            <a:ext cx="219456" cy="190195"/>
          </a:xfrm>
          <a:prstGeom prst="rect">
            <a:avLst/>
          </a:prstGeom>
        </p:spPr>
      </p:pic>
      <p:sp>
        <p:nvSpPr>
          <p:cNvPr id="63" name="Shape 51"/>
          <p:cNvSpPr/>
          <p:nvPr/>
        </p:nvSpPr>
        <p:spPr>
          <a:xfrm>
            <a:off x="7836408" y="2843784"/>
            <a:ext cx="752551" cy="200254"/>
          </a:xfrm>
          <a:prstGeom prst="roundRect">
            <a:avLst>
              <a:gd name="adj" fmla="val 260926"/>
            </a:avLst>
          </a:prstGeom>
          <a:solidFill>
            <a:srgbClr val="DBEAFE"/>
          </a:solidFill>
          <a:ln/>
        </p:spPr>
      </p:sp>
      <p:sp>
        <p:nvSpPr>
          <p:cNvPr id="64" name="Text 52"/>
          <p:cNvSpPr txBox="1"/>
          <p:nvPr/>
        </p:nvSpPr>
        <p:spPr>
          <a:xfrm>
            <a:off x="7848295" y="2539289"/>
            <a:ext cx="8385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YOLO 추론</a:t>
            </a:r>
            <a:endParaRPr lang="en-US" sz="1200" dirty="0"/>
          </a:p>
        </p:txBody>
      </p:sp>
      <p:sp>
        <p:nvSpPr>
          <p:cNvPr id="65" name="Text 53"/>
          <p:cNvSpPr txBox="1"/>
          <p:nvPr/>
        </p:nvSpPr>
        <p:spPr>
          <a:xfrm>
            <a:off x="7912303" y="2862986"/>
            <a:ext cx="68031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INFERENCE</a:t>
            </a:r>
            <a:endParaRPr lang="en-US" sz="800" dirty="0"/>
          </a:p>
        </p:txBody>
      </p:sp>
      <p:sp>
        <p:nvSpPr>
          <p:cNvPr id="66" name="Shape 54"/>
          <p:cNvSpPr/>
          <p:nvPr/>
        </p:nvSpPr>
        <p:spPr>
          <a:xfrm>
            <a:off x="9420149" y="1837944"/>
            <a:ext cx="1809598" cy="1333195"/>
          </a:xfrm>
          <a:prstGeom prst="roundRect">
            <a:avLst>
              <a:gd name="adj" fmla="val 587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67" name="Shape 55"/>
          <p:cNvSpPr/>
          <p:nvPr/>
        </p:nvSpPr>
        <p:spPr>
          <a:xfrm>
            <a:off x="10096805" y="1967789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EEF2FF"/>
          </a:solidFill>
          <a:ln/>
        </p:spPr>
      </p:sp>
      <p:pic>
        <p:nvPicPr>
          <p:cNvPr id="68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10230307" y="2101291"/>
            <a:ext cx="190195" cy="190195"/>
          </a:xfrm>
          <a:prstGeom prst="rect">
            <a:avLst/>
          </a:prstGeom>
        </p:spPr>
      </p:pic>
      <p:sp>
        <p:nvSpPr>
          <p:cNvPr id="69" name="Shape 56"/>
          <p:cNvSpPr/>
          <p:nvPr/>
        </p:nvSpPr>
        <p:spPr>
          <a:xfrm>
            <a:off x="9784994" y="2843784"/>
            <a:ext cx="1086307" cy="200254"/>
          </a:xfrm>
          <a:prstGeom prst="roundRect">
            <a:avLst>
              <a:gd name="adj" fmla="val 260926"/>
            </a:avLst>
          </a:prstGeom>
          <a:solidFill>
            <a:srgbClr val="E0E7FF"/>
          </a:solidFill>
          <a:ln/>
        </p:spPr>
      </p:sp>
      <p:sp>
        <p:nvSpPr>
          <p:cNvPr id="70" name="Text 57"/>
          <p:cNvSpPr txBox="1"/>
          <p:nvPr/>
        </p:nvSpPr>
        <p:spPr>
          <a:xfrm>
            <a:off x="10075774" y="2539289"/>
            <a:ext cx="6199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Genkit</a:t>
            </a:r>
            <a:endParaRPr lang="en-US" sz="1200" dirty="0"/>
          </a:p>
        </p:txBody>
      </p:sp>
      <p:sp>
        <p:nvSpPr>
          <p:cNvPr id="71" name="Text 58"/>
          <p:cNvSpPr txBox="1"/>
          <p:nvPr/>
        </p:nvSpPr>
        <p:spPr>
          <a:xfrm>
            <a:off x="9861804" y="2862986"/>
            <a:ext cx="101407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338C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 PROCESSING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Shape 3"/>
          <p:cNvSpPr/>
          <p:nvPr/>
        </p:nvSpPr>
        <p:spPr>
          <a:xfrm>
            <a:off x="571500" y="1138428"/>
            <a:ext cx="5372100" cy="5048402"/>
          </a:xfrm>
          <a:prstGeom prst="roundRect">
            <a:avLst>
              <a:gd name="adj" fmla="val 5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1500" y="1138428"/>
            <a:ext cx="5372100" cy="7589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571500" y="2014423"/>
            <a:ext cx="5372100" cy="9144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95198" y="1518818"/>
            <a:ext cx="190195" cy="19019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00100" y="2253082"/>
            <a:ext cx="4914900" cy="1086307"/>
          </a:xfrm>
          <a:prstGeom prst="rect">
            <a:avLst/>
          </a:prstGeom>
          <a:solidFill>
            <a:srgbClr val="FFF1F2"/>
          </a:solidFill>
          <a:ln/>
        </p:spPr>
      </p:sp>
      <p:sp>
        <p:nvSpPr>
          <p:cNvPr id="10" name="Shape 7"/>
          <p:cNvSpPr/>
          <p:nvPr/>
        </p:nvSpPr>
        <p:spPr>
          <a:xfrm>
            <a:off x="800100" y="2253082"/>
            <a:ext cx="38405" cy="1086307"/>
          </a:xfrm>
          <a:prstGeom prst="rect">
            <a:avLst/>
          </a:prstGeom>
          <a:solidFill>
            <a:srgbClr val="F43F5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90295" y="2462479"/>
            <a:ext cx="152705" cy="15270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00100" y="3486607"/>
            <a:ext cx="4914900" cy="1086307"/>
          </a:xfrm>
          <a:prstGeom prst="rect">
            <a:avLst/>
          </a:prstGeom>
          <a:solidFill>
            <a:srgbClr val="FFF1F2"/>
          </a:solidFill>
          <a:ln/>
        </p:spPr>
      </p:sp>
      <p:sp>
        <p:nvSpPr>
          <p:cNvPr id="13" name="Shape 9"/>
          <p:cNvSpPr/>
          <p:nvPr/>
        </p:nvSpPr>
        <p:spPr>
          <a:xfrm>
            <a:off x="800100" y="3486607"/>
            <a:ext cx="38405" cy="1086307"/>
          </a:xfrm>
          <a:prstGeom prst="rect">
            <a:avLst/>
          </a:prstGeom>
          <a:solidFill>
            <a:srgbClr val="F43F5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90295" y="3696005"/>
            <a:ext cx="152705" cy="152705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800100" y="4719218"/>
            <a:ext cx="4914900" cy="1086307"/>
          </a:xfrm>
          <a:prstGeom prst="rect">
            <a:avLst/>
          </a:prstGeom>
          <a:solidFill>
            <a:srgbClr val="FFF1F2"/>
          </a:solidFill>
          <a:ln/>
        </p:spPr>
      </p:sp>
      <p:sp>
        <p:nvSpPr>
          <p:cNvPr id="16" name="Shape 11"/>
          <p:cNvSpPr/>
          <p:nvPr/>
        </p:nvSpPr>
        <p:spPr>
          <a:xfrm>
            <a:off x="800100" y="4719218"/>
            <a:ext cx="38405" cy="1086307"/>
          </a:xfrm>
          <a:prstGeom prst="rect">
            <a:avLst/>
          </a:prstGeom>
          <a:solidFill>
            <a:srgbClr val="F43F5E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90295" y="4929530"/>
            <a:ext cx="152705" cy="152705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248095" y="1138428"/>
            <a:ext cx="5372100" cy="5048402"/>
          </a:xfrm>
          <a:prstGeom prst="roundRect">
            <a:avLst>
              <a:gd name="adj" fmla="val 5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248095" y="1138428"/>
            <a:ext cx="5372100" cy="7589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Shape 14"/>
          <p:cNvSpPr/>
          <p:nvPr/>
        </p:nvSpPr>
        <p:spPr>
          <a:xfrm>
            <a:off x="6248095" y="1214323"/>
            <a:ext cx="5372100" cy="809244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1" name="Shape 15"/>
          <p:cNvSpPr/>
          <p:nvPr/>
        </p:nvSpPr>
        <p:spPr>
          <a:xfrm>
            <a:off x="6248095" y="2014423"/>
            <a:ext cx="5372100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2" name="Shape 16"/>
          <p:cNvSpPr/>
          <p:nvPr/>
        </p:nvSpPr>
        <p:spPr>
          <a:xfrm>
            <a:off x="6476695" y="1423721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DBEAFE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rcRect l="-1282" r="-1282" t="0" b="0"/>
          <a:stretch/>
        </p:blipFill>
        <p:spPr>
          <a:xfrm>
            <a:off x="6558077" y="1518818"/>
            <a:ext cx="219456" cy="190195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6476695" y="2464308"/>
            <a:ext cx="4914900" cy="6858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5" name="Shape 18"/>
          <p:cNvSpPr/>
          <p:nvPr/>
        </p:nvSpPr>
        <p:spPr>
          <a:xfrm>
            <a:off x="6476695" y="2464308"/>
            <a:ext cx="38405" cy="685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Shape 19"/>
          <p:cNvSpPr/>
          <p:nvPr/>
        </p:nvSpPr>
        <p:spPr>
          <a:xfrm>
            <a:off x="6667805" y="2692908"/>
            <a:ext cx="228600" cy="2286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7" name="Text 20"/>
          <p:cNvSpPr txBox="1"/>
          <p:nvPr/>
        </p:nvSpPr>
        <p:spPr>
          <a:xfrm>
            <a:off x="6748272" y="2722169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6476695" y="3283610"/>
            <a:ext cx="4914900" cy="6858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9" name="Shape 22"/>
          <p:cNvSpPr/>
          <p:nvPr/>
        </p:nvSpPr>
        <p:spPr>
          <a:xfrm>
            <a:off x="6476695" y="3283610"/>
            <a:ext cx="38405" cy="685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0" name="Shape 23"/>
          <p:cNvSpPr/>
          <p:nvPr/>
        </p:nvSpPr>
        <p:spPr>
          <a:xfrm>
            <a:off x="6667805" y="3512210"/>
            <a:ext cx="228600" cy="2286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1" name="Text 24"/>
          <p:cNvSpPr txBox="1"/>
          <p:nvPr/>
        </p:nvSpPr>
        <p:spPr>
          <a:xfrm>
            <a:off x="6748272" y="3540557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6476695" y="4102913"/>
            <a:ext cx="4914900" cy="6858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3" name="Shape 26"/>
          <p:cNvSpPr/>
          <p:nvPr/>
        </p:nvSpPr>
        <p:spPr>
          <a:xfrm>
            <a:off x="6476695" y="4102913"/>
            <a:ext cx="38405" cy="685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Shape 27"/>
          <p:cNvSpPr/>
          <p:nvPr/>
        </p:nvSpPr>
        <p:spPr>
          <a:xfrm>
            <a:off x="6667805" y="4331513"/>
            <a:ext cx="228600" cy="2286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5" name="Text 28"/>
          <p:cNvSpPr txBox="1"/>
          <p:nvPr/>
        </p:nvSpPr>
        <p:spPr>
          <a:xfrm>
            <a:off x="6748272" y="4359859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6476695" y="4922215"/>
            <a:ext cx="4914900" cy="6858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7" name="Shape 30"/>
          <p:cNvSpPr/>
          <p:nvPr/>
        </p:nvSpPr>
        <p:spPr>
          <a:xfrm>
            <a:off x="6476695" y="4922215"/>
            <a:ext cx="38405" cy="685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8" name="Shape 31"/>
          <p:cNvSpPr/>
          <p:nvPr/>
        </p:nvSpPr>
        <p:spPr>
          <a:xfrm>
            <a:off x="6667805" y="5150815"/>
            <a:ext cx="228600" cy="2286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9" name="Text 32"/>
          <p:cNvSpPr txBox="1"/>
          <p:nvPr/>
        </p:nvSpPr>
        <p:spPr>
          <a:xfrm>
            <a:off x="6748272" y="5179162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900" dirty="0"/>
          </a:p>
        </p:txBody>
      </p:sp>
      <p:sp>
        <p:nvSpPr>
          <p:cNvPr id="40" name="Shape 33"/>
          <p:cNvSpPr/>
          <p:nvPr/>
        </p:nvSpPr>
        <p:spPr>
          <a:xfrm>
            <a:off x="571500" y="6334049"/>
            <a:ext cx="11048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1" name="Text 34"/>
          <p:cNvSpPr txBox="1"/>
          <p:nvPr/>
        </p:nvSpPr>
        <p:spPr>
          <a:xfrm>
            <a:off x="571500" y="290779"/>
            <a:ext cx="11722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SECTION 6 · NEXT</a:t>
            </a:r>
            <a:endParaRPr lang="en-US" sz="900" dirty="0"/>
          </a:p>
        </p:txBody>
      </p:sp>
      <p:sp>
        <p:nvSpPr>
          <p:cNvPr id="42" name="Text 35"/>
          <p:cNvSpPr txBox="1"/>
          <p:nvPr/>
        </p:nvSpPr>
        <p:spPr>
          <a:xfrm>
            <a:off x="571500" y="414223"/>
            <a:ext cx="26673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한계와 다음 단계</a:t>
            </a:r>
            <a:endParaRPr lang="en-US" sz="2700" dirty="0"/>
          </a:p>
        </p:txBody>
      </p:sp>
      <p:sp>
        <p:nvSpPr>
          <p:cNvPr id="43" name="Text 36"/>
          <p:cNvSpPr txBox="1"/>
          <p:nvPr/>
        </p:nvSpPr>
        <p:spPr>
          <a:xfrm>
            <a:off x="1295705" y="1395374"/>
            <a:ext cx="10771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현재의 한계</a:t>
            </a:r>
            <a:endParaRPr lang="en-US" sz="1500" dirty="0"/>
          </a:p>
        </p:txBody>
      </p:sp>
      <p:sp>
        <p:nvSpPr>
          <p:cNvPr id="44" name="Text 37"/>
          <p:cNvSpPr txBox="1"/>
          <p:nvPr/>
        </p:nvSpPr>
        <p:spPr>
          <a:xfrm>
            <a:off x="1295705" y="1662379"/>
            <a:ext cx="7050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Limitations</a:t>
            </a:r>
            <a:endParaRPr lang="en-US" sz="900" dirty="0"/>
          </a:p>
        </p:txBody>
      </p:sp>
      <p:sp>
        <p:nvSpPr>
          <p:cNvPr id="45" name="Text 38"/>
          <p:cNvSpPr txBox="1"/>
          <p:nvPr/>
        </p:nvSpPr>
        <p:spPr>
          <a:xfrm>
            <a:off x="1218895" y="2414930"/>
            <a:ext cx="14913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다양성 부족</a:t>
            </a:r>
            <a:endParaRPr lang="en-US" sz="1300" dirty="0"/>
          </a:p>
        </p:txBody>
      </p:sp>
      <p:sp>
        <p:nvSpPr>
          <p:cNvPr id="46" name="Text 39"/>
          <p:cNvSpPr txBox="1"/>
          <p:nvPr/>
        </p:nvSpPr>
        <p:spPr>
          <a:xfrm>
            <a:off x="1218895" y="2757830"/>
            <a:ext cx="4386377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조명, 각도, 배경 등 환경 변수가 제한적이어 취약 조건(Extreme Case)에서 성능 상한이 존재함.</a:t>
            </a:r>
            <a:endParaRPr lang="en-US" sz="1000" dirty="0"/>
          </a:p>
        </p:txBody>
      </p:sp>
      <p:sp>
        <p:nvSpPr>
          <p:cNvPr id="47" name="Text 40"/>
          <p:cNvSpPr txBox="1"/>
          <p:nvPr/>
        </p:nvSpPr>
        <p:spPr>
          <a:xfrm>
            <a:off x="1218895" y="3648456"/>
            <a:ext cx="13295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 설정 미통합</a:t>
            </a:r>
            <a:endParaRPr lang="en-US" sz="1300" dirty="0"/>
          </a:p>
        </p:txBody>
      </p:sp>
      <p:sp>
        <p:nvSpPr>
          <p:cNvPr id="48" name="Text 41"/>
          <p:cNvSpPr txBox="1"/>
          <p:nvPr/>
        </p:nvSpPr>
        <p:spPr>
          <a:xfrm>
            <a:off x="1218895" y="3991356"/>
            <a:ext cx="4443984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병렬 실험 과정에서 일부 설정 차이가 발생하여 완전한 통합 비교에 한계가 있었음.</a:t>
            </a:r>
            <a:endParaRPr lang="en-US" sz="1000" dirty="0"/>
          </a:p>
        </p:txBody>
      </p:sp>
      <p:sp>
        <p:nvSpPr>
          <p:cNvPr id="49" name="Text 42"/>
          <p:cNvSpPr txBox="1"/>
          <p:nvPr/>
        </p:nvSpPr>
        <p:spPr>
          <a:xfrm>
            <a:off x="1218895" y="4881982"/>
            <a:ext cx="11292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라벨링 노이즈</a:t>
            </a:r>
            <a:endParaRPr lang="en-US" sz="1300" dirty="0"/>
          </a:p>
        </p:txBody>
      </p:sp>
      <p:sp>
        <p:nvSpPr>
          <p:cNvPr id="50" name="Text 43"/>
          <p:cNvSpPr txBox="1"/>
          <p:nvPr/>
        </p:nvSpPr>
        <p:spPr>
          <a:xfrm>
            <a:off x="1218895" y="5224882"/>
            <a:ext cx="439643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클래스 확장 과정(56→74)에서 발생한 일부 노이즈로 인해 성능 변동성이 관찰됨.</a:t>
            </a:r>
            <a:endParaRPr lang="en-US" sz="1000" dirty="0"/>
          </a:p>
        </p:txBody>
      </p:sp>
      <p:sp>
        <p:nvSpPr>
          <p:cNvPr id="51" name="Text 44"/>
          <p:cNvSpPr txBox="1"/>
          <p:nvPr/>
        </p:nvSpPr>
        <p:spPr>
          <a:xfrm>
            <a:off x="6972300" y="1395374"/>
            <a:ext cx="10771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향후 로드맵</a:t>
            </a:r>
            <a:endParaRPr lang="en-US" sz="1500" dirty="0"/>
          </a:p>
        </p:txBody>
      </p:sp>
      <p:sp>
        <p:nvSpPr>
          <p:cNvPr id="52" name="Text 45"/>
          <p:cNvSpPr txBox="1"/>
          <p:nvPr/>
        </p:nvSpPr>
        <p:spPr>
          <a:xfrm>
            <a:off x="6972300" y="1662379"/>
            <a:ext cx="13057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Future Plans (Priority)</a:t>
            </a:r>
            <a:endParaRPr lang="en-US" sz="900" dirty="0"/>
          </a:p>
        </p:txBody>
      </p:sp>
      <p:sp>
        <p:nvSpPr>
          <p:cNvPr id="53" name="Text 46"/>
          <p:cNvSpPr txBox="1"/>
          <p:nvPr/>
        </p:nvSpPr>
        <p:spPr>
          <a:xfrm>
            <a:off x="7010705" y="2597810"/>
            <a:ext cx="1191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평가축 조기 확정</a:t>
            </a:r>
            <a:endParaRPr lang="en-US" sz="1200" dirty="0"/>
          </a:p>
        </p:txBody>
      </p:sp>
      <p:sp>
        <p:nvSpPr>
          <p:cNvPr id="54" name="Text 47"/>
          <p:cNvSpPr txBox="1"/>
          <p:nvPr/>
        </p:nvSpPr>
        <p:spPr>
          <a:xfrm>
            <a:off x="7010705" y="2854757"/>
            <a:ext cx="36676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공통 평가 기준(고정 Split, 측정기, Gate)을 선행 확립하여 비교 무결성 강화</a:t>
            </a:r>
            <a:endParaRPr lang="en-US" sz="900" dirty="0"/>
          </a:p>
        </p:txBody>
      </p:sp>
      <p:sp>
        <p:nvSpPr>
          <p:cNvPr id="55" name="Text 48"/>
          <p:cNvSpPr txBox="1"/>
          <p:nvPr/>
        </p:nvSpPr>
        <p:spPr>
          <a:xfrm>
            <a:off x="7010705" y="3417113"/>
            <a:ext cx="15051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취약 조건 데이터 보강</a:t>
            </a:r>
            <a:endParaRPr lang="en-US" sz="1200" dirty="0"/>
          </a:p>
        </p:txBody>
      </p:sp>
      <p:sp>
        <p:nvSpPr>
          <p:cNvPr id="56" name="Text 49"/>
          <p:cNvSpPr txBox="1"/>
          <p:nvPr/>
        </p:nvSpPr>
        <p:spPr>
          <a:xfrm>
            <a:off x="7010705" y="3674059"/>
            <a:ext cx="32488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실패 모드 분석을 기반으로 취약 케이스 우선순위 증강 및 추가 수집</a:t>
            </a:r>
            <a:endParaRPr lang="en-US" sz="900" dirty="0"/>
          </a:p>
        </p:txBody>
      </p:sp>
      <p:sp>
        <p:nvSpPr>
          <p:cNvPr id="57" name="Text 50"/>
          <p:cNvSpPr txBox="1"/>
          <p:nvPr/>
        </p:nvSpPr>
        <p:spPr>
          <a:xfrm>
            <a:off x="7010705" y="4236415"/>
            <a:ext cx="1191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라벨 품질 고도화</a:t>
            </a:r>
            <a:endParaRPr lang="en-US" sz="1200" dirty="0"/>
          </a:p>
        </p:txBody>
      </p:sp>
      <p:sp>
        <p:nvSpPr>
          <p:cNvPr id="58" name="Text 51"/>
          <p:cNvSpPr txBox="1"/>
          <p:nvPr/>
        </p:nvSpPr>
        <p:spPr>
          <a:xfrm>
            <a:off x="7010705" y="4493362"/>
            <a:ext cx="34390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Active Learning 및 Self-training 파이프라인 도입으로 노이즈 최소화</a:t>
            </a:r>
            <a:endParaRPr lang="en-US" sz="900" dirty="0"/>
          </a:p>
        </p:txBody>
      </p:sp>
      <p:sp>
        <p:nvSpPr>
          <p:cNvPr id="59" name="Text 52"/>
          <p:cNvSpPr txBox="1"/>
          <p:nvPr/>
        </p:nvSpPr>
        <p:spPr>
          <a:xfrm>
            <a:off x="7010705" y="5055718"/>
            <a:ext cx="16770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확장 (Scale-up)</a:t>
            </a:r>
            <a:endParaRPr lang="en-US" sz="1200" dirty="0"/>
          </a:p>
        </p:txBody>
      </p:sp>
      <p:sp>
        <p:nvSpPr>
          <p:cNvPr id="60" name="Text 53"/>
          <p:cNvSpPr txBox="1"/>
          <p:nvPr/>
        </p:nvSpPr>
        <p:spPr>
          <a:xfrm>
            <a:off x="7010705" y="5312664"/>
            <a:ext cx="39054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PWA 오프라인 모드 지원, DB(Firestore) 연동으로 복약 히스토리 관리 기능 추가</a:t>
            </a:r>
            <a:endParaRPr lang="en-US" sz="900" dirty="0"/>
          </a:p>
        </p:txBody>
      </p:sp>
      <p:sp>
        <p:nvSpPr>
          <p:cNvPr id="61" name="Text 54"/>
          <p:cNvSpPr txBox="1"/>
          <p:nvPr/>
        </p:nvSpPr>
        <p:spPr>
          <a:xfrm>
            <a:off x="571500" y="6409944"/>
            <a:ext cx="21909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PillPal Project - Limitations &amp; Roadmap</a:t>
            </a:r>
            <a:endParaRPr lang="en-US" sz="900" dirty="0"/>
          </a:p>
        </p:txBody>
      </p:sp>
      <p:sp>
        <p:nvSpPr>
          <p:cNvPr id="62" name="Text 55"/>
          <p:cNvSpPr txBox="1"/>
          <p:nvPr/>
        </p:nvSpPr>
        <p:spPr>
          <a:xfrm>
            <a:off x="11033150" y="6409944"/>
            <a:ext cx="6766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17/18</a:t>
            </a:r>
            <a:endParaRPr lang="en-US" sz="900" dirty="0"/>
          </a:p>
        </p:txBody>
      </p:sp>
      <p:sp>
        <p:nvSpPr>
          <p:cNvPr id="63" name="Text 56"/>
          <p:cNvSpPr txBox="1"/>
          <p:nvPr/>
        </p:nvSpPr>
        <p:spPr>
          <a:xfrm>
            <a:off x="9797796" y="576072"/>
            <a:ext cx="19577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Limitations &amp; Roadmap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133319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Shape 3"/>
          <p:cNvSpPr/>
          <p:nvPr/>
        </p:nvSpPr>
        <p:spPr>
          <a:xfrm>
            <a:off x="571500" y="6629400"/>
            <a:ext cx="11048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71500" y="381305"/>
            <a:ext cx="7388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CLOSING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543154"/>
            <a:ext cx="378195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 &amp; Q&amp;A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6705295"/>
            <a:ext cx="1314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Team 7 · PillPal Project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033150" y="6705295"/>
            <a:ext cx="6766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18/18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538106" y="828446"/>
            <a:ext cx="22293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PillPal Project Summary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71500" y="1485900"/>
            <a:ext cx="5410505" cy="1429207"/>
          </a:xfrm>
          <a:prstGeom prst="roundRect">
            <a:avLst>
              <a:gd name="adj" fmla="val 682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412334" y="1228954"/>
            <a:ext cx="1038758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0FD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6000" dirty="0"/>
          </a:p>
        </p:txBody>
      </p:sp>
      <p:sp>
        <p:nvSpPr>
          <p:cNvPr id="13" name="Shape 11"/>
          <p:cNvSpPr/>
          <p:nvPr/>
        </p:nvSpPr>
        <p:spPr>
          <a:xfrm>
            <a:off x="6210605" y="1485900"/>
            <a:ext cx="5410505" cy="1429207"/>
          </a:xfrm>
          <a:prstGeom prst="roundRect">
            <a:avLst>
              <a:gd name="adj" fmla="val 682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11051438" y="1228954"/>
            <a:ext cx="1038758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0FD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6000" dirty="0"/>
          </a:p>
        </p:txBody>
      </p:sp>
      <p:sp>
        <p:nvSpPr>
          <p:cNvPr id="15" name="Shape 13"/>
          <p:cNvSpPr/>
          <p:nvPr/>
        </p:nvSpPr>
        <p:spPr>
          <a:xfrm>
            <a:off x="571500" y="3143707"/>
            <a:ext cx="5410505" cy="1429207"/>
          </a:xfrm>
          <a:prstGeom prst="roundRect">
            <a:avLst>
              <a:gd name="adj" fmla="val 682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412334" y="2885846"/>
            <a:ext cx="1038758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0FD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6000" dirty="0"/>
          </a:p>
        </p:txBody>
      </p:sp>
      <p:sp>
        <p:nvSpPr>
          <p:cNvPr id="17" name="Shape 15"/>
          <p:cNvSpPr/>
          <p:nvPr/>
        </p:nvSpPr>
        <p:spPr>
          <a:xfrm>
            <a:off x="6210605" y="3143707"/>
            <a:ext cx="5410505" cy="1429207"/>
          </a:xfrm>
          <a:prstGeom prst="roundRect">
            <a:avLst>
              <a:gd name="adj" fmla="val 682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11051438" y="2885846"/>
            <a:ext cx="1038758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0FD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6000" dirty="0"/>
          </a:p>
        </p:txBody>
      </p:sp>
      <p:sp>
        <p:nvSpPr>
          <p:cNvPr id="19" name="Shape 17"/>
          <p:cNvSpPr/>
          <p:nvPr/>
        </p:nvSpPr>
        <p:spPr>
          <a:xfrm>
            <a:off x="571500" y="4876495"/>
            <a:ext cx="11048695" cy="1524305"/>
          </a:xfrm>
          <a:prstGeom prst="roundRect">
            <a:avLst>
              <a:gd name="adj" fmla="val 7498"/>
            </a:avLst>
          </a:prstGeom>
          <a:solidFill>
            <a:srgbClr val="0F766E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90195" y="3657600"/>
            <a:ext cx="2438705" cy="2438705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477195" y="4496105"/>
            <a:ext cx="1524305" cy="1524305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32450" y="5134356"/>
            <a:ext cx="167701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 &amp; A</a:t>
            </a:r>
            <a:endParaRPr lang="en-US" sz="3600" dirty="0"/>
          </a:p>
        </p:txBody>
      </p:sp>
      <p:sp>
        <p:nvSpPr>
          <p:cNvPr id="23" name="Text 21"/>
          <p:cNvSpPr txBox="1"/>
          <p:nvPr/>
        </p:nvSpPr>
        <p:spPr>
          <a:xfrm>
            <a:off x="5204765" y="5781751"/>
            <a:ext cx="19193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Thank you for listening</a:t>
            </a:r>
            <a:endParaRPr lang="en-US" sz="13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3" b="-43"/>
          <a:stretch/>
        </p:blipFill>
        <p:spPr>
          <a:xfrm>
            <a:off x="933602" y="1837944"/>
            <a:ext cx="133502" cy="152705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304849" y="1772107"/>
            <a:ext cx="16578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가능한 데이터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809244" y="2219249"/>
            <a:ext cx="50584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제약 하에서도 pseudo-label, 증강, 셀프 라벨링으로 학습 가능한 품질 확보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448349" y="1837944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DBEAFE"/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62649" y="1952244"/>
            <a:ext cx="152705" cy="152705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6943954" y="1886407"/>
            <a:ext cx="18864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스펙 기반 모델</a:t>
            </a:r>
            <a:endParaRPr lang="en-US" sz="1500" dirty="0"/>
          </a:p>
        </p:txBody>
      </p:sp>
      <p:sp>
        <p:nvSpPr>
          <p:cNvPr id="30" name="Text 26"/>
          <p:cNvSpPr txBox="1"/>
          <p:nvPr/>
        </p:nvSpPr>
        <p:spPr>
          <a:xfrm>
            <a:off x="6448349" y="2333549"/>
            <a:ext cx="4620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정확도가 아닌 속도/배포/안정성 균형을 고려하여 YOLO 모델 선정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809244" y="3381451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EDE9FE"/>
          </a:solidFill>
          <a:ln/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00" b="-100"/>
          <a:stretch/>
        </p:blipFill>
        <p:spPr>
          <a:xfrm>
            <a:off x="942746" y="3495751"/>
            <a:ext cx="114300" cy="152705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1304849" y="3429000"/>
            <a:ext cx="14008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 신뢰도 확보</a:t>
            </a:r>
            <a:endParaRPr lang="en-US" sz="1500" dirty="0"/>
          </a:p>
        </p:txBody>
      </p:sp>
      <p:sp>
        <p:nvSpPr>
          <p:cNvPr id="34" name="Text 29"/>
          <p:cNvSpPr txBox="1"/>
          <p:nvPr/>
        </p:nvSpPr>
        <p:spPr>
          <a:xfrm>
            <a:off x="809244" y="387705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Leakage Gate와 Measurement Freeze로 "믿을 수 있는 결과"와 해석 체계 구축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6448349" y="3495751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E0E7FF"/>
          </a:solidFill>
          <a:ln/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80" b="-180"/>
          <a:stretch/>
        </p:blipFill>
        <p:spPr>
          <a:xfrm>
            <a:off x="6543446" y="3610051"/>
            <a:ext cx="190195" cy="152705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6943954" y="3543300"/>
            <a:ext cx="16102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End-to-End 연결</a:t>
            </a:r>
            <a:endParaRPr lang="en-US" sz="1500" dirty="0"/>
          </a:p>
        </p:txBody>
      </p:sp>
      <p:sp>
        <p:nvSpPr>
          <p:cNvPr id="38" name="Text 32"/>
          <p:cNvSpPr txBox="1"/>
          <p:nvPr/>
        </p:nvSpPr>
        <p:spPr>
          <a:xfrm>
            <a:off x="6448349" y="3991356"/>
            <a:ext cx="4686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데이터부터 서빙/UX까지 끊김 없이 연결하여 실제 사용 가능한 제품 구현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Generated by Gen-Spark</ep:Company>
  <ep:Words>1845</ep:Words>
  <ep:PresentationFormat>On-screen Show (16:9)</ep:PresentationFormat>
  <ep:Paragraphs>489</ep:Paragraphs>
  <ep:Slides>18</ep:Slides>
  <ep:Notes>18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ep:HeadingPairs>
  <ep:TitlesOfParts>
    <vt:vector size="19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2025-12-22T16:17:16.000</dcterms:created>
  <dc:creator>Visual Extract to PPTX Converter</dc:creator>
  <cp:lastModifiedBy>c</cp:lastModifiedBy>
  <dcterms:modified xsi:type="dcterms:W3CDTF">2025-12-22T16:50:24.900</dcterms:modified>
  <cp:revision>6</cp:revision>
  <dc:subject>PptxGenJS Presentation</dc:subject>
  <dc:title>Multi-page HTML Content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