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autoCompressPictures="0">
  <p:sldMasterIdLst>
    <p:sldMasterId id="2147483648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0" d="100"/>
          <a:sy n="100" d="100"/>
        </p:scale>
        <p:origin x="216" y="312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slide" Target="slides/slide11.xml"  /><Relationship Id="rId14" Type="http://schemas.openxmlformats.org/officeDocument/2006/relationships/slide" Target="slides/slide12.xml"  /><Relationship Id="rId15" Type="http://schemas.openxmlformats.org/officeDocument/2006/relationships/slide" Target="slides/slide13.xml"  /><Relationship Id="rId16" Type="http://schemas.openxmlformats.org/officeDocument/2006/relationships/slide" Target="slides/slide14.xml"  /><Relationship Id="rId17" Type="http://schemas.openxmlformats.org/officeDocument/2006/relationships/slide" Target="slides/slide15.xml"  /><Relationship Id="rId18" Type="http://schemas.openxmlformats.org/officeDocument/2006/relationships/slide" Target="slides/slide16.xml"  /><Relationship Id="rId19" Type="http://schemas.openxmlformats.org/officeDocument/2006/relationships/slide" Target="slides/slide17.xml"  /><Relationship Id="rId2" Type="http://schemas.openxmlformats.org/officeDocument/2006/relationships/notesMaster" Target="notesMasters/notesMaster1.xml"  /><Relationship Id="rId20" Type="http://schemas.openxmlformats.org/officeDocument/2006/relationships/slide" Target="slides/slide18.xml"  /><Relationship Id="rId21" Type="http://schemas.openxmlformats.org/officeDocument/2006/relationships/slide" Target="slides/slide19.xml"  /><Relationship Id="rId22" Type="http://schemas.openxmlformats.org/officeDocument/2006/relationships/slide" Target="slides/slide20.xml"  /><Relationship Id="rId23" Type="http://schemas.openxmlformats.org/officeDocument/2006/relationships/slide" Target="slides/slide21.xml"  /><Relationship Id="rId24" Type="http://schemas.openxmlformats.org/officeDocument/2006/relationships/slide" Target="slides/slide22.xml"  /><Relationship Id="rId25" Type="http://schemas.openxmlformats.org/officeDocument/2006/relationships/slide" Target="slides/slide23.xml"  /><Relationship Id="rId26" Type="http://schemas.openxmlformats.org/officeDocument/2006/relationships/slide" Target="slides/slide24.xml"  /><Relationship Id="rId27" Type="http://schemas.openxmlformats.org/officeDocument/2006/relationships/slide" Target="slides/slide25.xml"  /><Relationship Id="rId28" Type="http://schemas.openxmlformats.org/officeDocument/2006/relationships/slide" Target="slides/slide26.xml"  /><Relationship Id="rId29" Type="http://schemas.openxmlformats.org/officeDocument/2006/relationships/slide" Target="slides/slide27.xml"  /><Relationship Id="rId3" Type="http://schemas.openxmlformats.org/officeDocument/2006/relationships/slide" Target="slides/slide1.xml"  /><Relationship Id="rId30" Type="http://schemas.openxmlformats.org/officeDocument/2006/relationships/slide" Target="slides/slide28.xml"  /><Relationship Id="rId31" Type="http://schemas.openxmlformats.org/officeDocument/2006/relationships/slide" Target="slides/slide29.xml"  /><Relationship Id="rId32" Type="http://schemas.openxmlformats.org/officeDocument/2006/relationships/slide" Target="slides/slide30.xml"  /><Relationship Id="rId33" Type="http://schemas.openxmlformats.org/officeDocument/2006/relationships/slide" Target="slides/slide31.xml"  /><Relationship Id="rId34" Type="http://schemas.openxmlformats.org/officeDocument/2006/relationships/slide" Target="slides/slide32.xml"  /><Relationship Id="rId35" Type="http://schemas.openxmlformats.org/officeDocument/2006/relationships/slide" Target="slides/slide33.xml"  /><Relationship Id="rId36" Type="http://schemas.openxmlformats.org/officeDocument/2006/relationships/presProps" Target="presProps.xml"  /><Relationship Id="rId37" Type="http://schemas.openxmlformats.org/officeDocument/2006/relationships/viewProps" Target="viewProps.xml"  /><Relationship Id="rId38" Type="http://schemas.openxmlformats.org/officeDocument/2006/relationships/theme" Target="theme/theme1.xml"  /><Relationship Id="rId39" Type="http://schemas.openxmlformats.org/officeDocument/2006/relationships/tableStyles" Target="tableStyles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5282F153-3F37-0F45-9E97-73ACFA13230C}" type="datetime1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.xml"  /></Relationships>
</file>

<file path=ppt/notesSlides/_rels/notesSlide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.xml"  /></Relationships>
</file>

<file path=ppt/notesSlides/_rels/notesSlide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4.xml"  /></Relationships>
</file>

<file path=ppt/notesSlides/_rels/notesSlide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5.xml"  /></Relationships>
</file>

<file path=ppt/notesSlides/_rels/notesSlide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6.xml"  /></Relationships>
</file>

<file path=ppt/notesSlides/_rels/notesSlide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7.xml"  /></Relationships>
</file>

<file path=ppt/notesSlides/_rels/notesSlide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8.xml"  /></Relationships>
</file>

<file path=ppt/notesSlides/_rels/notesSlide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9.xml"  /></Relationships>
</file>

<file path=ppt/notesSlides/_rels/notesSlide1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0.xml"  /></Relationships>
</file>

<file path=ppt/notesSlides/_rels/notesSlide1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1.xml"  /></Relationships>
</file>

<file path=ppt/notesSlides/_rels/notesSlide1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2.xml"  /></Relationships>
</file>

<file path=ppt/notesSlides/_rels/notesSlide1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3.xml"  /></Relationships>
</file>

<file path=ppt/notesSlides/_rels/notesSlide1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4.xml"  /></Relationships>
</file>

<file path=ppt/notesSlides/_rels/notesSlide1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5.xml"  /></Relationships>
</file>

<file path=ppt/notesSlides/_rels/notesSlide1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6.xml"  /></Relationships>
</file>

<file path=ppt/notesSlides/_rels/notesSlide1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7.xml"  /></Relationships>
</file>

<file path=ppt/notesSlides/_rels/notesSlide1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8.xml"  /></Relationships>
</file>

<file path=ppt/notesSlides/_rels/notesSlide1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19.xml"  /></Relationships>
</file>

<file path=ppt/notesSlides/_rels/notesSlide2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0.xml"  /></Relationships>
</file>

<file path=ppt/notesSlides/_rels/notesSlide2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1.xml"  /></Relationships>
</file>

<file path=ppt/notesSlides/_rels/notesSlide2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2.xml"  /></Relationships>
</file>

<file path=ppt/notesSlides/_rels/notesSlide2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3.xml"  /></Relationships>
</file>

<file path=ppt/notesSlides/_rels/notesSlide24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4.xml"  /></Relationships>
</file>

<file path=ppt/notesSlides/_rels/notesSlide25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5.xml"  /></Relationships>
</file>

<file path=ppt/notesSlides/_rels/notesSlide26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6.xml"  /></Relationships>
</file>

<file path=ppt/notesSlides/_rels/notesSlide27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7.xml"  /></Relationships>
</file>

<file path=ppt/notesSlides/_rels/notesSlide28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8.xml"  /></Relationships>
</file>

<file path=ppt/notesSlides/_rels/notesSlide29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29.xml"  /></Relationships>
</file>

<file path=ppt/notesSlides/_rels/notesSlide30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0.xml"  /></Relationships>
</file>

<file path=ppt/notesSlides/_rels/notesSlide31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1.xml"  /></Relationships>
</file>

<file path=ppt/notesSlides/_rels/notesSlide32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2.xml"  /></Relationships>
</file>

<file path=ppt/notesSlides/_rels/notesSlide33.xml.rels><?xml version="1.0" encoding="UTF-8" standalone="yes" ?><Relationships xmlns="http://schemas.openxmlformats.org/package/2006/relationships"><Relationship Id="rId1" Type="http://schemas.openxmlformats.org/officeDocument/2006/relationships/notesMaster" Target="../notesMasters/notesMaster1.xml"  /><Relationship Id="rId2" Type="http://schemas.openxmlformats.org/officeDocument/2006/relationships/slide" Target="../slides/slide33.xml" 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theme" Target="../theme/theme1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10" Type="http://schemas.openxmlformats.org/officeDocument/2006/relationships/image" Target="../media/image8.png"  /><Relationship Id="rId11" Type="http://schemas.openxmlformats.org/officeDocument/2006/relationships/image" Target="../media/image9.png"  /><Relationship Id="rId12" Type="http://schemas.openxmlformats.org/officeDocument/2006/relationships/image" Target="../media/image10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.png"  /><Relationship Id="rId4" Type="http://schemas.openxmlformats.org/officeDocument/2006/relationships/image" Target="../media/image2.png"  /><Relationship Id="rId5" Type="http://schemas.openxmlformats.org/officeDocument/2006/relationships/image" Target="../media/image3.png"  /><Relationship Id="rId6" Type="http://schemas.openxmlformats.org/officeDocument/2006/relationships/image" Target="../media/image4.png"  /><Relationship Id="rId7" Type="http://schemas.openxmlformats.org/officeDocument/2006/relationships/image" Target="../media/image5.png"  /><Relationship Id="rId8" Type="http://schemas.openxmlformats.org/officeDocument/2006/relationships/image" Target="../media/image6.png"  /><Relationship Id="rId9" Type="http://schemas.openxmlformats.org/officeDocument/2006/relationships/image" Target="../media/image7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.png"  /><Relationship Id="rId4" Type="http://schemas.openxmlformats.org/officeDocument/2006/relationships/image" Target="../media/image12.png"  /><Relationship Id="rId5" Type="http://schemas.openxmlformats.org/officeDocument/2006/relationships/image" Target="../media/image13.png"  /><Relationship Id="rId6" Type="http://schemas.openxmlformats.org/officeDocument/2006/relationships/image" Target="../media/image14.png"  /><Relationship Id="rId7" Type="http://schemas.openxmlformats.org/officeDocument/2006/relationships/image" Target="../media/image15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.xml"  /><Relationship Id="rId10" Type="http://schemas.openxmlformats.org/officeDocument/2006/relationships/image" Target="../media/image23.png"  /><Relationship Id="rId11" Type="http://schemas.openxmlformats.org/officeDocument/2006/relationships/image" Target="../media/image2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.png"  /><Relationship Id="rId4" Type="http://schemas.openxmlformats.org/officeDocument/2006/relationships/image" Target="../media/image17.png"  /><Relationship Id="rId5" Type="http://schemas.openxmlformats.org/officeDocument/2006/relationships/image" Target="../media/image18.png"  /><Relationship Id="rId6" Type="http://schemas.openxmlformats.org/officeDocument/2006/relationships/image" Target="../media/image19.png"  /><Relationship Id="rId7" Type="http://schemas.openxmlformats.org/officeDocument/2006/relationships/image" Target="../media/image20.png"  /><Relationship Id="rId8" Type="http://schemas.openxmlformats.org/officeDocument/2006/relationships/image" Target="../media/image21.png"  /><Relationship Id="rId9" Type="http://schemas.openxmlformats.org/officeDocument/2006/relationships/image" Target="../media/image22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4.xml"  /><Relationship Id="rId10" Type="http://schemas.openxmlformats.org/officeDocument/2006/relationships/image" Target="../media/image32.png"  /><Relationship Id="rId11" Type="http://schemas.openxmlformats.org/officeDocument/2006/relationships/image" Target="../media/image33.png"  /><Relationship Id="rId12" Type="http://schemas.openxmlformats.org/officeDocument/2006/relationships/image" Target="../media/image34.png"  /><Relationship Id="rId13" Type="http://schemas.openxmlformats.org/officeDocument/2006/relationships/image" Target="../media/image3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5.png"  /><Relationship Id="rId4" Type="http://schemas.openxmlformats.org/officeDocument/2006/relationships/image" Target="../media/image26.png"  /><Relationship Id="rId5" Type="http://schemas.openxmlformats.org/officeDocument/2006/relationships/image" Target="../media/image27.png"  /><Relationship Id="rId6" Type="http://schemas.openxmlformats.org/officeDocument/2006/relationships/image" Target="../media/image28.png"  /><Relationship Id="rId7" Type="http://schemas.openxmlformats.org/officeDocument/2006/relationships/image" Target="../media/image29.png"  /><Relationship Id="rId8" Type="http://schemas.openxmlformats.org/officeDocument/2006/relationships/image" Target="../media/image30.png"  /><Relationship Id="rId9" Type="http://schemas.openxmlformats.org/officeDocument/2006/relationships/image" Target="../media/image31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5.xml"  /><Relationship Id="rId10" Type="http://schemas.openxmlformats.org/officeDocument/2006/relationships/image" Target="../media/image43.png"  /><Relationship Id="rId11" Type="http://schemas.openxmlformats.org/officeDocument/2006/relationships/image" Target="../media/image44.png"  /><Relationship Id="rId12" Type="http://schemas.openxmlformats.org/officeDocument/2006/relationships/image" Target="../media/image4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36.png"  /><Relationship Id="rId4" Type="http://schemas.openxmlformats.org/officeDocument/2006/relationships/image" Target="../media/image37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6.xml"  /><Relationship Id="rId10" Type="http://schemas.openxmlformats.org/officeDocument/2006/relationships/image" Target="../media/image53.png"  /><Relationship Id="rId11" Type="http://schemas.openxmlformats.org/officeDocument/2006/relationships/image" Target="../media/image54.png"  /><Relationship Id="rId12" Type="http://schemas.openxmlformats.org/officeDocument/2006/relationships/image" Target="../media/image55.png"  /><Relationship Id="rId13" Type="http://schemas.openxmlformats.org/officeDocument/2006/relationships/image" Target="../media/image56.png"  /><Relationship Id="rId14" Type="http://schemas.openxmlformats.org/officeDocument/2006/relationships/image" Target="../media/image57.png"  /><Relationship Id="rId15" Type="http://schemas.openxmlformats.org/officeDocument/2006/relationships/image" Target="../media/image58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46.png"  /><Relationship Id="rId4" Type="http://schemas.openxmlformats.org/officeDocument/2006/relationships/image" Target="../media/image47.png"  /><Relationship Id="rId5" Type="http://schemas.openxmlformats.org/officeDocument/2006/relationships/image" Target="../media/image48.png"  /><Relationship Id="rId6" Type="http://schemas.openxmlformats.org/officeDocument/2006/relationships/image" Target="../media/image49.png"  /><Relationship Id="rId7" Type="http://schemas.openxmlformats.org/officeDocument/2006/relationships/image" Target="../media/image50.png"  /><Relationship Id="rId8" Type="http://schemas.openxmlformats.org/officeDocument/2006/relationships/image" Target="../media/image51.png"  /><Relationship Id="rId9" Type="http://schemas.openxmlformats.org/officeDocument/2006/relationships/image" Target="../media/image5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7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59.png"  /><Relationship Id="rId4" Type="http://schemas.openxmlformats.org/officeDocument/2006/relationships/image" Target="../media/image60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8.xml"  /><Relationship Id="rId10" Type="http://schemas.openxmlformats.org/officeDocument/2006/relationships/image" Target="../media/image70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63.png"  /><Relationship Id="rId4" Type="http://schemas.openxmlformats.org/officeDocument/2006/relationships/image" Target="../media/image64.png"  /><Relationship Id="rId5" Type="http://schemas.openxmlformats.org/officeDocument/2006/relationships/image" Target="../media/image65.png"  /><Relationship Id="rId6" Type="http://schemas.openxmlformats.org/officeDocument/2006/relationships/image" Target="../media/image66.png"  /><Relationship Id="rId7" Type="http://schemas.openxmlformats.org/officeDocument/2006/relationships/image" Target="../media/image67.png"  /><Relationship Id="rId8" Type="http://schemas.openxmlformats.org/officeDocument/2006/relationships/image" Target="../media/image68.png"  /><Relationship Id="rId9" Type="http://schemas.openxmlformats.org/officeDocument/2006/relationships/image" Target="../media/image69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image" Target="../media/image71.png"  /><Relationship Id="rId10" Type="http://schemas.openxmlformats.org/officeDocument/2006/relationships/slideLayout" Target="../slideLayouts/slideLayout1.xml"  /><Relationship Id="rId11" Type="http://schemas.openxmlformats.org/officeDocument/2006/relationships/notesSlide" Target="../notesSlides/notesSlide9.xml"  /><Relationship Id="rId2" Type="http://schemas.openxmlformats.org/officeDocument/2006/relationships/image" Target="../media/image72.png"  /><Relationship Id="rId3" Type="http://schemas.openxmlformats.org/officeDocument/2006/relationships/image" Target="../media/image73.png"  /><Relationship Id="rId4" Type="http://schemas.openxmlformats.org/officeDocument/2006/relationships/image" Target="../media/image74.png"  /><Relationship Id="rId5" Type="http://schemas.openxmlformats.org/officeDocument/2006/relationships/image" Target="../media/image75.png"  /><Relationship Id="rId6" Type="http://schemas.openxmlformats.org/officeDocument/2006/relationships/image" Target="../media/image76.png"  /><Relationship Id="rId7" Type="http://schemas.openxmlformats.org/officeDocument/2006/relationships/image" Target="../media/image77.png"  /><Relationship Id="rId8" Type="http://schemas.openxmlformats.org/officeDocument/2006/relationships/image" Target="../media/image78.png"  /><Relationship Id="rId9" Type="http://schemas.openxmlformats.org/officeDocument/2006/relationships/image" Target="../media/image7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image" Target="../media/image80.png"  /><Relationship Id="rId10" Type="http://schemas.openxmlformats.org/officeDocument/2006/relationships/image" Target="../media/image89.png"  /><Relationship Id="rId11" Type="http://schemas.openxmlformats.org/officeDocument/2006/relationships/image" Target="../media/image90.png"  /><Relationship Id="rId12" Type="http://schemas.openxmlformats.org/officeDocument/2006/relationships/image" Target="../media/image91.png"  /><Relationship Id="rId13" Type="http://schemas.openxmlformats.org/officeDocument/2006/relationships/image" Target="../media/image92.png"  /><Relationship Id="rId14" Type="http://schemas.openxmlformats.org/officeDocument/2006/relationships/image" Target="../media/image93.png"  /><Relationship Id="rId15" Type="http://schemas.openxmlformats.org/officeDocument/2006/relationships/slideLayout" Target="../slideLayouts/slideLayout1.xml"  /><Relationship Id="rId16" Type="http://schemas.openxmlformats.org/officeDocument/2006/relationships/notesSlide" Target="../notesSlides/notesSlide10.xml"  /><Relationship Id="rId2" Type="http://schemas.openxmlformats.org/officeDocument/2006/relationships/image" Target="../media/image81.png"  /><Relationship Id="rId3" Type="http://schemas.openxmlformats.org/officeDocument/2006/relationships/image" Target="../media/image82.png"  /><Relationship Id="rId4" Type="http://schemas.openxmlformats.org/officeDocument/2006/relationships/image" Target="../media/image83.png"  /><Relationship Id="rId5" Type="http://schemas.openxmlformats.org/officeDocument/2006/relationships/image" Target="../media/image84.png"  /><Relationship Id="rId6" Type="http://schemas.openxmlformats.org/officeDocument/2006/relationships/image" Target="../media/image85.png"  /><Relationship Id="rId7" Type="http://schemas.openxmlformats.org/officeDocument/2006/relationships/image" Target="../media/image86.png"  /><Relationship Id="rId8" Type="http://schemas.openxmlformats.org/officeDocument/2006/relationships/image" Target="../media/image87.png"  /><Relationship Id="rId9" Type="http://schemas.openxmlformats.org/officeDocument/2006/relationships/image" Target="../media/image88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image" Target="../media/image94.png"  /><Relationship Id="rId10" Type="http://schemas.openxmlformats.org/officeDocument/2006/relationships/image" Target="../media/image103.png"  /><Relationship Id="rId11" Type="http://schemas.openxmlformats.org/officeDocument/2006/relationships/image" Target="../media/image104.png"  /><Relationship Id="rId12" Type="http://schemas.openxmlformats.org/officeDocument/2006/relationships/slideLayout" Target="../slideLayouts/slideLayout1.xml"  /><Relationship Id="rId13" Type="http://schemas.openxmlformats.org/officeDocument/2006/relationships/notesSlide" Target="../notesSlides/notesSlide11.xml"  /><Relationship Id="rId2" Type="http://schemas.openxmlformats.org/officeDocument/2006/relationships/image" Target="../media/image95.png"  /><Relationship Id="rId3" Type="http://schemas.openxmlformats.org/officeDocument/2006/relationships/image" Target="../media/image96.png"  /><Relationship Id="rId4" Type="http://schemas.openxmlformats.org/officeDocument/2006/relationships/image" Target="../media/image97.png"  /><Relationship Id="rId5" Type="http://schemas.openxmlformats.org/officeDocument/2006/relationships/image" Target="../media/image98.png"  /><Relationship Id="rId6" Type="http://schemas.openxmlformats.org/officeDocument/2006/relationships/image" Target="../media/image99.png"  /><Relationship Id="rId7" Type="http://schemas.openxmlformats.org/officeDocument/2006/relationships/image" Target="../media/image100.png"  /><Relationship Id="rId8" Type="http://schemas.openxmlformats.org/officeDocument/2006/relationships/image" Target="../media/image101.png"  /><Relationship Id="rId9" Type="http://schemas.openxmlformats.org/officeDocument/2006/relationships/image" Target="../media/image102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05.png"  /><Relationship Id="rId4" Type="http://schemas.openxmlformats.org/officeDocument/2006/relationships/image" Target="../media/image106.png"  /><Relationship Id="rId5" Type="http://schemas.openxmlformats.org/officeDocument/2006/relationships/image" Target="../media/image107.png"  /><Relationship Id="rId6" Type="http://schemas.openxmlformats.org/officeDocument/2006/relationships/image" Target="../media/image108.png"  /><Relationship Id="rId7" Type="http://schemas.openxmlformats.org/officeDocument/2006/relationships/image" Target="../media/image109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0.png"  /><Relationship Id="rId4" Type="http://schemas.openxmlformats.org/officeDocument/2006/relationships/image" Target="../media/image111.png"  /><Relationship Id="rId5" Type="http://schemas.openxmlformats.org/officeDocument/2006/relationships/image" Target="../media/image112.png"  /><Relationship Id="rId6" Type="http://schemas.openxmlformats.org/officeDocument/2006/relationships/image" Target="../media/image113.png"  /><Relationship Id="rId7" Type="http://schemas.openxmlformats.org/officeDocument/2006/relationships/image" Target="../media/image11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4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15.png"  /><Relationship Id="rId4" Type="http://schemas.openxmlformats.org/officeDocument/2006/relationships/image" Target="../media/image116.png"  /><Relationship Id="rId5" Type="http://schemas.openxmlformats.org/officeDocument/2006/relationships/image" Target="../media/image117.png"  /><Relationship Id="rId6" Type="http://schemas.openxmlformats.org/officeDocument/2006/relationships/image" Target="../media/image118.png"  /><Relationship Id="rId7" Type="http://schemas.openxmlformats.org/officeDocument/2006/relationships/image" Target="../media/image119.png"  /><Relationship Id="rId8" Type="http://schemas.openxmlformats.org/officeDocument/2006/relationships/image" Target="../media/image120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5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1.png"  /><Relationship Id="rId4" Type="http://schemas.openxmlformats.org/officeDocument/2006/relationships/image" Target="../media/image122.png"  /><Relationship Id="rId5" Type="http://schemas.openxmlformats.org/officeDocument/2006/relationships/image" Target="../media/image123.png"  /><Relationship Id="rId6" Type="http://schemas.openxmlformats.org/officeDocument/2006/relationships/image" Target="../media/image124.png"  /><Relationship Id="rId7" Type="http://schemas.openxmlformats.org/officeDocument/2006/relationships/image" Target="../media/image125.png"  /><Relationship Id="rId8" Type="http://schemas.openxmlformats.org/officeDocument/2006/relationships/image" Target="../media/image126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6.xml"  /><Relationship Id="rId10" Type="http://schemas.openxmlformats.org/officeDocument/2006/relationships/image" Target="../media/image134.png"  /><Relationship Id="rId11" Type="http://schemas.openxmlformats.org/officeDocument/2006/relationships/image" Target="../media/image135.png"  /><Relationship Id="rId12" Type="http://schemas.openxmlformats.org/officeDocument/2006/relationships/image" Target="../media/image136.png"  /><Relationship Id="rId13" Type="http://schemas.openxmlformats.org/officeDocument/2006/relationships/image" Target="../media/image137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27.png"  /><Relationship Id="rId4" Type="http://schemas.openxmlformats.org/officeDocument/2006/relationships/image" Target="../media/image128.png"  /><Relationship Id="rId5" Type="http://schemas.openxmlformats.org/officeDocument/2006/relationships/image" Target="../media/image129.png"  /><Relationship Id="rId6" Type="http://schemas.openxmlformats.org/officeDocument/2006/relationships/image" Target="../media/image130.png"  /><Relationship Id="rId7" Type="http://schemas.openxmlformats.org/officeDocument/2006/relationships/image" Target="../media/image131.png"  /><Relationship Id="rId8" Type="http://schemas.openxmlformats.org/officeDocument/2006/relationships/image" Target="../media/image132.png"  /><Relationship Id="rId9" Type="http://schemas.openxmlformats.org/officeDocument/2006/relationships/image" Target="../media/image133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image" Target="../media/image138.png"  /><Relationship Id="rId10" Type="http://schemas.openxmlformats.org/officeDocument/2006/relationships/notesSlide" Target="../notesSlides/notesSlide17.xml"  /><Relationship Id="rId2" Type="http://schemas.openxmlformats.org/officeDocument/2006/relationships/image" Target="../media/image139.png"  /><Relationship Id="rId3" Type="http://schemas.openxmlformats.org/officeDocument/2006/relationships/image" Target="../media/image140.png"  /><Relationship Id="rId4" Type="http://schemas.openxmlformats.org/officeDocument/2006/relationships/image" Target="../media/image141.png"  /><Relationship Id="rId5" Type="http://schemas.openxmlformats.org/officeDocument/2006/relationships/image" Target="../media/image142.png"  /><Relationship Id="rId6" Type="http://schemas.openxmlformats.org/officeDocument/2006/relationships/image" Target="../media/image143.png"  /><Relationship Id="rId7" Type="http://schemas.openxmlformats.org/officeDocument/2006/relationships/image" Target="../media/image144.png"  /><Relationship Id="rId8" Type="http://schemas.openxmlformats.org/officeDocument/2006/relationships/image" Target="../media/image145.png"  /><Relationship Id="rId9" Type="http://schemas.openxmlformats.org/officeDocument/2006/relationships/slideLayout" Target="../slideLayouts/slideLayout1.xml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8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46.png"  /><Relationship Id="rId4" Type="http://schemas.openxmlformats.org/officeDocument/2006/relationships/image" Target="../media/image147.png"  /><Relationship Id="rId5" Type="http://schemas.openxmlformats.org/officeDocument/2006/relationships/image" Target="../media/image148.png"  /><Relationship Id="rId6" Type="http://schemas.openxmlformats.org/officeDocument/2006/relationships/image" Target="../media/image149.png"  /><Relationship Id="rId7" Type="http://schemas.openxmlformats.org/officeDocument/2006/relationships/image" Target="../media/image150.png"  /><Relationship Id="rId8" Type="http://schemas.openxmlformats.org/officeDocument/2006/relationships/image" Target="../media/image151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image" Target="../media/image152.png"  /><Relationship Id="rId10" Type="http://schemas.openxmlformats.org/officeDocument/2006/relationships/slideLayout" Target="../slideLayouts/slideLayout1.xml"  /><Relationship Id="rId11" Type="http://schemas.openxmlformats.org/officeDocument/2006/relationships/notesSlide" Target="../notesSlides/notesSlide19.xml"  /><Relationship Id="rId2" Type="http://schemas.openxmlformats.org/officeDocument/2006/relationships/image" Target="../media/image153.png"  /><Relationship Id="rId3" Type="http://schemas.openxmlformats.org/officeDocument/2006/relationships/image" Target="../media/image154.png"  /><Relationship Id="rId4" Type="http://schemas.openxmlformats.org/officeDocument/2006/relationships/image" Target="../media/image155.png"  /><Relationship Id="rId5" Type="http://schemas.openxmlformats.org/officeDocument/2006/relationships/image" Target="../media/image156.png"  /><Relationship Id="rId6" Type="http://schemas.openxmlformats.org/officeDocument/2006/relationships/image" Target="../media/image157.png"  /><Relationship Id="rId7" Type="http://schemas.openxmlformats.org/officeDocument/2006/relationships/image" Target="../media/image158.png"  /><Relationship Id="rId8" Type="http://schemas.openxmlformats.org/officeDocument/2006/relationships/image" Target="../media/image159.png"  /><Relationship Id="rId9" Type="http://schemas.openxmlformats.org/officeDocument/2006/relationships/image" Target="../media/image160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image" Target="../media/image161.png"  /><Relationship Id="rId2" Type="http://schemas.openxmlformats.org/officeDocument/2006/relationships/image" Target="../media/image162.png"  /><Relationship Id="rId3" Type="http://schemas.openxmlformats.org/officeDocument/2006/relationships/image" Target="../media/image163.png"  /><Relationship Id="rId4" Type="http://schemas.openxmlformats.org/officeDocument/2006/relationships/image" Target="../media/image164.png"  /><Relationship Id="rId5" Type="http://schemas.openxmlformats.org/officeDocument/2006/relationships/image" Target="../media/image165.png"  /><Relationship Id="rId6" Type="http://schemas.openxmlformats.org/officeDocument/2006/relationships/image" Target="../media/image166.png"  /><Relationship Id="rId7" Type="http://schemas.openxmlformats.org/officeDocument/2006/relationships/image" Target="../media/image167.png"  /><Relationship Id="rId8" Type="http://schemas.openxmlformats.org/officeDocument/2006/relationships/slideLayout" Target="../slideLayouts/slideLayout1.xml"  /><Relationship Id="rId9" Type="http://schemas.openxmlformats.org/officeDocument/2006/relationships/notesSlide" Target="../notesSlides/notesSlide20.xml"  /></Relationships>
</file>

<file path=ppt/slides/_rels/slide2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1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68.png"  /><Relationship Id="rId4" Type="http://schemas.openxmlformats.org/officeDocument/2006/relationships/image" Target="../media/image169.png"  /><Relationship Id="rId5" Type="http://schemas.openxmlformats.org/officeDocument/2006/relationships/image" Target="../media/image170.png"  /></Relationships>
</file>

<file path=ppt/slides/_rels/slide2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2.xml"  /><Relationship Id="rId10" Type="http://schemas.openxmlformats.org/officeDocument/2006/relationships/image" Target="../media/image178.png"  /><Relationship Id="rId11" Type="http://schemas.openxmlformats.org/officeDocument/2006/relationships/image" Target="../media/image179.png"  /><Relationship Id="rId12" Type="http://schemas.openxmlformats.org/officeDocument/2006/relationships/image" Target="../media/image180.png"  /><Relationship Id="rId13" Type="http://schemas.openxmlformats.org/officeDocument/2006/relationships/image" Target="../media/image181.png"  /><Relationship Id="rId14" Type="http://schemas.openxmlformats.org/officeDocument/2006/relationships/image" Target="../media/image182.png"  /><Relationship Id="rId15" Type="http://schemas.openxmlformats.org/officeDocument/2006/relationships/image" Target="../media/image183.png"  /><Relationship Id="rId16" Type="http://schemas.openxmlformats.org/officeDocument/2006/relationships/image" Target="../media/image184.png"  /><Relationship Id="rId17" Type="http://schemas.openxmlformats.org/officeDocument/2006/relationships/image" Target="../media/image18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71.png"  /><Relationship Id="rId4" Type="http://schemas.openxmlformats.org/officeDocument/2006/relationships/image" Target="../media/image172.png"  /><Relationship Id="rId5" Type="http://schemas.openxmlformats.org/officeDocument/2006/relationships/image" Target="../media/image173.png"  /><Relationship Id="rId6" Type="http://schemas.openxmlformats.org/officeDocument/2006/relationships/image" Target="../media/image174.png"  /><Relationship Id="rId7" Type="http://schemas.openxmlformats.org/officeDocument/2006/relationships/image" Target="../media/image175.png"  /><Relationship Id="rId8" Type="http://schemas.openxmlformats.org/officeDocument/2006/relationships/image" Target="../media/image176.png"  /><Relationship Id="rId9" Type="http://schemas.openxmlformats.org/officeDocument/2006/relationships/image" Target="../media/image177.png"  /></Relationships>
</file>

<file path=ppt/slides/_rels/slide2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3.xml"  /><Relationship Id="rId10" Type="http://schemas.openxmlformats.org/officeDocument/2006/relationships/image" Target="../media/image193.png"  /><Relationship Id="rId11" Type="http://schemas.openxmlformats.org/officeDocument/2006/relationships/image" Target="../media/image194.png"  /><Relationship Id="rId12" Type="http://schemas.openxmlformats.org/officeDocument/2006/relationships/image" Target="../media/image19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186.png"  /><Relationship Id="rId4" Type="http://schemas.openxmlformats.org/officeDocument/2006/relationships/image" Target="../media/image187.png"  /><Relationship Id="rId5" Type="http://schemas.openxmlformats.org/officeDocument/2006/relationships/image" Target="../media/image188.png"  /><Relationship Id="rId6" Type="http://schemas.openxmlformats.org/officeDocument/2006/relationships/image" Target="../media/image189.png"  /><Relationship Id="rId7" Type="http://schemas.openxmlformats.org/officeDocument/2006/relationships/image" Target="../media/image190.png"  /><Relationship Id="rId8" Type="http://schemas.openxmlformats.org/officeDocument/2006/relationships/image" Target="../media/image191.png"  /><Relationship Id="rId9" Type="http://schemas.openxmlformats.org/officeDocument/2006/relationships/image" Target="../media/image192.png"  /></Relationships>
</file>

<file path=ppt/slides/_rels/slide24.xml.rels><?xml version="1.0" encoding="UTF-8" standalone="yes" ?><Relationships xmlns="http://schemas.openxmlformats.org/package/2006/relationships"><Relationship Id="rId1" Type="http://schemas.openxmlformats.org/officeDocument/2006/relationships/image" Target="../media/image196.png"  /><Relationship Id="rId10" Type="http://schemas.openxmlformats.org/officeDocument/2006/relationships/image" Target="../media/image205.png"  /><Relationship Id="rId11" Type="http://schemas.openxmlformats.org/officeDocument/2006/relationships/slideLayout" Target="../slideLayouts/slideLayout1.xml"  /><Relationship Id="rId12" Type="http://schemas.openxmlformats.org/officeDocument/2006/relationships/notesSlide" Target="../notesSlides/notesSlide24.xml"  /><Relationship Id="rId2" Type="http://schemas.openxmlformats.org/officeDocument/2006/relationships/image" Target="../media/image197.png"  /><Relationship Id="rId3" Type="http://schemas.openxmlformats.org/officeDocument/2006/relationships/image" Target="../media/image198.png"  /><Relationship Id="rId4" Type="http://schemas.openxmlformats.org/officeDocument/2006/relationships/image" Target="../media/image199.png"  /><Relationship Id="rId5" Type="http://schemas.openxmlformats.org/officeDocument/2006/relationships/image" Target="../media/image200.png"  /><Relationship Id="rId6" Type="http://schemas.openxmlformats.org/officeDocument/2006/relationships/image" Target="../media/image201.png"  /><Relationship Id="rId7" Type="http://schemas.openxmlformats.org/officeDocument/2006/relationships/image" Target="../media/image202.png"  /><Relationship Id="rId8" Type="http://schemas.openxmlformats.org/officeDocument/2006/relationships/image" Target="../media/image203.png"  /><Relationship Id="rId9" Type="http://schemas.openxmlformats.org/officeDocument/2006/relationships/image" Target="../media/image204.png"  /></Relationships>
</file>

<file path=ppt/slides/_rels/slide2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5.xml"  /><Relationship Id="rId10" Type="http://schemas.openxmlformats.org/officeDocument/2006/relationships/image" Target="../media/image213.png"  /><Relationship Id="rId11" Type="http://schemas.openxmlformats.org/officeDocument/2006/relationships/image" Target="../media/image214.png"  /><Relationship Id="rId12" Type="http://schemas.openxmlformats.org/officeDocument/2006/relationships/image" Target="../media/image215.png"  /><Relationship Id="rId13" Type="http://schemas.openxmlformats.org/officeDocument/2006/relationships/image" Target="../media/image216.png"  /><Relationship Id="rId14" Type="http://schemas.openxmlformats.org/officeDocument/2006/relationships/image" Target="../media/image217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06.png"  /><Relationship Id="rId4" Type="http://schemas.openxmlformats.org/officeDocument/2006/relationships/image" Target="../media/image207.png"  /><Relationship Id="rId5" Type="http://schemas.openxmlformats.org/officeDocument/2006/relationships/image" Target="../media/image208.png"  /><Relationship Id="rId6" Type="http://schemas.openxmlformats.org/officeDocument/2006/relationships/image" Target="../media/image209.png"  /><Relationship Id="rId7" Type="http://schemas.openxmlformats.org/officeDocument/2006/relationships/image" Target="../media/image210.png"  /><Relationship Id="rId8" Type="http://schemas.openxmlformats.org/officeDocument/2006/relationships/image" Target="../media/image211.png"  /><Relationship Id="rId9" Type="http://schemas.openxmlformats.org/officeDocument/2006/relationships/image" Target="../media/image212.png"  /></Relationships>
</file>

<file path=ppt/slides/_rels/slide26.xml.rels><?xml version="1.0" encoding="UTF-8" standalone="yes" ?><Relationships xmlns="http://schemas.openxmlformats.org/package/2006/relationships"><Relationship Id="rId1" Type="http://schemas.openxmlformats.org/officeDocument/2006/relationships/image" Target="../media/image218.png"  /><Relationship Id="rId10" Type="http://schemas.openxmlformats.org/officeDocument/2006/relationships/image" Target="../media/image227.png"  /><Relationship Id="rId11" Type="http://schemas.openxmlformats.org/officeDocument/2006/relationships/slideLayout" Target="../slideLayouts/slideLayout1.xml"  /><Relationship Id="rId12" Type="http://schemas.openxmlformats.org/officeDocument/2006/relationships/notesSlide" Target="../notesSlides/notesSlide26.xml"  /><Relationship Id="rId2" Type="http://schemas.openxmlformats.org/officeDocument/2006/relationships/image" Target="../media/image219.png"  /><Relationship Id="rId3" Type="http://schemas.openxmlformats.org/officeDocument/2006/relationships/image" Target="../media/image220.png"  /><Relationship Id="rId4" Type="http://schemas.openxmlformats.org/officeDocument/2006/relationships/image" Target="../media/image221.png"  /><Relationship Id="rId5" Type="http://schemas.openxmlformats.org/officeDocument/2006/relationships/image" Target="../media/image222.png"  /><Relationship Id="rId6" Type="http://schemas.openxmlformats.org/officeDocument/2006/relationships/image" Target="../media/image223.png"  /><Relationship Id="rId7" Type="http://schemas.openxmlformats.org/officeDocument/2006/relationships/image" Target="../media/image224.png"  /><Relationship Id="rId8" Type="http://schemas.openxmlformats.org/officeDocument/2006/relationships/image" Target="../media/image225.png"  /><Relationship Id="rId9" Type="http://schemas.openxmlformats.org/officeDocument/2006/relationships/image" Target="../media/image226.png"  /></Relationships>
</file>

<file path=ppt/slides/_rels/slide27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7.xml"  /><Relationship Id="rId10" Type="http://schemas.openxmlformats.org/officeDocument/2006/relationships/image" Target="../media/image235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28.png"  /><Relationship Id="rId4" Type="http://schemas.openxmlformats.org/officeDocument/2006/relationships/image" Target="../media/image229.png"  /><Relationship Id="rId5" Type="http://schemas.openxmlformats.org/officeDocument/2006/relationships/image" Target="../media/image230.png"  /><Relationship Id="rId6" Type="http://schemas.openxmlformats.org/officeDocument/2006/relationships/image" Target="../media/image231.png"  /><Relationship Id="rId7" Type="http://schemas.openxmlformats.org/officeDocument/2006/relationships/image" Target="../media/image232.png"  /><Relationship Id="rId8" Type="http://schemas.openxmlformats.org/officeDocument/2006/relationships/image" Target="../media/image233.png"  /><Relationship Id="rId9" Type="http://schemas.openxmlformats.org/officeDocument/2006/relationships/image" Target="../media/image234.png"  /></Relationships>
</file>

<file path=ppt/slides/_rels/slide28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8.xml"  /><Relationship Id="rId10" Type="http://schemas.openxmlformats.org/officeDocument/2006/relationships/image" Target="../media/image243.png"  /><Relationship Id="rId11" Type="http://schemas.openxmlformats.org/officeDocument/2006/relationships/image" Target="../media/image244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36.png"  /><Relationship Id="rId4" Type="http://schemas.openxmlformats.org/officeDocument/2006/relationships/image" Target="../media/image237.png"  /><Relationship Id="rId5" Type="http://schemas.openxmlformats.org/officeDocument/2006/relationships/image" Target="../media/image238.png"  /><Relationship Id="rId6" Type="http://schemas.openxmlformats.org/officeDocument/2006/relationships/image" Target="../media/image239.png"  /><Relationship Id="rId7" Type="http://schemas.openxmlformats.org/officeDocument/2006/relationships/image" Target="../media/image240.png"  /><Relationship Id="rId8" Type="http://schemas.openxmlformats.org/officeDocument/2006/relationships/image" Target="../media/image241.png"  /><Relationship Id="rId9" Type="http://schemas.openxmlformats.org/officeDocument/2006/relationships/image" Target="../media/image242.png"  /></Relationships>
</file>

<file path=ppt/slides/_rels/slide29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9.xml"  /><Relationship Id="rId10" Type="http://schemas.openxmlformats.org/officeDocument/2006/relationships/image" Target="../media/image252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45.png"  /><Relationship Id="rId4" Type="http://schemas.openxmlformats.org/officeDocument/2006/relationships/image" Target="../media/image246.png"  /><Relationship Id="rId5" Type="http://schemas.openxmlformats.org/officeDocument/2006/relationships/image" Target="../media/image247.png"  /><Relationship Id="rId6" Type="http://schemas.openxmlformats.org/officeDocument/2006/relationships/image" Target="../media/image248.png"  /><Relationship Id="rId7" Type="http://schemas.openxmlformats.org/officeDocument/2006/relationships/image" Target="../media/image249.png"  /><Relationship Id="rId8" Type="http://schemas.openxmlformats.org/officeDocument/2006/relationships/image" Target="../media/image250.png"  /><Relationship Id="rId9" Type="http://schemas.openxmlformats.org/officeDocument/2006/relationships/image" Target="../media/image251.png"  /></Relationships>
</file>

<file path=ppt/slides/_rels/slide30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0.xml"  /><Relationship Id="rId10" Type="http://schemas.openxmlformats.org/officeDocument/2006/relationships/image" Target="../media/image260.png"  /><Relationship Id="rId11" Type="http://schemas.openxmlformats.org/officeDocument/2006/relationships/image" Target="../media/image261.png"  /><Relationship Id="rId12" Type="http://schemas.openxmlformats.org/officeDocument/2006/relationships/image" Target="../media/image262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53.png"  /><Relationship Id="rId4" Type="http://schemas.openxmlformats.org/officeDocument/2006/relationships/image" Target="../media/image254.png"  /><Relationship Id="rId5" Type="http://schemas.openxmlformats.org/officeDocument/2006/relationships/image" Target="../media/image255.png"  /><Relationship Id="rId6" Type="http://schemas.openxmlformats.org/officeDocument/2006/relationships/image" Target="../media/image256.png"  /><Relationship Id="rId7" Type="http://schemas.openxmlformats.org/officeDocument/2006/relationships/image" Target="../media/image257.png"  /><Relationship Id="rId8" Type="http://schemas.openxmlformats.org/officeDocument/2006/relationships/image" Target="../media/image258.png"  /><Relationship Id="rId9" Type="http://schemas.openxmlformats.org/officeDocument/2006/relationships/image" Target="../media/image259.png"  /></Relationships>
</file>

<file path=ppt/slides/_rels/slide31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1.xml"  /><Relationship Id="rId10" Type="http://schemas.openxmlformats.org/officeDocument/2006/relationships/image" Target="../media/image270.png"  /><Relationship Id="rId11" Type="http://schemas.openxmlformats.org/officeDocument/2006/relationships/image" Target="../media/image271.png"  /><Relationship Id="rId12" Type="http://schemas.openxmlformats.org/officeDocument/2006/relationships/image" Target="../media/image272.png"  /><Relationship Id="rId13" Type="http://schemas.openxmlformats.org/officeDocument/2006/relationships/image" Target="../media/image273.png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63.png"  /><Relationship Id="rId4" Type="http://schemas.openxmlformats.org/officeDocument/2006/relationships/image" Target="../media/image264.png"  /><Relationship Id="rId5" Type="http://schemas.openxmlformats.org/officeDocument/2006/relationships/image" Target="../media/image265.png"  /><Relationship Id="rId6" Type="http://schemas.openxmlformats.org/officeDocument/2006/relationships/image" Target="../media/image266.png"  /><Relationship Id="rId7" Type="http://schemas.openxmlformats.org/officeDocument/2006/relationships/image" Target="../media/image267.png"  /><Relationship Id="rId8" Type="http://schemas.openxmlformats.org/officeDocument/2006/relationships/image" Target="../media/image268.png"  /><Relationship Id="rId9" Type="http://schemas.openxmlformats.org/officeDocument/2006/relationships/image" Target="../media/image269.png"  /></Relationships>
</file>

<file path=ppt/slides/_rels/slide32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2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74.png"  /><Relationship Id="rId4" Type="http://schemas.openxmlformats.org/officeDocument/2006/relationships/image" Target="../media/image275.png"  /><Relationship Id="rId5" Type="http://schemas.openxmlformats.org/officeDocument/2006/relationships/image" Target="../media/image276.png"  /><Relationship Id="rId6" Type="http://schemas.openxmlformats.org/officeDocument/2006/relationships/image" Target="../media/image277.png"  /><Relationship Id="rId7" Type="http://schemas.openxmlformats.org/officeDocument/2006/relationships/image" Target="../media/image278.png"  /></Relationships>
</file>

<file path=ppt/slides/_rels/slide33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33.xml"  /><Relationship Id="rId2" Type="http://schemas.openxmlformats.org/officeDocument/2006/relationships/slideLayout" Target="../slideLayouts/slideLayout1.xml"  /><Relationship Id="rId3" Type="http://schemas.openxmlformats.org/officeDocument/2006/relationships/image" Target="../media/image279.png"  /><Relationship Id="rId4" Type="http://schemas.openxmlformats.org/officeDocument/2006/relationships/image" Target="../media/image280.png"  /><Relationship Id="rId5" Type="http://schemas.openxmlformats.org/officeDocument/2006/relationships/image" Target="../media/image281.png"  /><Relationship Id="rId6" Type="http://schemas.openxmlformats.org/officeDocument/2006/relationships/image" Target="../media/image282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7145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10436962" y="895198"/>
            <a:ext cx="1190549" cy="342900"/>
          </a:xfrm>
          <a:prstGeom prst="roundRect">
            <a:avLst>
              <a:gd name="adj" fmla="val 59259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05256" y="2314346"/>
            <a:ext cx="190195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1100" b="-1100"/>
          <a:stretch/>
        </p:blipFill>
        <p:spPr>
          <a:xfrm>
            <a:off x="809244" y="2809951"/>
            <a:ext cx="114300" cy="13350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1100" b="-1100"/>
          <a:stretch/>
        </p:blipFill>
        <p:spPr>
          <a:xfrm>
            <a:off x="809244" y="3633826"/>
            <a:ext cx="114300" cy="13350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809244" y="4457700"/>
            <a:ext cx="114300" cy="1335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4330598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4568342" y="22192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3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88129" y="2314346"/>
            <a:ext cx="142646" cy="190195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4568342" y="2752344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증강 전략 추가 수집 없이 232장 → 651장 확보 및 정합성 검증 완료</a:t>
            </a:r>
            <a:endParaRPr lang="en-US" sz="1200" dirty="0"/>
          </a:p>
        </p:txBody>
      </p:sp>
      <p:sp>
        <p:nvSpPr>
          <p:cNvPr id="15" name="Text 8"/>
          <p:cNvSpPr txBox="1"/>
          <p:nvPr/>
        </p:nvSpPr>
        <p:spPr>
          <a:xfrm>
            <a:off x="4568342" y="3362249"/>
            <a:ext cx="317205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실시간성 확보 모바일 환경 UX를 고려하여 무거운 모델 대신 YOLO 최적화 선택</a:t>
            </a:r>
            <a:endParaRPr lang="en-US" sz="1200" dirty="0"/>
          </a:p>
        </p:txBody>
      </p:sp>
      <p:pic>
        <p:nvPicPr>
          <p:cNvPr id="16" name="Image 5" descr="preencoded.png">    </p:cNvPr>
          <p:cNvPicPr>
            <a:picLocks noChangeAspect="1"/>
          </p:cNvPicPr>
          <p:nvPr/>
        </p:nvPicPr>
        <p:blipFill>
          <a:blip r:embed="rId8"/>
          <a:srcRect l="-1507" r="-1507" t="0" b="0"/>
          <a:stretch/>
        </p:blipFill>
        <p:spPr>
          <a:xfrm>
            <a:off x="4568342" y="4028846"/>
            <a:ext cx="171907" cy="133502"/>
          </a:xfrm>
          <a:prstGeom prst="rect">
            <a:avLst/>
          </a:prstGeom>
        </p:spPr>
      </p:pic>
      <p:sp>
        <p:nvSpPr>
          <p:cNvPr id="17" name="Shape 9"/>
          <p:cNvSpPr/>
          <p:nvPr/>
        </p:nvSpPr>
        <p:spPr>
          <a:xfrm>
            <a:off x="8089697" y="1981505"/>
            <a:ext cx="3534156" cy="3991356"/>
          </a:xfrm>
          <a:prstGeom prst="roundRect">
            <a:avLst>
              <a:gd name="adj" fmla="val 111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0"/>
          <p:cNvSpPr/>
          <p:nvPr/>
        </p:nvSpPr>
        <p:spPr>
          <a:xfrm>
            <a:off x="8328355" y="2219249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9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8423453" y="2314346"/>
            <a:ext cx="190195" cy="190195"/>
          </a:xfrm>
          <a:prstGeom prst="rect">
            <a:avLst/>
          </a:prstGeom>
        </p:spPr>
      </p:pic>
      <p:sp>
        <p:nvSpPr>
          <p:cNvPr id="20" name="Shape 11"/>
          <p:cNvSpPr/>
          <p:nvPr/>
        </p:nvSpPr>
        <p:spPr>
          <a:xfrm>
            <a:off x="8328355" y="3978554"/>
            <a:ext cx="3057754" cy="9144"/>
          </a:xfrm>
          <a:prstGeom prst="rect">
            <a:avLst/>
          </a:prstGeom>
          <a:solidFill>
            <a:srgbClr val="C7D2FE"/>
          </a:solidFill>
          <a:ln/>
        </p:spPr>
      </p:sp>
      <p:pic>
        <p:nvPicPr>
          <p:cNvPr id="21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8817559" y="4441241"/>
            <a:ext cx="114300" cy="133502"/>
          </a:xfrm>
          <a:prstGeom prst="rect">
            <a:avLst/>
          </a:prstGeom>
        </p:spPr>
      </p:pic>
      <p:sp>
        <p:nvSpPr>
          <p:cNvPr id="22" name="Shape 12"/>
          <p:cNvSpPr/>
          <p:nvPr/>
        </p:nvSpPr>
        <p:spPr>
          <a:xfrm>
            <a:off x="8328355" y="5105095"/>
            <a:ext cx="3057754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0E7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3" name="Image 8" descr="preencoded.png">    </p:cNvPr>
          <p:cNvPicPr>
            <a:picLocks noChangeAspect="1"/>
          </p:cNvPicPr>
          <p:nvPr/>
        </p:nvPicPr>
        <p:blipFill>
          <a:blip r:embed="rId11"/>
          <a:srcRect l="-1507" r="-1507" t="0" b="0"/>
          <a:stretch/>
        </p:blipFill>
        <p:spPr>
          <a:xfrm>
            <a:off x="8451799" y="5257800"/>
            <a:ext cx="171907" cy="133502"/>
          </a:xfrm>
          <a:prstGeom prst="rect">
            <a:avLst/>
          </a:prstGeom>
        </p:spPr>
      </p:pic>
      <p:sp>
        <p:nvSpPr>
          <p:cNvPr id="24" name="Shape 13"/>
          <p:cNvSpPr/>
          <p:nvPr/>
        </p:nvSpPr>
        <p:spPr>
          <a:xfrm>
            <a:off x="571500" y="62005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14"/>
          <p:cNvSpPr txBox="1"/>
          <p:nvPr/>
        </p:nvSpPr>
        <p:spPr>
          <a:xfrm>
            <a:off x="571500" y="381305"/>
            <a:ext cx="18434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· SUPER AGENTS</a:t>
            </a:r>
            <a:endParaRPr lang="en-US" sz="1000" dirty="0"/>
          </a:p>
        </p:txBody>
      </p:sp>
      <p:sp>
        <p:nvSpPr>
          <p:cNvPr id="26" name="Text 15"/>
          <p:cNvSpPr txBox="1"/>
          <p:nvPr/>
        </p:nvSpPr>
        <p:spPr>
          <a:xfrm>
            <a:off x="571500" y="599846"/>
            <a:ext cx="18388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</a:t>
            </a:r>
            <a:endParaRPr lang="en-US" sz="3600" dirty="0"/>
          </a:p>
        </p:txBody>
      </p:sp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10589666" y="1007669"/>
            <a:ext cx="114300" cy="133502"/>
          </a:xfrm>
          <a:prstGeom prst="rect">
            <a:avLst/>
          </a:prstGeom>
        </p:spPr>
      </p:pic>
      <p:sp>
        <p:nvSpPr>
          <p:cNvPr id="28" name="Text 16"/>
          <p:cNvSpPr txBox="1"/>
          <p:nvPr/>
        </p:nvSpPr>
        <p:spPr>
          <a:xfrm>
            <a:off x="10779862" y="972007"/>
            <a:ext cx="795528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2025.12.2</a:t>
            </a:r>
            <a:r>
              <a:rPr lang="en-US" altLang="ko-KR" sz="1000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3</a:t>
            </a:r>
            <a:endParaRPr lang="en-US" altLang="ko-KR" sz="1000">
              <a:solidFill>
                <a:srgbClr val="fffff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9" name="Text 17"/>
          <p:cNvSpPr txBox="1"/>
          <p:nvPr/>
        </p:nvSpPr>
        <p:spPr>
          <a:xfrm>
            <a:off x="1304849" y="2266798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우리팀이 주목한 점</a:t>
            </a:r>
            <a:endParaRPr lang="en-US" sz="1500" dirty="0"/>
          </a:p>
        </p:txBody>
      </p:sp>
      <p:sp>
        <p:nvSpPr>
          <p:cNvPr id="30" name="Text 18"/>
          <p:cNvSpPr txBox="1"/>
          <p:nvPr/>
        </p:nvSpPr>
        <p:spPr>
          <a:xfrm>
            <a:off x="1037844" y="2762402"/>
            <a:ext cx="15197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"점수"보다 "신뢰"</a:t>
            </a:r>
            <a:endParaRPr lang="en-US" sz="1300" dirty="0"/>
          </a:p>
        </p:txBody>
      </p:sp>
      <p:sp>
        <p:nvSpPr>
          <p:cNvPr id="31" name="Text 19"/>
          <p:cNvSpPr txBox="1"/>
          <p:nvPr/>
        </p:nvSpPr>
        <p:spPr>
          <a:xfrm>
            <a:off x="1037844" y="3047695"/>
            <a:ext cx="27770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mAP 상승이 아닌, 실제 운영 환경에서 믿을 수 있는 근거 마련</a:t>
            </a:r>
            <a:endParaRPr lang="en-US" sz="1000" dirty="0"/>
          </a:p>
        </p:txBody>
      </p:sp>
      <p:sp>
        <p:nvSpPr>
          <p:cNvPr id="32" name="Text 20"/>
          <p:cNvSpPr txBox="1"/>
          <p:nvPr/>
        </p:nvSpPr>
        <p:spPr>
          <a:xfrm>
            <a:off x="1037844" y="3586277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리소스</a:t>
            </a:r>
            <a:endParaRPr lang="en-US" sz="1300" dirty="0"/>
          </a:p>
        </p:txBody>
      </p:sp>
      <p:sp>
        <p:nvSpPr>
          <p:cNvPr id="33" name="Text 21"/>
          <p:cNvSpPr txBox="1"/>
          <p:nvPr/>
        </p:nvSpPr>
        <p:spPr>
          <a:xfrm>
            <a:off x="1037844" y="3871570"/>
            <a:ext cx="27194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부족 상황을 가정하여 효율적인 End-to-End 파이프라인 구축</a:t>
            </a:r>
            <a:endParaRPr lang="en-US" sz="1000" dirty="0"/>
          </a:p>
        </p:txBody>
      </p:sp>
      <p:sp>
        <p:nvSpPr>
          <p:cNvPr id="34" name="Text 22"/>
          <p:cNvSpPr txBox="1"/>
          <p:nvPr/>
        </p:nvSpPr>
        <p:spPr>
          <a:xfrm>
            <a:off x="1037844" y="4410151"/>
            <a:ext cx="1100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중심 개발</a:t>
            </a:r>
            <a:endParaRPr lang="en-US" sz="1300" dirty="0"/>
          </a:p>
        </p:txBody>
      </p:sp>
      <p:sp>
        <p:nvSpPr>
          <p:cNvPr id="35" name="Text 23"/>
          <p:cNvSpPr txBox="1"/>
          <p:nvPr/>
        </p:nvSpPr>
        <p:spPr>
          <a:xfrm>
            <a:off x="1037844" y="4695444"/>
            <a:ext cx="28437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엄격한 Leakage Gate와 측정기 고정을 통한 신뢰성 확보</a:t>
            </a:r>
            <a:endParaRPr lang="en-US" sz="1000" dirty="0"/>
          </a:p>
        </p:txBody>
      </p:sp>
      <p:sp>
        <p:nvSpPr>
          <p:cNvPr id="36" name="Text 24"/>
          <p:cNvSpPr txBox="1"/>
          <p:nvPr/>
        </p:nvSpPr>
        <p:spPr>
          <a:xfrm>
            <a:off x="5063947" y="2266798"/>
            <a:ext cx="14292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프로젝트 차별점</a:t>
            </a:r>
            <a:endParaRPr lang="en-US" sz="1500" dirty="0"/>
          </a:p>
        </p:txBody>
      </p:sp>
      <p:sp>
        <p:nvSpPr>
          <p:cNvPr id="37" name="Text 25"/>
          <p:cNvSpPr txBox="1"/>
          <p:nvPr/>
        </p:nvSpPr>
        <p:spPr>
          <a:xfrm>
            <a:off x="4854550" y="3981298"/>
            <a:ext cx="1014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 과정 검증</a:t>
            </a:r>
            <a:endParaRPr lang="en-US" sz="1300" dirty="0"/>
          </a:p>
        </p:txBody>
      </p:sp>
      <p:sp>
        <p:nvSpPr>
          <p:cNvPr id="38" name="Text 26"/>
          <p:cNvSpPr txBox="1"/>
          <p:nvPr/>
        </p:nvSpPr>
        <p:spPr>
          <a:xfrm>
            <a:off x="4854550" y="4267505"/>
            <a:ext cx="28721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데이터부터 서비스 배포까지 끊김 없는 파이프라인 설계</a:t>
            </a:r>
            <a:endParaRPr lang="en-US" sz="1000" dirty="0"/>
          </a:p>
        </p:txBody>
      </p:sp>
      <p:sp>
        <p:nvSpPr>
          <p:cNvPr id="39" name="Text 27"/>
          <p:cNvSpPr txBox="1"/>
          <p:nvPr/>
        </p:nvSpPr>
        <p:spPr>
          <a:xfrm>
            <a:off x="8823046" y="2266798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성과</a:t>
            </a:r>
            <a:endParaRPr lang="en-US" sz="1500" dirty="0"/>
          </a:p>
        </p:txBody>
      </p:sp>
      <p:sp>
        <p:nvSpPr>
          <p:cNvPr id="40" name="Text 28"/>
          <p:cNvSpPr txBox="1"/>
          <p:nvPr/>
        </p:nvSpPr>
        <p:spPr>
          <a:xfrm>
            <a:off x="8328355" y="2743200"/>
            <a:ext cx="1381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PERFORMANCE</a:t>
            </a:r>
            <a:endParaRPr lang="en-US" sz="900" dirty="0"/>
          </a:p>
        </p:txBody>
      </p:sp>
      <p:sp>
        <p:nvSpPr>
          <p:cNvPr id="41" name="Text 29"/>
          <p:cNvSpPr txBox="1"/>
          <p:nvPr/>
        </p:nvSpPr>
        <p:spPr>
          <a:xfrm>
            <a:off x="8328355" y="2885846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2700" dirty="0"/>
          </a:p>
        </p:txBody>
      </p:sp>
      <p:sp>
        <p:nvSpPr>
          <p:cNvPr id="42" name="Text 30"/>
          <p:cNvSpPr txBox="1"/>
          <p:nvPr/>
        </p:nvSpPr>
        <p:spPr>
          <a:xfrm>
            <a:off x="9360713" y="3133649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50-95</a:t>
            </a:r>
            <a:endParaRPr lang="en-US" sz="1000" dirty="0"/>
          </a:p>
        </p:txBody>
      </p:sp>
      <p:sp>
        <p:nvSpPr>
          <p:cNvPr id="43" name="Text 31"/>
          <p:cNvSpPr txBox="1"/>
          <p:nvPr/>
        </p:nvSpPr>
        <p:spPr>
          <a:xfrm>
            <a:off x="8328355" y="3343046"/>
            <a:ext cx="790956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0.958</a:t>
            </a:r>
            <a:endParaRPr lang="en-US" sz="1800" dirty="0"/>
          </a:p>
        </p:txBody>
      </p:sp>
      <p:sp>
        <p:nvSpPr>
          <p:cNvPr id="44" name="Text 32"/>
          <p:cNvSpPr txBox="1"/>
          <p:nvPr/>
        </p:nvSpPr>
        <p:spPr>
          <a:xfrm>
            <a:off x="9017813" y="3476549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50</a:t>
            </a:r>
            <a:endParaRPr lang="en-US" sz="900" dirty="0"/>
          </a:p>
        </p:txBody>
      </p:sp>
      <p:sp>
        <p:nvSpPr>
          <p:cNvPr id="45" name="Text 33"/>
          <p:cNvSpPr txBox="1"/>
          <p:nvPr/>
        </p:nvSpPr>
        <p:spPr>
          <a:xfrm>
            <a:off x="8328355" y="4136746"/>
            <a:ext cx="9528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SERVICE SCALE</a:t>
            </a:r>
            <a:endParaRPr lang="en-US" sz="900" dirty="0"/>
          </a:p>
        </p:txBody>
      </p:sp>
      <p:sp>
        <p:nvSpPr>
          <p:cNvPr id="46" name="Text 34"/>
          <p:cNvSpPr txBox="1"/>
          <p:nvPr/>
        </p:nvSpPr>
        <p:spPr>
          <a:xfrm>
            <a:off x="8328355" y="429859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2200" dirty="0"/>
          </a:p>
        </p:txBody>
      </p:sp>
      <p:sp>
        <p:nvSpPr>
          <p:cNvPr id="47" name="Text 35"/>
          <p:cNvSpPr txBox="1"/>
          <p:nvPr/>
        </p:nvSpPr>
        <p:spPr>
          <a:xfrm>
            <a:off x="9007754" y="429859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2200" dirty="0"/>
          </a:p>
        </p:txBody>
      </p:sp>
      <p:sp>
        <p:nvSpPr>
          <p:cNvPr id="48" name="Text 36"/>
          <p:cNvSpPr txBox="1"/>
          <p:nvPr/>
        </p:nvSpPr>
        <p:spPr>
          <a:xfrm>
            <a:off x="9421978" y="4412894"/>
            <a:ext cx="566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1000" dirty="0"/>
          </a:p>
        </p:txBody>
      </p:sp>
      <p:sp>
        <p:nvSpPr>
          <p:cNvPr id="49" name="Text 37"/>
          <p:cNvSpPr txBox="1"/>
          <p:nvPr/>
        </p:nvSpPr>
        <p:spPr>
          <a:xfrm>
            <a:off x="8328355" y="4708246"/>
            <a:ext cx="15151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확장 및 인식 범위 증대</a:t>
            </a:r>
            <a:endParaRPr lang="en-US" sz="900" dirty="0"/>
          </a:p>
        </p:txBody>
      </p:sp>
      <p:sp>
        <p:nvSpPr>
          <p:cNvPr id="50" name="Text 38"/>
          <p:cNvSpPr txBox="1"/>
          <p:nvPr/>
        </p:nvSpPr>
        <p:spPr>
          <a:xfrm>
            <a:off x="8699602" y="5228539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+ FastAPI</a:t>
            </a:r>
            <a:endParaRPr lang="en-US" sz="1000" dirty="0"/>
          </a:p>
        </p:txBody>
      </p:sp>
      <p:sp>
        <p:nvSpPr>
          <p:cNvPr id="51" name="Text 39"/>
          <p:cNvSpPr txBox="1"/>
          <p:nvPr/>
        </p:nvSpPr>
        <p:spPr>
          <a:xfrm>
            <a:off x="8451799" y="5447995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웹 서비스 배포 완료</a:t>
            </a:r>
            <a:endParaRPr lang="en-US" sz="900" dirty="0"/>
          </a:p>
        </p:txBody>
      </p:sp>
      <p:sp>
        <p:nvSpPr>
          <p:cNvPr id="52" name="Text 40"/>
          <p:cNvSpPr txBox="1"/>
          <p:nvPr/>
        </p:nvSpPr>
        <p:spPr>
          <a:xfrm>
            <a:off x="571500" y="6314846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53" name="Text 41"/>
          <p:cNvSpPr txBox="1"/>
          <p:nvPr/>
        </p:nvSpPr>
        <p:spPr>
          <a:xfrm>
            <a:off x="10521086" y="6314846"/>
            <a:ext cx="1191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Presentation</a:t>
            </a:r>
            <a:endParaRPr lang="en-US" sz="900" dirty="0"/>
          </a:p>
        </p:txBody>
      </p:sp>
      <p:sp>
        <p:nvSpPr>
          <p:cNvPr id="54" name="Text 42"/>
          <p:cNvSpPr txBox="1"/>
          <p:nvPr/>
        </p:nvSpPr>
        <p:spPr>
          <a:xfrm>
            <a:off x="571500" y="1276502"/>
            <a:ext cx="50584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 기반 알약 식별 + 스마트 복약 관리 (End-to-End)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23798"/>
            <a:ext cx="6324905" cy="5277002"/>
          </a:xfrm>
          <a:prstGeom prst="roundRect">
            <a:avLst>
              <a:gd name="adj" fmla="val 500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194499" y="1123798"/>
            <a:ext cx="75895" cy="22101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98994" y="1390802"/>
            <a:ext cx="142646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98994" y="1809598"/>
            <a:ext cx="133502" cy="133502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98994" y="2305202"/>
            <a:ext cx="133502" cy="133502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98994" y="2800807"/>
            <a:ext cx="133502" cy="133502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7194499" y="3562502"/>
            <a:ext cx="4429354" cy="2838298"/>
          </a:xfrm>
          <a:prstGeom prst="roundRect">
            <a:avLst>
              <a:gd name="adj" fmla="val 173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32243" y="3838651"/>
            <a:ext cx="237744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7432243" y="4525366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Shape 7"/>
          <p:cNvSpPr/>
          <p:nvPr/>
        </p:nvSpPr>
        <p:spPr>
          <a:xfrm>
            <a:off x="7432243" y="4953305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Shape 8"/>
          <p:cNvSpPr/>
          <p:nvPr/>
        </p:nvSpPr>
        <p:spPr>
          <a:xfrm>
            <a:off x="7432243" y="4647895"/>
            <a:ext cx="418795" cy="228600"/>
          </a:xfrm>
          <a:prstGeom prst="roundRect">
            <a:avLst>
              <a:gd name="adj" fmla="val 66667"/>
            </a:avLst>
          </a:prstGeom>
          <a:solidFill>
            <a:srgbClr val="DBEAFE"/>
          </a:solidFill>
          <a:ln/>
        </p:spPr>
      </p:sp>
      <p:sp>
        <p:nvSpPr>
          <p:cNvPr id="16" name="Shape 9"/>
          <p:cNvSpPr/>
          <p:nvPr/>
        </p:nvSpPr>
        <p:spPr>
          <a:xfrm>
            <a:off x="7432243" y="5382158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7" name="Shape 10"/>
          <p:cNvSpPr/>
          <p:nvPr/>
        </p:nvSpPr>
        <p:spPr>
          <a:xfrm>
            <a:off x="7432243" y="5076749"/>
            <a:ext cx="504749" cy="228600"/>
          </a:xfrm>
          <a:prstGeom prst="roundRect">
            <a:avLst>
              <a:gd name="adj" fmla="val 66667"/>
            </a:avLst>
          </a:prstGeom>
          <a:solidFill>
            <a:srgbClr val="E0E7FF"/>
          </a:solidFill>
          <a:ln/>
        </p:spPr>
      </p:sp>
      <p:sp>
        <p:nvSpPr>
          <p:cNvPr id="18" name="Shape 11"/>
          <p:cNvSpPr/>
          <p:nvPr/>
        </p:nvSpPr>
        <p:spPr>
          <a:xfrm>
            <a:off x="7432243" y="5811012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Shape 12"/>
          <p:cNvSpPr/>
          <p:nvPr/>
        </p:nvSpPr>
        <p:spPr>
          <a:xfrm>
            <a:off x="7432243" y="5505602"/>
            <a:ext cx="314554" cy="228600"/>
          </a:xfrm>
          <a:prstGeom prst="roundRect">
            <a:avLst>
              <a:gd name="adj" fmla="val 66667"/>
            </a:avLst>
          </a:prstGeom>
          <a:solidFill>
            <a:srgbClr val="EDE9FE"/>
          </a:solidFill>
          <a:ln/>
        </p:spPr>
      </p:sp>
      <p:sp>
        <p:nvSpPr>
          <p:cNvPr id="20" name="Shape 13"/>
          <p:cNvSpPr/>
          <p:nvPr/>
        </p:nvSpPr>
        <p:spPr>
          <a:xfrm>
            <a:off x="7432243" y="5934456"/>
            <a:ext cx="590702" cy="228600"/>
          </a:xfrm>
          <a:prstGeom prst="roundRect">
            <a:avLst>
              <a:gd name="adj" fmla="val 66667"/>
            </a:avLst>
          </a:prstGeom>
          <a:solidFill>
            <a:srgbClr val="FCE7F3"/>
          </a:solidFill>
          <a:ln/>
        </p:spPr>
      </p:sp>
      <p:sp>
        <p:nvSpPr>
          <p:cNvPr id="21" name="Shape 14"/>
          <p:cNvSpPr/>
          <p:nvPr/>
        </p:nvSpPr>
        <p:spPr>
          <a:xfrm>
            <a:off x="571500" y="6553505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Text 15"/>
          <p:cNvSpPr txBox="1"/>
          <p:nvPr/>
        </p:nvSpPr>
        <p:spPr>
          <a:xfrm>
            <a:off x="571500" y="2761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400507"/>
            <a:ext cx="27249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구성 (25분)</a:t>
            </a:r>
            <a:endParaRPr lang="en-US" sz="2700" dirty="0"/>
          </a:p>
        </p:txBody>
      </p:sp>
      <p:sp>
        <p:nvSpPr>
          <p:cNvPr id="24" name="Text 17"/>
          <p:cNvSpPr txBox="1"/>
          <p:nvPr/>
        </p:nvSpPr>
        <p:spPr>
          <a:xfrm>
            <a:off x="7718450" y="13624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발표 체크 포인트</a:t>
            </a:r>
            <a:endParaRPr lang="en-US" sz="1300" dirty="0"/>
          </a:p>
        </p:txBody>
      </p:sp>
      <p:sp>
        <p:nvSpPr>
          <p:cNvPr id="25" name="Text 18"/>
          <p:cNvSpPr txBox="1"/>
          <p:nvPr/>
        </p:nvSpPr>
        <p:spPr>
          <a:xfrm>
            <a:off x="7709306" y="1772107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 vs 신뢰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709306" y="1952244"/>
            <a:ext cx="2334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운영에서 믿을 수 있는 근거를 어떻게 만들었나?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709306" y="2266798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레버 우선순위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709306" y="2447849"/>
            <a:ext cx="20574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부족한 데이터 상황에서 무엇을 우선했나?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709306" y="2762402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 타당성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709306" y="2943454"/>
            <a:ext cx="2276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속도/배포/안정성 관점에서의 YOLO 선택 이유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7746797" y="3810305"/>
            <a:ext cx="11009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구성</a:t>
            </a:r>
            <a:endParaRPr lang="en-US" sz="1300" dirty="0"/>
          </a:p>
        </p:txBody>
      </p:sp>
      <p:sp>
        <p:nvSpPr>
          <p:cNvPr id="32" name="Text 25"/>
          <p:cNvSpPr txBox="1"/>
          <p:nvPr/>
        </p:nvSpPr>
        <p:spPr>
          <a:xfrm>
            <a:off x="7509053" y="4248302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PM / 총괄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013948" y="423824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임창현</a:t>
            </a:r>
            <a:endParaRPr lang="en-US" sz="1000" dirty="0"/>
          </a:p>
        </p:txBody>
      </p:sp>
      <p:sp>
        <p:nvSpPr>
          <p:cNvPr id="34" name="Text 27"/>
          <p:cNvSpPr txBox="1"/>
          <p:nvPr/>
        </p:nvSpPr>
        <p:spPr>
          <a:xfrm>
            <a:off x="7509053" y="4677156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10568635" y="4667098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마정흠, 송주영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509053" y="5105095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568635" y="5095951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송주영, 마정흠</a:t>
            </a:r>
            <a:endParaRPr lang="en-US" sz="1000" dirty="0"/>
          </a:p>
        </p:txBody>
      </p:sp>
      <p:sp>
        <p:nvSpPr>
          <p:cNvPr id="38" name="Text 31"/>
          <p:cNvSpPr txBox="1"/>
          <p:nvPr/>
        </p:nvSpPr>
        <p:spPr>
          <a:xfrm>
            <a:off x="7509053" y="5533949"/>
            <a:ext cx="2478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5B21B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</a:t>
            </a:r>
            <a:endParaRPr lang="en-US" sz="900" dirty="0"/>
          </a:p>
        </p:txBody>
      </p:sp>
      <p:sp>
        <p:nvSpPr>
          <p:cNvPr id="39" name="Text 32"/>
          <p:cNvSpPr txBox="1"/>
          <p:nvPr/>
        </p:nvSpPr>
        <p:spPr>
          <a:xfrm>
            <a:off x="10568635" y="55248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문진우, 임창현</a:t>
            </a:r>
            <a:endParaRPr lang="en-US" sz="1000" dirty="0"/>
          </a:p>
        </p:txBody>
      </p:sp>
      <p:sp>
        <p:nvSpPr>
          <p:cNvPr id="40" name="Text 33"/>
          <p:cNvSpPr txBox="1"/>
          <p:nvPr/>
        </p:nvSpPr>
        <p:spPr>
          <a:xfrm>
            <a:off x="7509053" y="5962802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</a:t>
            </a:r>
            <a:endParaRPr lang="en-US" sz="900" dirty="0"/>
          </a:p>
        </p:txBody>
      </p:sp>
      <p:sp>
        <p:nvSpPr>
          <p:cNvPr id="41" name="Text 34"/>
          <p:cNvSpPr txBox="1"/>
          <p:nvPr/>
        </p:nvSpPr>
        <p:spPr>
          <a:xfrm>
            <a:off x="11013948" y="5952744"/>
            <a:ext cx="4718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정상혁</a:t>
            </a:r>
            <a:endParaRPr lang="en-US" sz="1000" dirty="0"/>
          </a:p>
        </p:txBody>
      </p:sp>
      <p:sp>
        <p:nvSpPr>
          <p:cNvPr id="42" name="Text 35"/>
          <p:cNvSpPr txBox="1"/>
          <p:nvPr/>
        </p:nvSpPr>
        <p:spPr>
          <a:xfrm>
            <a:off x="571500" y="6629400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43" name="Text 36"/>
          <p:cNvSpPr txBox="1"/>
          <p:nvPr/>
        </p:nvSpPr>
        <p:spPr>
          <a:xfrm>
            <a:off x="11096244" y="6629400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2/33</a:t>
            </a:r>
            <a:endParaRPr lang="en-US" sz="900" dirty="0"/>
          </a:p>
        </p:txBody>
      </p:sp>
      <p:sp>
        <p:nvSpPr>
          <p:cNvPr id="44" name="Text 37"/>
          <p:cNvSpPr txBox="1"/>
          <p:nvPr/>
        </p:nvSpPr>
        <p:spPr>
          <a:xfrm>
            <a:off x="10057486" y="562356"/>
            <a:ext cx="1700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Agenda &amp; Team Info</a:t>
            </a:r>
            <a:endParaRPr lang="en-US" sz="1300" dirty="0"/>
          </a:p>
        </p:txBody>
      </p:sp>
      <p:sp>
        <p:nvSpPr>
          <p:cNvPr id="45" name="Text 38"/>
          <p:cNvSpPr txBox="1"/>
          <p:nvPr/>
        </p:nvSpPr>
        <p:spPr>
          <a:xfrm>
            <a:off x="1571854" y="1485900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571854" y="1781251"/>
            <a:ext cx="2319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필요한가? 프로젝트 제약과 목표 설정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571854" y="2514600"/>
            <a:ext cx="1443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엔지니어링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1571854" y="2809951"/>
            <a:ext cx="28821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부족/불균형 해결 → 학습 가능한 상태 확보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571854" y="3543300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선택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1571854" y="3838651"/>
            <a:ext cx="2395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비교 분석 → YOLO 선택 근거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1571854" y="4572000"/>
            <a:ext cx="90982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&amp; 검증</a:t>
            </a:r>
            <a:endParaRPr lang="en-US" sz="1300" dirty="0"/>
          </a:p>
        </p:txBody>
      </p:sp>
      <p:sp>
        <p:nvSpPr>
          <p:cNvPr id="52" name="Text 45"/>
          <p:cNvSpPr txBox="1"/>
          <p:nvPr/>
        </p:nvSpPr>
        <p:spPr>
          <a:xfrm>
            <a:off x="1571854" y="4867351"/>
            <a:ext cx="24533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방지 / 측정기 고정 / 신뢰도 관리</a:t>
            </a:r>
            <a:endParaRPr lang="en-US" sz="1000" dirty="0"/>
          </a:p>
        </p:txBody>
      </p:sp>
      <p:sp>
        <p:nvSpPr>
          <p:cNvPr id="53" name="Text 46"/>
          <p:cNvSpPr txBox="1"/>
          <p:nvPr/>
        </p:nvSpPr>
        <p:spPr>
          <a:xfrm>
            <a:off x="1571854" y="5600700"/>
            <a:ext cx="11484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&amp; 결과</a:t>
            </a:r>
            <a:endParaRPr lang="en-US" sz="1300" dirty="0"/>
          </a:p>
        </p:txBody>
      </p:sp>
      <p:sp>
        <p:nvSpPr>
          <p:cNvPr id="54" name="Text 47"/>
          <p:cNvSpPr txBox="1"/>
          <p:nvPr/>
        </p:nvSpPr>
        <p:spPr>
          <a:xfrm>
            <a:off x="1571854" y="5896051"/>
            <a:ext cx="2167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아키텍처 + UI 구현, 성과와 한계</a:t>
            </a:r>
            <a:endParaRPr lang="en-US" sz="1000" dirty="0"/>
          </a:p>
        </p:txBody>
      </p:sp>
      <p:sp>
        <p:nvSpPr>
          <p:cNvPr id="55" name="Shape 48"/>
          <p:cNvSpPr/>
          <p:nvPr/>
        </p:nvSpPr>
        <p:spPr>
          <a:xfrm>
            <a:off x="1114654" y="14383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fe6f7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56" name="Text 49"/>
          <p:cNvSpPr txBox="1"/>
          <p:nvPr/>
        </p:nvSpPr>
        <p:spPr>
          <a:xfrm>
            <a:off x="1221638" y="14767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200" dirty="0"/>
          </a:p>
        </p:txBody>
      </p:sp>
      <p:sp>
        <p:nvSpPr>
          <p:cNvPr id="57" name="Shape 50"/>
          <p:cNvSpPr/>
          <p:nvPr/>
        </p:nvSpPr>
        <p:spPr>
          <a:xfrm>
            <a:off x="1114654" y="24670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c0cdef"/>
          </a:solidFill>
          <a:ln w="25400">
            <a:solidFill>
              <a:srgbClr val="ffffff"/>
            </a:solidFill>
            <a:prstDash val="solid"/>
          </a:ln>
          <a:effectLst>
            <a:outerShdw blurRad="12700" dist="12700" dir="16200000" algn="bl" rotWithShape="0">
              <a:srgbClr val="ffffff">
                <a:alpha val="100000"/>
              </a:srgbClr>
            </a:outerShdw>
          </a:effectLst>
        </p:spPr>
      </p:sp>
      <p:sp>
        <p:nvSpPr>
          <p:cNvPr id="58" name="Text 51"/>
          <p:cNvSpPr txBox="1"/>
          <p:nvPr/>
        </p:nvSpPr>
        <p:spPr>
          <a:xfrm>
            <a:off x="1221638" y="2505456"/>
            <a:ext cx="210312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2</a:t>
            </a:r>
            <a:endParaRPr lang="en-US" sz="1200"/>
          </a:p>
        </p:txBody>
      </p:sp>
      <p:sp>
        <p:nvSpPr>
          <p:cNvPr id="59" name="Shape 52"/>
          <p:cNvSpPr/>
          <p:nvPr/>
        </p:nvSpPr>
        <p:spPr>
          <a:xfrm>
            <a:off x="1114654" y="34957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3B82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0" name="Text 53"/>
          <p:cNvSpPr txBox="1"/>
          <p:nvPr/>
        </p:nvSpPr>
        <p:spPr>
          <a:xfrm>
            <a:off x="1227125" y="35524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61" name="Shape 54"/>
          <p:cNvSpPr/>
          <p:nvPr/>
        </p:nvSpPr>
        <p:spPr>
          <a:xfrm>
            <a:off x="1114654" y="45244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6366F1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2" name="Text 55"/>
          <p:cNvSpPr txBox="1"/>
          <p:nvPr/>
        </p:nvSpPr>
        <p:spPr>
          <a:xfrm>
            <a:off x="1227125" y="45811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sp>
        <p:nvSpPr>
          <p:cNvPr id="63" name="Shape 56"/>
          <p:cNvSpPr/>
          <p:nvPr/>
        </p:nvSpPr>
        <p:spPr>
          <a:xfrm>
            <a:off x="1114654" y="5553151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8B5CF6"/>
          </a:solidFill>
          <a:ln w="25400">
            <a:solidFill>
              <a:srgbClr val="FFFFFF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4" name="Text 57"/>
          <p:cNvSpPr txBox="1"/>
          <p:nvPr/>
        </p:nvSpPr>
        <p:spPr>
          <a:xfrm>
            <a:off x="1227125" y="5609844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23798"/>
            <a:ext cx="6324905" cy="2476195"/>
          </a:xfrm>
          <a:prstGeom prst="roundRect">
            <a:avLst>
              <a:gd name="adj" fmla="val 1704"/>
            </a:avLst>
          </a:prstGeom>
          <a:solidFill>
            <a:srgbClr val="FFF1F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23798"/>
            <a:ext cx="57607" cy="2476195"/>
          </a:xfrm>
          <a:prstGeom prst="rect">
            <a:avLst/>
          </a:prstGeom>
          <a:solidFill>
            <a:srgbClr val="E11D48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1447495"/>
            <a:ext cx="190195" cy="190195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57707" y="1923898"/>
            <a:ext cx="152705" cy="1527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857707" y="2457907"/>
            <a:ext cx="114300" cy="152705"/>
          </a:xfrm>
          <a:prstGeom prst="rect">
            <a:avLst/>
          </a:prstGeom>
        </p:spPr>
      </p:pic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57707" y="2991002"/>
            <a:ext cx="152705" cy="152705"/>
          </a:xfrm>
          <a:prstGeom prst="rect">
            <a:avLst/>
          </a:prstGeom>
        </p:spPr>
      </p:pic>
      <p:sp>
        <p:nvSpPr>
          <p:cNvPr id="11" name="Shape 5"/>
          <p:cNvSpPr/>
          <p:nvPr/>
        </p:nvSpPr>
        <p:spPr>
          <a:xfrm>
            <a:off x="571500" y="3829507"/>
            <a:ext cx="6324905" cy="2476195"/>
          </a:xfrm>
          <a:prstGeom prst="roundRect">
            <a:avLst>
              <a:gd name="adj" fmla="val 1704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2" name="Shape 6"/>
          <p:cNvSpPr/>
          <p:nvPr/>
        </p:nvSpPr>
        <p:spPr>
          <a:xfrm>
            <a:off x="571500" y="3829507"/>
            <a:ext cx="57607" cy="2476195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3" name="Shape 7"/>
          <p:cNvSpPr/>
          <p:nvPr/>
        </p:nvSpPr>
        <p:spPr>
          <a:xfrm>
            <a:off x="857707" y="40581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4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52805" y="4153205"/>
            <a:ext cx="190195" cy="190195"/>
          </a:xfrm>
          <a:prstGeom prst="rect">
            <a:avLst/>
          </a:prstGeom>
        </p:spPr>
      </p:pic>
      <p:pic>
        <p:nvPicPr>
          <p:cNvPr id="15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857707" y="4629607"/>
            <a:ext cx="152705" cy="152705"/>
          </a:xfrm>
          <a:prstGeom prst="rect">
            <a:avLst/>
          </a:prstGeom>
        </p:spPr>
      </p:pic>
      <p:pic>
        <p:nvPicPr>
          <p:cNvPr id="16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-43" b="-43"/>
          <a:stretch/>
        </p:blipFill>
        <p:spPr>
          <a:xfrm>
            <a:off x="857707" y="5162702"/>
            <a:ext cx="133502" cy="152705"/>
          </a:xfrm>
          <a:prstGeom prst="rect">
            <a:avLst/>
          </a:prstGeom>
        </p:spPr>
      </p:pic>
      <p:pic>
        <p:nvPicPr>
          <p:cNvPr id="17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857707" y="5695798"/>
            <a:ext cx="152705" cy="152705"/>
          </a:xfrm>
          <a:prstGeom prst="rect">
            <a:avLst/>
          </a:prstGeom>
        </p:spPr>
      </p:pic>
      <p:sp>
        <p:nvSpPr>
          <p:cNvPr id="18" name="Shape 8"/>
          <p:cNvSpPr/>
          <p:nvPr/>
        </p:nvSpPr>
        <p:spPr>
          <a:xfrm>
            <a:off x="7194499" y="1123798"/>
            <a:ext cx="4429354" cy="3161995"/>
          </a:xfrm>
          <a:prstGeom prst="roundRect">
            <a:avLst>
              <a:gd name="adj" fmla="val 104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9"/>
          <p:cNvSpPr/>
          <p:nvPr/>
        </p:nvSpPr>
        <p:spPr>
          <a:xfrm>
            <a:off x="7432243" y="1705356"/>
            <a:ext cx="3952951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0"/>
          <p:cNvSpPr txBox="1"/>
          <p:nvPr/>
        </p:nvSpPr>
        <p:spPr>
          <a:xfrm>
            <a:off x="7757770" y="2038198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500" dirty="0"/>
          </a:p>
        </p:txBody>
      </p:sp>
      <p:sp>
        <p:nvSpPr>
          <p:cNvPr id="21" name="Text 11"/>
          <p:cNvSpPr txBox="1"/>
          <p:nvPr/>
        </p:nvSpPr>
        <p:spPr>
          <a:xfrm>
            <a:off x="7757770" y="2860243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500" dirty="0"/>
          </a:p>
        </p:txBody>
      </p:sp>
      <p:sp>
        <p:nvSpPr>
          <p:cNvPr id="22" name="Text 12"/>
          <p:cNvSpPr txBox="1"/>
          <p:nvPr/>
        </p:nvSpPr>
        <p:spPr>
          <a:xfrm>
            <a:off x="7757770" y="3681374"/>
            <a:ext cx="25786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500" dirty="0"/>
          </a:p>
        </p:txBody>
      </p:sp>
      <p:sp>
        <p:nvSpPr>
          <p:cNvPr id="23" name="Shape 13"/>
          <p:cNvSpPr/>
          <p:nvPr/>
        </p:nvSpPr>
        <p:spPr>
          <a:xfrm>
            <a:off x="7194499" y="4509821"/>
            <a:ext cx="4429354" cy="1800454"/>
          </a:xfrm>
          <a:prstGeom prst="roundRect">
            <a:avLst>
              <a:gd name="adj" fmla="val 3225"/>
            </a:avLst>
          </a:prstGeom>
          <a:solidFill>
            <a:srgbClr val="1F293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4" name="Shape 14"/>
          <p:cNvSpPr/>
          <p:nvPr/>
        </p:nvSpPr>
        <p:spPr>
          <a:xfrm>
            <a:off x="571500" y="6534302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5" name="Text 15"/>
          <p:cNvSpPr txBox="1"/>
          <p:nvPr/>
        </p:nvSpPr>
        <p:spPr>
          <a:xfrm>
            <a:off x="571500" y="276149"/>
            <a:ext cx="11338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1 · WHY</a:t>
            </a:r>
            <a:endParaRPr lang="en-US" sz="900" dirty="0"/>
          </a:p>
        </p:txBody>
      </p:sp>
      <p:sp>
        <p:nvSpPr>
          <p:cNvPr id="26" name="Text 16"/>
          <p:cNvSpPr txBox="1"/>
          <p:nvPr/>
        </p:nvSpPr>
        <p:spPr>
          <a:xfrm>
            <a:off x="571500" y="400507"/>
            <a:ext cx="65635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정의: "맞추는 것"보다 "믿고 쓰는 것"</a:t>
            </a:r>
            <a:endParaRPr lang="en-US" sz="2700" dirty="0"/>
          </a:p>
        </p:txBody>
      </p:sp>
      <p:sp>
        <p:nvSpPr>
          <p:cNvPr id="27" name="Text 17"/>
          <p:cNvSpPr txBox="1"/>
          <p:nvPr/>
        </p:nvSpPr>
        <p:spPr>
          <a:xfrm>
            <a:off x="1352398" y="1399946"/>
            <a:ext cx="16294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 (사용자 관점)</a:t>
            </a:r>
            <a:endParaRPr lang="en-US" sz="1500" dirty="0"/>
          </a:p>
        </p:txBody>
      </p:sp>
      <p:sp>
        <p:nvSpPr>
          <p:cNvPr id="28" name="Text 18"/>
          <p:cNvSpPr txBox="1"/>
          <p:nvPr/>
        </p:nvSpPr>
        <p:spPr>
          <a:xfrm>
            <a:off x="1123798" y="1886407"/>
            <a:ext cx="16669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알약 오탐/미탐의 위험성</a:t>
            </a:r>
            <a:endParaRPr lang="en-US" sz="1200" dirty="0"/>
          </a:p>
        </p:txBody>
      </p:sp>
      <p:sp>
        <p:nvSpPr>
          <p:cNvPr id="29" name="Text 19"/>
          <p:cNvSpPr txBox="1"/>
          <p:nvPr/>
        </p:nvSpPr>
        <p:spPr>
          <a:xfrm>
            <a:off x="1123798" y="2115007"/>
            <a:ext cx="29004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안전에 직접적인 영향을 미치는 치명적 오류</a:t>
            </a:r>
            <a:endParaRPr lang="en-US" sz="1000" dirty="0"/>
          </a:p>
        </p:txBody>
      </p:sp>
      <p:sp>
        <p:nvSpPr>
          <p:cNvPr id="30" name="Text 20"/>
          <p:cNvSpPr txBox="1"/>
          <p:nvPr/>
        </p:nvSpPr>
        <p:spPr>
          <a:xfrm>
            <a:off x="1086307" y="2419502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환경 제약</a:t>
            </a:r>
            <a:endParaRPr lang="en-US" sz="1200" dirty="0"/>
          </a:p>
        </p:txBody>
      </p:sp>
      <p:sp>
        <p:nvSpPr>
          <p:cNvPr id="31" name="Text 21"/>
          <p:cNvSpPr txBox="1"/>
          <p:nvPr/>
        </p:nvSpPr>
        <p:spPr>
          <a:xfrm>
            <a:off x="1086307" y="2648102"/>
            <a:ext cx="2520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추론 속도와 사용자 경험(UX)이 핵심</a:t>
            </a:r>
            <a:endParaRPr lang="en-US" sz="1000" dirty="0"/>
          </a:p>
        </p:txBody>
      </p:sp>
      <p:sp>
        <p:nvSpPr>
          <p:cNvPr id="32" name="Text 22"/>
          <p:cNvSpPr txBox="1"/>
          <p:nvPr/>
        </p:nvSpPr>
        <p:spPr>
          <a:xfrm>
            <a:off x="1123798" y="295259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설명 가능성 필요</a:t>
            </a:r>
            <a:endParaRPr lang="en-US" sz="1200" dirty="0"/>
          </a:p>
        </p:txBody>
      </p:sp>
      <p:sp>
        <p:nvSpPr>
          <p:cNvPr id="33" name="Text 23"/>
          <p:cNvSpPr txBox="1"/>
          <p:nvPr/>
        </p:nvSpPr>
        <p:spPr>
          <a:xfrm>
            <a:off x="1123798" y="3181198"/>
            <a:ext cx="27861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결과를 신뢰할 수 있도록 재확인 UX 및 근거 제공</a:t>
            </a:r>
            <a:endParaRPr lang="en-US" sz="1000" dirty="0"/>
          </a:p>
        </p:txBody>
      </p:sp>
      <p:sp>
        <p:nvSpPr>
          <p:cNvPr id="34" name="Text 24"/>
          <p:cNvSpPr txBox="1"/>
          <p:nvPr/>
        </p:nvSpPr>
        <p:spPr>
          <a:xfrm>
            <a:off x="1352398" y="4105656"/>
            <a:ext cx="1800454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제약 (프로젝트 설계)</a:t>
            </a:r>
            <a:endParaRPr lang="en-US" sz="1500" dirty="0"/>
          </a:p>
        </p:txBody>
      </p:sp>
      <p:sp>
        <p:nvSpPr>
          <p:cNvPr id="35" name="Text 25"/>
          <p:cNvSpPr txBox="1"/>
          <p:nvPr/>
        </p:nvSpPr>
        <p:spPr>
          <a:xfrm>
            <a:off x="1123798" y="4591202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 데이터 수집 배제</a:t>
            </a:r>
            <a:endParaRPr lang="en-US" sz="1200" dirty="0"/>
          </a:p>
        </p:txBody>
      </p:sp>
      <p:sp>
        <p:nvSpPr>
          <p:cNvPr id="36" name="Text 26"/>
          <p:cNvSpPr txBox="1"/>
          <p:nvPr/>
        </p:nvSpPr>
        <p:spPr>
          <a:xfrm>
            <a:off x="1123798" y="4819802"/>
            <a:ext cx="2624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리소스 상황을 가정하여 효율성 극대화</a:t>
            </a:r>
            <a:endParaRPr lang="en-US" sz="1000" dirty="0"/>
          </a:p>
        </p:txBody>
      </p:sp>
      <p:sp>
        <p:nvSpPr>
          <p:cNvPr id="37" name="Text 27"/>
          <p:cNvSpPr txBox="1"/>
          <p:nvPr/>
        </p:nvSpPr>
        <p:spPr>
          <a:xfrm>
            <a:off x="1104595" y="5124298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데이터 조건 검증</a:t>
            </a:r>
            <a:endParaRPr lang="en-US" sz="1200" dirty="0"/>
          </a:p>
        </p:txBody>
      </p:sp>
      <p:sp>
        <p:nvSpPr>
          <p:cNvPr id="38" name="Text 28"/>
          <p:cNvSpPr txBox="1"/>
          <p:nvPr/>
        </p:nvSpPr>
        <p:spPr>
          <a:xfrm>
            <a:off x="1104595" y="5352898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정합성 점검, 라벨 보강, 증강 및 QA 체계 구축</a:t>
            </a:r>
            <a:endParaRPr lang="en-US" sz="1000" dirty="0"/>
          </a:p>
        </p:txBody>
      </p:sp>
      <p:sp>
        <p:nvSpPr>
          <p:cNvPr id="39" name="Text 29"/>
          <p:cNvSpPr txBox="1"/>
          <p:nvPr/>
        </p:nvSpPr>
        <p:spPr>
          <a:xfrm>
            <a:off x="1123798" y="5658307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민감도 해석</a:t>
            </a:r>
            <a:endParaRPr lang="en-US" sz="1200" dirty="0"/>
          </a:p>
        </p:txBody>
      </p:sp>
      <p:sp>
        <p:nvSpPr>
          <p:cNvPr id="40" name="Text 30"/>
          <p:cNvSpPr txBox="1"/>
          <p:nvPr/>
        </p:nvSpPr>
        <p:spPr>
          <a:xfrm>
            <a:off x="1123798" y="5886907"/>
            <a:ext cx="26718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점수가 아닌 Threshold 기반의 결과 해석</a:t>
            </a:r>
            <a:endParaRPr lang="en-US" sz="1000" dirty="0"/>
          </a:p>
        </p:txBody>
      </p:sp>
      <p:sp>
        <p:nvSpPr>
          <p:cNvPr id="41" name="Text 31"/>
          <p:cNvSpPr txBox="1"/>
          <p:nvPr/>
        </p:nvSpPr>
        <p:spPr>
          <a:xfrm>
            <a:off x="7432243" y="1371600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만든 흐름</a:t>
            </a:r>
            <a:endParaRPr lang="en-US" sz="1300" dirty="0"/>
          </a:p>
        </p:txBody>
      </p:sp>
      <p:sp>
        <p:nvSpPr>
          <p:cNvPr id="42" name="Text 32"/>
          <p:cNvSpPr txBox="1"/>
          <p:nvPr/>
        </p:nvSpPr>
        <p:spPr>
          <a:xfrm>
            <a:off x="8194853" y="2000707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입력 → 전처리/라벨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8194853" y="2821838"/>
            <a:ext cx="1905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→ QA (무결성/신뢰도)</a:t>
            </a:r>
            <a:endParaRPr lang="en-US" sz="1200" dirty="0"/>
          </a:p>
        </p:txBody>
      </p:sp>
      <p:sp>
        <p:nvSpPr>
          <p:cNvPr id="44" name="Text 34"/>
          <p:cNvSpPr txBox="1"/>
          <p:nvPr/>
        </p:nvSpPr>
        <p:spPr>
          <a:xfrm>
            <a:off x="8194853" y="364297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→ UI/정책</a:t>
            </a:r>
            <a:endParaRPr lang="en-US" sz="1200" dirty="0"/>
          </a:p>
        </p:txBody>
      </p:sp>
      <p:sp>
        <p:nvSpPr>
          <p:cNvPr id="45" name="Text 35"/>
          <p:cNvSpPr txBox="1"/>
          <p:nvPr/>
        </p:nvSpPr>
        <p:spPr>
          <a:xfrm>
            <a:off x="9030614" y="516727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질문</a:t>
            </a:r>
            <a:endParaRPr lang="en-US" sz="1500" dirty="0"/>
          </a:p>
        </p:txBody>
      </p:sp>
      <p:sp>
        <p:nvSpPr>
          <p:cNvPr id="46" name="Text 36"/>
          <p:cNvSpPr txBox="1"/>
          <p:nvPr/>
        </p:nvSpPr>
        <p:spPr>
          <a:xfrm>
            <a:off x="7521854" y="5529377"/>
            <a:ext cx="3900830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"점수가 올랐다"는 말보다, "해석 가능한 상태"를 먼저 만들었나?</a:t>
            </a:r>
            <a:endParaRPr lang="en-US" sz="1300" dirty="0"/>
          </a:p>
        </p:txBody>
      </p:sp>
      <p:sp>
        <p:nvSpPr>
          <p:cNvPr id="47" name="Text 37"/>
          <p:cNvSpPr txBox="1"/>
          <p:nvPr/>
        </p:nvSpPr>
        <p:spPr>
          <a:xfrm>
            <a:off x="571500" y="6610198"/>
            <a:ext cx="12957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Problem &amp; Constraints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11096244" y="6610198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3/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9" name="Text 39"/>
          <p:cNvSpPr txBox="1"/>
          <p:nvPr/>
        </p:nvSpPr>
        <p:spPr>
          <a:xfrm>
            <a:off x="10550347" y="562356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1300" dirty="0"/>
          </a:p>
        </p:txBody>
      </p:sp>
      <p:pic>
        <p:nvPicPr>
          <p:cNvPr id="50" name="Image 8" descr="preencoded.png">    </p:cNvPr>
          <p:cNvPicPr>
            <a:picLocks noChangeAspect="1"/>
          </p:cNvPicPr>
          <p:nvPr/>
        </p:nvPicPr>
        <p:blipFill>
          <a:blip r:embed="rId11">
            <a:alphaModFix amt="50000"/>
          </a:blip>
          <a:srcRect l="0" r="0" t="-530" b="-530"/>
          <a:stretch/>
        </p:blipFill>
        <p:spPr>
          <a:xfrm>
            <a:off x="9283903" y="4738421"/>
            <a:ext cx="247802" cy="28620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80" b="-80"/>
          <a:stretch/>
        </p:blipFill>
        <p:spPr>
          <a:xfrm>
            <a:off x="2572207" y="1848002"/>
            <a:ext cx="142646" cy="228600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80" b="-80"/>
          <a:stretch/>
        </p:blipFill>
        <p:spPr>
          <a:xfrm>
            <a:off x="4873752" y="1848002"/>
            <a:ext cx="142646" cy="228600"/>
          </a:xfrm>
          <a:prstGeom prst="rect">
            <a:avLst/>
          </a:prstGeom>
        </p:spPr>
      </p:pic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80" b="-80"/>
          <a:stretch/>
        </p:blipFill>
        <p:spPr>
          <a:xfrm>
            <a:off x="7175297" y="1848002"/>
            <a:ext cx="142646" cy="228600"/>
          </a:xfrm>
          <a:prstGeom prst="rect">
            <a:avLst/>
          </a:prstGeom>
        </p:spPr>
      </p:pic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-80" b="-80"/>
          <a:stretch/>
        </p:blipFill>
        <p:spPr>
          <a:xfrm>
            <a:off x="9475927" y="1848002"/>
            <a:ext cx="142646" cy="228600"/>
          </a:xfrm>
          <a:prstGeom prst="rect">
            <a:avLst/>
          </a:prstGeom>
        </p:spPr>
      </p:pic>
      <p:sp>
        <p:nvSpPr>
          <p:cNvPr id="9" name="Shape 3"/>
          <p:cNvSpPr/>
          <p:nvPr/>
        </p:nvSpPr>
        <p:spPr>
          <a:xfrm>
            <a:off x="571500" y="3029407"/>
            <a:ext cx="75895" cy="3152851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0" name="Image 4" descr="preencoded.png">    </p:cNvPr>
          <p:cNvPicPr>
            <a:picLocks noChangeAspect="1"/>
          </p:cNvPicPr>
          <p:nvPr/>
        </p:nvPicPr>
        <p:blipFill>
          <a:blip r:embed="rId7"/>
          <a:srcRect l="-57" r="-57" t="0" b="0"/>
          <a:stretch/>
        </p:blipFill>
        <p:spPr>
          <a:xfrm>
            <a:off x="875995" y="4155034"/>
            <a:ext cx="200254" cy="22860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6248095" y="3029407"/>
            <a:ext cx="5372100" cy="3152851"/>
          </a:xfrm>
          <a:prstGeom prst="roundRect">
            <a:avLst>
              <a:gd name="adj" fmla="val 105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486754" y="4015130"/>
            <a:ext cx="190195" cy="190195"/>
          </a:xfrm>
          <a:prstGeom prst="rect">
            <a:avLst/>
          </a:prstGeom>
        </p:spPr>
      </p:pic>
      <p:sp>
        <p:nvSpPr>
          <p:cNvPr id="13" name="Text 5"/>
          <p:cNvSpPr txBox="1"/>
          <p:nvPr/>
        </p:nvSpPr>
        <p:spPr>
          <a:xfrm>
            <a:off x="6486754" y="4395521"/>
            <a:ext cx="481065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Q1 파이프라인에서 "고정해야 하는 축"과 "바꿔도 되는 축"은 무엇이었나?</a:t>
            </a:r>
            <a:endParaRPr lang="en-US" sz="1200" dirty="0"/>
          </a:p>
        </p:txBody>
      </p:sp>
      <p:sp>
        <p:nvSpPr>
          <p:cNvPr id="14" name="Text 6"/>
          <p:cNvSpPr txBox="1"/>
          <p:nvPr/>
        </p:nvSpPr>
        <p:spPr>
          <a:xfrm>
            <a:off x="6486754" y="4776826"/>
            <a:ext cx="50109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Q2 여기서 한 단계가 흔들리면(예: split 변경), 다음 단계의 결론은 어떻게 무너질까?</a:t>
            </a:r>
            <a:endParaRPr lang="en-US" sz="1200" dirty="0"/>
          </a:p>
        </p:txBody>
      </p:sp>
      <p:sp>
        <p:nvSpPr>
          <p:cNvPr id="15" name="Shape 7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8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17" name="Text 9"/>
          <p:cNvSpPr txBox="1"/>
          <p:nvPr/>
        </p:nvSpPr>
        <p:spPr>
          <a:xfrm>
            <a:off x="571500" y="629107"/>
            <a:ext cx="38962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파이프라인</a:t>
            </a:r>
            <a:endParaRPr lang="en-US" sz="2700" dirty="0"/>
          </a:p>
        </p:txBody>
      </p:sp>
      <p:sp>
        <p:nvSpPr>
          <p:cNvPr id="18" name="Text 10"/>
          <p:cNvSpPr txBox="1"/>
          <p:nvPr/>
        </p:nvSpPr>
        <p:spPr>
          <a:xfrm>
            <a:off x="1190549" y="4126687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메시지</a:t>
            </a:r>
            <a:endParaRPr lang="en-US" sz="1500" dirty="0"/>
          </a:p>
        </p:txBody>
      </p:sp>
      <p:sp>
        <p:nvSpPr>
          <p:cNvPr id="19" name="Text 11"/>
          <p:cNvSpPr txBox="1"/>
          <p:nvPr/>
        </p:nvSpPr>
        <p:spPr>
          <a:xfrm>
            <a:off x="875995" y="4527194"/>
            <a:ext cx="487283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“데이터 → 모델 → 평가 → 서빙”을 끊지 않고 연결해야, 결과가 제품이 된다.</a:t>
            </a:r>
            <a:endParaRPr lang="en-US" sz="1300" dirty="0"/>
          </a:p>
        </p:txBody>
      </p:sp>
      <p:sp>
        <p:nvSpPr>
          <p:cNvPr id="20" name="Text 12"/>
          <p:cNvSpPr txBox="1"/>
          <p:nvPr/>
        </p:nvSpPr>
        <p:spPr>
          <a:xfrm>
            <a:off x="6752844" y="3985870"/>
            <a:ext cx="2300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메타 질문 (Meta Questions)</a:t>
            </a:r>
            <a:endParaRPr lang="en-US" sz="1300" dirty="0"/>
          </a:p>
        </p:txBody>
      </p:sp>
      <p:sp>
        <p:nvSpPr>
          <p:cNvPr id="21" name="Text 13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4/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3" name="Text 15"/>
          <p:cNvSpPr txBox="1"/>
          <p:nvPr/>
        </p:nvSpPr>
        <p:spPr>
          <a:xfrm>
            <a:off x="10074859" y="790956"/>
            <a:ext cx="16815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Flow &amp; Strategy</a:t>
            </a:r>
            <a:endParaRPr lang="en-US" sz="1300" dirty="0"/>
          </a:p>
        </p:txBody>
      </p:sp>
      <p:sp>
        <p:nvSpPr>
          <p:cNvPr id="24" name="Shape 16"/>
          <p:cNvSpPr/>
          <p:nvPr/>
        </p:nvSpPr>
        <p:spPr>
          <a:xfrm>
            <a:off x="57150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9"/>
          <a:srcRect l="-760" r="-760" t="0" b="0"/>
          <a:stretch/>
        </p:blipFill>
        <p:spPr>
          <a:xfrm>
            <a:off x="1417320" y="1647749"/>
            <a:ext cx="152705" cy="171907"/>
          </a:xfrm>
          <a:prstGeom prst="rect">
            <a:avLst/>
          </a:prstGeom>
        </p:spPr>
      </p:pic>
      <p:sp>
        <p:nvSpPr>
          <p:cNvPr id="26" name="Text 17"/>
          <p:cNvSpPr txBox="1"/>
          <p:nvPr/>
        </p:nvSpPr>
        <p:spPr>
          <a:xfrm>
            <a:off x="958291" y="2000707"/>
            <a:ext cx="11768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수집/라벨링</a:t>
            </a:r>
            <a:endParaRPr lang="en-US" sz="1000" dirty="0"/>
          </a:p>
        </p:txBody>
      </p:sp>
      <p:sp>
        <p:nvSpPr>
          <p:cNvPr id="27" name="Text 18"/>
          <p:cNvSpPr txBox="1"/>
          <p:nvPr/>
        </p:nvSpPr>
        <p:spPr>
          <a:xfrm>
            <a:off x="831190" y="2219249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232장 GT + 419장 Pseudo</a:t>
            </a:r>
            <a:endParaRPr lang="en-US" sz="900" dirty="0"/>
          </a:p>
        </p:txBody>
      </p:sp>
      <p:sp>
        <p:nvSpPr>
          <p:cNvPr id="28" name="Shape 19"/>
          <p:cNvSpPr/>
          <p:nvPr/>
        </p:nvSpPr>
        <p:spPr>
          <a:xfrm>
            <a:off x="2873045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9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708806" y="1647749"/>
            <a:ext cx="171907" cy="171907"/>
          </a:xfrm>
          <a:prstGeom prst="rect">
            <a:avLst/>
          </a:prstGeom>
        </p:spPr>
      </p:pic>
      <p:sp>
        <p:nvSpPr>
          <p:cNvPr id="30" name="Text 20"/>
          <p:cNvSpPr txBox="1"/>
          <p:nvPr/>
        </p:nvSpPr>
        <p:spPr>
          <a:xfrm>
            <a:off x="3429000" y="2000707"/>
            <a:ext cx="8339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전처리 · 증강</a:t>
            </a:r>
            <a:endParaRPr lang="en-US" sz="1000" dirty="0"/>
          </a:p>
        </p:txBody>
      </p:sp>
      <p:sp>
        <p:nvSpPr>
          <p:cNvPr id="31" name="Text 21"/>
          <p:cNvSpPr txBox="1"/>
          <p:nvPr/>
        </p:nvSpPr>
        <p:spPr>
          <a:xfrm>
            <a:off x="3208630" y="2219249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통합, 클래스 균형</a:t>
            </a:r>
            <a:endParaRPr lang="en-US" sz="900" dirty="0"/>
          </a:p>
        </p:txBody>
      </p:sp>
      <p:sp>
        <p:nvSpPr>
          <p:cNvPr id="32" name="Shape 22"/>
          <p:cNvSpPr/>
          <p:nvPr/>
        </p:nvSpPr>
        <p:spPr>
          <a:xfrm>
            <a:off x="5173675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10351" y="1647749"/>
            <a:ext cx="171907" cy="171907"/>
          </a:xfrm>
          <a:prstGeom prst="rect">
            <a:avLst/>
          </a:prstGeom>
        </p:spPr>
      </p:pic>
      <p:sp>
        <p:nvSpPr>
          <p:cNvPr id="34" name="Text 23"/>
          <p:cNvSpPr txBox="1"/>
          <p:nvPr/>
        </p:nvSpPr>
        <p:spPr>
          <a:xfrm>
            <a:off x="5832043" y="2000707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학습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5565953" y="2219249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(실시간 최적화)</a:t>
            </a:r>
            <a:endParaRPr lang="en-US" sz="900" dirty="0"/>
          </a:p>
        </p:txBody>
      </p:sp>
      <p:sp>
        <p:nvSpPr>
          <p:cNvPr id="36" name="Shape 25"/>
          <p:cNvSpPr/>
          <p:nvPr/>
        </p:nvSpPr>
        <p:spPr>
          <a:xfrm>
            <a:off x="747522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EEF2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26"/>
          <p:cNvSpPr/>
          <p:nvPr/>
        </p:nvSpPr>
        <p:spPr>
          <a:xfrm>
            <a:off x="8206740" y="15435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8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8310982" y="1647749"/>
            <a:ext cx="171907" cy="171907"/>
          </a:xfrm>
          <a:prstGeom prst="rect">
            <a:avLst/>
          </a:prstGeom>
        </p:spPr>
      </p:pic>
      <p:sp>
        <p:nvSpPr>
          <p:cNvPr id="39" name="Text 27"/>
          <p:cNvSpPr txBox="1"/>
          <p:nvPr/>
        </p:nvSpPr>
        <p:spPr>
          <a:xfrm>
            <a:off x="8094269" y="2000707"/>
            <a:ext cx="710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&amp; 평가</a:t>
            </a:r>
            <a:endParaRPr lang="en-US" sz="1000" dirty="0"/>
          </a:p>
        </p:txBody>
      </p:sp>
      <p:sp>
        <p:nvSpPr>
          <p:cNvPr id="40" name="Text 28"/>
          <p:cNvSpPr txBox="1"/>
          <p:nvPr/>
        </p:nvSpPr>
        <p:spPr>
          <a:xfrm>
            <a:off x="7723022" y="2219249"/>
            <a:ext cx="14383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/ Freeze / Threshold</a:t>
            </a:r>
            <a:endParaRPr lang="en-US" sz="900" dirty="0"/>
          </a:p>
        </p:txBody>
      </p:sp>
      <p:sp>
        <p:nvSpPr>
          <p:cNvPr id="41" name="Shape 29"/>
          <p:cNvSpPr/>
          <p:nvPr/>
        </p:nvSpPr>
        <p:spPr>
          <a:xfrm>
            <a:off x="9775850" y="1352398"/>
            <a:ext cx="1848002" cy="1218895"/>
          </a:xfrm>
          <a:prstGeom prst="roundRect">
            <a:avLst>
              <a:gd name="adj" fmla="val 7033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2" name="Image 10" descr="preencoded.png">    </p:cNvPr>
          <p:cNvPicPr>
            <a:picLocks noChangeAspect="1"/>
          </p:cNvPicPr>
          <p:nvPr/>
        </p:nvPicPr>
        <p:blipFill>
          <a:blip r:embed="rId13"/>
          <a:srcRect l="-1773" r="-1773" t="0" b="0"/>
          <a:stretch/>
        </p:blipFill>
        <p:spPr>
          <a:xfrm>
            <a:off x="10631729" y="1647749"/>
            <a:ext cx="133502" cy="171907"/>
          </a:xfrm>
          <a:prstGeom prst="rect">
            <a:avLst/>
          </a:prstGeom>
        </p:spPr>
      </p:pic>
      <p:sp>
        <p:nvSpPr>
          <p:cNvPr id="43" name="Text 30"/>
          <p:cNvSpPr txBox="1"/>
          <p:nvPr/>
        </p:nvSpPr>
        <p:spPr>
          <a:xfrm>
            <a:off x="10389413" y="2000707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/ 배포</a:t>
            </a:r>
            <a:endParaRPr lang="en-US" sz="1000" dirty="0"/>
          </a:p>
        </p:txBody>
      </p:sp>
      <p:sp>
        <p:nvSpPr>
          <p:cNvPr id="44" name="Text 31"/>
          <p:cNvSpPr txBox="1"/>
          <p:nvPr/>
        </p:nvSpPr>
        <p:spPr>
          <a:xfrm>
            <a:off x="10259568" y="2219249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+ FastAPI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8383219" y="362102"/>
            <a:ext cx="3238805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028700"/>
            <a:ext cx="38405" cy="26700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71500" y="3895344"/>
            <a:ext cx="171907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819302" y="3847795"/>
            <a:ext cx="18434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문제점 (EDA 결과)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4229100"/>
            <a:ext cx="5372100" cy="685800"/>
          </a:xfrm>
          <a:prstGeom prst="roundRect">
            <a:avLst>
              <a:gd name="adj" fmla="val 14815"/>
            </a:avLst>
          </a:prstGeom>
          <a:solidFill>
            <a:srgbClr val="FEF2F2"/>
          </a:solidFill>
          <a:ln/>
        </p:spPr>
      </p:sp>
      <p:sp>
        <p:nvSpPr>
          <p:cNvPr id="10" name="Shape 7"/>
          <p:cNvSpPr/>
          <p:nvPr/>
        </p:nvSpPr>
        <p:spPr>
          <a:xfrm>
            <a:off x="571500" y="4229100"/>
            <a:ext cx="38405" cy="685800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180" b="-180"/>
          <a:stretch/>
        </p:blipFill>
        <p:spPr>
          <a:xfrm>
            <a:off x="761695" y="4419295"/>
            <a:ext cx="19019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71500" y="5029200"/>
            <a:ext cx="5372100" cy="685800"/>
          </a:xfrm>
          <a:prstGeom prst="roundRect">
            <a:avLst>
              <a:gd name="adj" fmla="val 14815"/>
            </a:avLst>
          </a:prstGeom>
          <a:solidFill>
            <a:srgbClr val="FFF7ED"/>
          </a:solidFill>
          <a:ln/>
        </p:spPr>
      </p:sp>
      <p:sp>
        <p:nvSpPr>
          <p:cNvPr id="13" name="Shape 9"/>
          <p:cNvSpPr/>
          <p:nvPr/>
        </p:nvSpPr>
        <p:spPr>
          <a:xfrm>
            <a:off x="571500" y="5029200"/>
            <a:ext cx="38405" cy="685800"/>
          </a:xfrm>
          <a:prstGeom prst="rect">
            <a:avLst/>
          </a:prstGeom>
          <a:solidFill>
            <a:srgbClr val="F9731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rcRect l="-33" r="-33" t="0" b="0"/>
          <a:stretch/>
        </p:blipFill>
        <p:spPr>
          <a:xfrm>
            <a:off x="761695" y="5219395"/>
            <a:ext cx="171907" cy="152705"/>
          </a:xfrm>
          <a:prstGeom prst="rect">
            <a:avLst/>
          </a:prstGeom>
        </p:spPr>
      </p:pic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248095" y="3895344"/>
            <a:ext cx="219456" cy="171907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6543446" y="3847795"/>
            <a:ext cx="1853489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및 불일치</a:t>
            </a:r>
            <a:endParaRPr lang="en-US" sz="1300" dirty="0"/>
          </a:p>
        </p:txBody>
      </p:sp>
      <p:sp>
        <p:nvSpPr>
          <p:cNvPr id="17" name="Shape 11"/>
          <p:cNvSpPr/>
          <p:nvPr/>
        </p:nvSpPr>
        <p:spPr>
          <a:xfrm>
            <a:off x="6248095" y="4229100"/>
            <a:ext cx="5372100" cy="2428646"/>
          </a:xfrm>
          <a:prstGeom prst="roundRect">
            <a:avLst>
              <a:gd name="adj" fmla="val 177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Shape 12"/>
          <p:cNvSpPr/>
          <p:nvPr/>
        </p:nvSpPr>
        <p:spPr>
          <a:xfrm>
            <a:off x="6448349" y="5266944"/>
            <a:ext cx="4972507" cy="68580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4"/>
          <p:cNvSpPr txBox="1"/>
          <p:nvPr/>
        </p:nvSpPr>
        <p:spPr>
          <a:xfrm>
            <a:off x="571500" y="21945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21" name="Text 15"/>
          <p:cNvSpPr txBox="1"/>
          <p:nvPr/>
        </p:nvSpPr>
        <p:spPr>
          <a:xfrm>
            <a:off x="571500" y="381305"/>
            <a:ext cx="5177333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Overview: 품질과 불균형의 문제</a:t>
            </a:r>
            <a:endParaRPr lang="en-US" sz="2200" dirty="0"/>
          </a:p>
        </p:txBody>
      </p:sp>
      <p:sp>
        <p:nvSpPr>
          <p:cNvPr id="22" name="Text 16"/>
          <p:cNvSpPr txBox="1"/>
          <p:nvPr/>
        </p:nvSpPr>
        <p:spPr>
          <a:xfrm>
            <a:off x="8497519" y="400507"/>
            <a:ext cx="3110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데이터: “있어 보이는 651장” → “학습 가능한 232장”</a:t>
            </a:r>
            <a:endParaRPr lang="en-US" sz="1000" dirty="0"/>
          </a:p>
        </p:txBody>
      </p:sp>
      <p:sp>
        <p:nvSpPr>
          <p:cNvPr id="23" name="Text 17"/>
          <p:cNvSpPr txBox="1"/>
          <p:nvPr/>
        </p:nvSpPr>
        <p:spPr>
          <a:xfrm>
            <a:off x="724205" y="101955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현황 분석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1067105" y="4381805"/>
            <a:ext cx="19385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이미지-Annotation 매칭 불일치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067105" y="4600346"/>
            <a:ext cx="2809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파일 누락, 유실, 파일명 불일치로 인한 데이터 손실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047902" y="5181905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포맷 통합 필요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1047902" y="5400446"/>
            <a:ext cx="3096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이미지에 여러 개의 JSON이 흩어져 있어 통합 작업 필수</a:t>
            </a:r>
            <a:endParaRPr lang="en-US" sz="900" dirty="0"/>
          </a:p>
        </p:txBody>
      </p:sp>
      <p:sp>
        <p:nvSpPr>
          <p:cNvPr id="28" name="Text 22"/>
          <p:cNvSpPr txBox="1"/>
          <p:nvPr/>
        </p:nvSpPr>
        <p:spPr>
          <a:xfrm>
            <a:off x="7205472" y="4419295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클래스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7315200" y="458114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2200" dirty="0"/>
          </a:p>
        </p:txBody>
      </p:sp>
      <p:sp>
        <p:nvSpPr>
          <p:cNvPr id="30" name="Text 24"/>
          <p:cNvSpPr txBox="1"/>
          <p:nvPr/>
        </p:nvSpPr>
        <p:spPr>
          <a:xfrm>
            <a:off x="7287768" y="495330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43" b="-43"/>
          <a:stretch/>
        </p:blipFill>
        <p:spPr>
          <a:xfrm>
            <a:off x="8867851" y="4610405"/>
            <a:ext cx="133502" cy="152705"/>
          </a:xfrm>
          <a:prstGeom prst="rect">
            <a:avLst/>
          </a:prstGeom>
        </p:spPr>
      </p:pic>
      <p:sp>
        <p:nvSpPr>
          <p:cNvPr id="32" name="Text 25"/>
          <p:cNvSpPr txBox="1"/>
          <p:nvPr/>
        </p:nvSpPr>
        <p:spPr>
          <a:xfrm>
            <a:off x="8663026" y="4819802"/>
            <a:ext cx="629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Mismatch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0105949" y="4419295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 포함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0215677" y="4581144"/>
            <a:ext cx="557784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2200" dirty="0"/>
          </a:p>
        </p:txBody>
      </p:sp>
      <p:sp>
        <p:nvSpPr>
          <p:cNvPr id="35" name="Text 28"/>
          <p:cNvSpPr txBox="1"/>
          <p:nvPr/>
        </p:nvSpPr>
        <p:spPr>
          <a:xfrm>
            <a:off x="10187330" y="4953305"/>
            <a:ext cx="4864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Classes</a:t>
            </a:r>
            <a:endParaRPr lang="en-US" sz="900" dirty="0"/>
          </a:p>
        </p:txBody>
      </p:sp>
      <p:sp>
        <p:nvSpPr>
          <p:cNvPr id="36" name="Text 29"/>
          <p:cNvSpPr txBox="1"/>
          <p:nvPr/>
        </p:nvSpPr>
        <p:spPr>
          <a:xfrm>
            <a:off x="6572707" y="5400446"/>
            <a:ext cx="4596689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이미지는 651장이지만, 학습 가능한 GT는 232장뿐이라 ‘라벨 품질과 정합성 확보’가 프로젝트의 핵심 레버였습니다.</a:t>
            </a:r>
            <a:endParaRPr lang="en-US" sz="1000" dirty="0"/>
          </a:p>
        </p:txBody>
      </p:sp>
      <p:sp>
        <p:nvSpPr>
          <p:cNvPr id="37" name="Text 30"/>
          <p:cNvSpPr txBox="1"/>
          <p:nvPr/>
        </p:nvSpPr>
        <p:spPr>
          <a:xfrm>
            <a:off x="571500" y="6505956"/>
            <a:ext cx="1648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Data Analysis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11318900" y="665774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5/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pic>
        <p:nvPicPr>
          <p:cNvPr id="39" name="Image 5" descr="preencoded.png">    </p:cNvPr>
          <p:cNvPicPr>
            <a:picLocks noChangeAspect="1"/>
          </p:cNvPicPr>
          <p:nvPr/>
        </p:nvPicPr>
        <p:blipFill>
          <a:blip r:embed="rId8"/>
          <a:srcRect l="-1200" r="-1200" t="0" b="0"/>
          <a:stretch/>
        </p:blipFill>
        <p:spPr>
          <a:xfrm>
            <a:off x="4144975" y="2321662"/>
            <a:ext cx="219456" cy="342900"/>
          </a:xfrm>
          <a:prstGeom prst="rect">
            <a:avLst/>
          </a:prstGeom>
        </p:spPr>
      </p:pic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765999" y="2321662"/>
            <a:ext cx="342900" cy="342900"/>
          </a:xfrm>
          <a:prstGeom prst="rect">
            <a:avLst/>
          </a:prstGeom>
        </p:spPr>
      </p:pic>
      <p:sp>
        <p:nvSpPr>
          <p:cNvPr id="41" name="Shape 32"/>
          <p:cNvSpPr/>
          <p:nvPr/>
        </p:nvSpPr>
        <p:spPr>
          <a:xfrm>
            <a:off x="571500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3" name="Shape 33"/>
          <p:cNvSpPr/>
          <p:nvPr/>
        </p:nvSpPr>
        <p:spPr>
          <a:xfrm>
            <a:off x="2031797" y="16861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5e7e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10"/>
          <a:srcRect l="-1282" r="-1282" t="0" b="0"/>
          <a:stretch/>
        </p:blipFill>
        <p:spPr>
          <a:xfrm>
            <a:off x="2150669" y="1819656"/>
            <a:ext cx="219456" cy="19019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1924812" y="2257654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원본 이미지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842516" y="2419502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651</a:t>
            </a:r>
            <a:endParaRPr lang="en-US" sz="3600" dirty="0"/>
          </a:p>
        </p:txBody>
      </p:sp>
      <p:sp>
        <p:nvSpPr>
          <p:cNvPr id="46" name="Shape 36"/>
          <p:cNvSpPr/>
          <p:nvPr/>
        </p:nvSpPr>
        <p:spPr>
          <a:xfrm>
            <a:off x="1905610" y="3076956"/>
            <a:ext cx="714146" cy="228600"/>
          </a:xfrm>
          <a:prstGeom prst="roundRect">
            <a:avLst>
              <a:gd name="adj" fmla="val 400000"/>
            </a:avLst>
          </a:prstGeom>
          <a:solidFill>
            <a:srgbClr val="E5E7EB"/>
          </a:solidFill>
          <a:ln/>
        </p:spPr>
      </p:sp>
      <p:sp>
        <p:nvSpPr>
          <p:cNvPr id="47" name="Text 37"/>
          <p:cNvSpPr txBox="1"/>
          <p:nvPr/>
        </p:nvSpPr>
        <p:spPr>
          <a:xfrm>
            <a:off x="1981505" y="310530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보유량</a:t>
            </a:r>
            <a:endParaRPr lang="en-US" sz="900" dirty="0"/>
          </a:p>
        </p:txBody>
      </p:sp>
      <p:sp>
        <p:nvSpPr>
          <p:cNvPr id="48" name="Shape 38"/>
          <p:cNvSpPr/>
          <p:nvPr/>
        </p:nvSpPr>
        <p:spPr>
          <a:xfrm>
            <a:off x="4406494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6000293" y="1819656"/>
            <a:ext cx="190195" cy="190195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658307" y="2257654"/>
            <a:ext cx="9765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가능 (GT)</a:t>
            </a:r>
            <a:endParaRPr lang="en-US" sz="1000" dirty="0"/>
          </a:p>
        </p:txBody>
      </p:sp>
      <p:sp>
        <p:nvSpPr>
          <p:cNvPr id="51" name="Text 40"/>
          <p:cNvSpPr txBox="1"/>
          <p:nvPr/>
        </p:nvSpPr>
        <p:spPr>
          <a:xfrm>
            <a:off x="5678424" y="2419502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232</a:t>
            </a:r>
            <a:endParaRPr lang="en-US" sz="3600" dirty="0"/>
          </a:p>
        </p:txBody>
      </p:sp>
      <p:sp>
        <p:nvSpPr>
          <p:cNvPr id="52" name="Text 41"/>
          <p:cNvSpPr txBox="1"/>
          <p:nvPr/>
        </p:nvSpPr>
        <p:spPr>
          <a:xfrm>
            <a:off x="5566867" y="3105302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활용 가능 (35%)</a:t>
            </a:r>
            <a:endParaRPr lang="en-US" sz="900" dirty="0"/>
          </a:p>
        </p:txBody>
      </p:sp>
      <p:sp>
        <p:nvSpPr>
          <p:cNvPr id="53" name="Shape 42"/>
          <p:cNvSpPr/>
          <p:nvPr/>
        </p:nvSpPr>
        <p:spPr>
          <a:xfrm>
            <a:off x="8242402" y="1447495"/>
            <a:ext cx="3381451" cy="2095805"/>
          </a:xfrm>
          <a:prstGeom prst="roundRect">
            <a:avLst>
              <a:gd name="adj" fmla="val 238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9702698" y="1686154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/>
        </p:spPr>
      </p:sp>
      <p:pic>
        <p:nvPicPr>
          <p:cNvPr id="54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9836201" y="1819656"/>
            <a:ext cx="190195" cy="190195"/>
          </a:xfrm>
          <a:prstGeom prst="rect">
            <a:avLst/>
          </a:prstGeom>
        </p:spPr>
      </p:pic>
      <p:sp>
        <p:nvSpPr>
          <p:cNvPr id="56" name="Text 44"/>
          <p:cNvSpPr txBox="1"/>
          <p:nvPr/>
        </p:nvSpPr>
        <p:spPr>
          <a:xfrm>
            <a:off x="9548165" y="2257654"/>
            <a:ext cx="872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미라벨 / 불량</a:t>
            </a:r>
            <a:endParaRPr lang="en-US" sz="1000" dirty="0"/>
          </a:p>
        </p:txBody>
      </p:sp>
      <p:sp>
        <p:nvSpPr>
          <p:cNvPr id="57" name="Text 45"/>
          <p:cNvSpPr txBox="1"/>
          <p:nvPr/>
        </p:nvSpPr>
        <p:spPr>
          <a:xfrm>
            <a:off x="9513418" y="2419502"/>
            <a:ext cx="1181405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419</a:t>
            </a:r>
            <a:endParaRPr lang="en-US" sz="3600" dirty="0"/>
          </a:p>
        </p:txBody>
      </p:sp>
      <p:sp>
        <p:nvSpPr>
          <p:cNvPr id="58" name="Shape 46"/>
          <p:cNvSpPr/>
          <p:nvPr/>
        </p:nvSpPr>
        <p:spPr>
          <a:xfrm>
            <a:off x="9457639" y="3076956"/>
            <a:ext cx="952805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  <a:ln/>
        </p:spPr>
      </p:sp>
      <p:sp>
        <p:nvSpPr>
          <p:cNvPr id="59" name="Text 47"/>
          <p:cNvSpPr txBox="1"/>
          <p:nvPr/>
        </p:nvSpPr>
        <p:spPr>
          <a:xfrm>
            <a:off x="9534449" y="3105302"/>
            <a:ext cx="8860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품질 미달 (65%)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2771546"/>
          </a:xfrm>
          <a:prstGeom prst="roundRect">
            <a:avLst>
              <a:gd name="adj" fmla="val 1814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1628546"/>
            <a:ext cx="190195" cy="19019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4352544"/>
            <a:ext cx="6495898" cy="1828800"/>
          </a:xfrm>
          <a:prstGeom prst="roundRect">
            <a:avLst>
              <a:gd name="adj" fmla="val 4167"/>
            </a:avLst>
          </a:prstGeom>
          <a:solidFill>
            <a:srgbClr val="F9FAFB"/>
          </a:solidFill>
          <a:ln/>
        </p:spPr>
      </p:sp>
      <p:sp>
        <p:nvSpPr>
          <p:cNvPr id="8" name="Shape 5"/>
          <p:cNvSpPr/>
          <p:nvPr/>
        </p:nvSpPr>
        <p:spPr>
          <a:xfrm>
            <a:off x="571500" y="4352544"/>
            <a:ext cx="38405" cy="1828800"/>
          </a:xfrm>
          <a:prstGeom prst="rect">
            <a:avLst/>
          </a:prstGeom>
          <a:solidFill>
            <a:srgbClr val="9CA3AF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38505" y="4647895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1218895" y="5296205"/>
            <a:ext cx="5619902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629107"/>
            <a:ext cx="28867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엔지니어링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114654" y="1580998"/>
            <a:ext cx="2743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흐름 (입력 → 처리 → 출력)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1181405" y="4619549"/>
            <a:ext cx="13578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Meta Question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1181405" y="4914900"/>
            <a:ext cx="5091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"Pseudo-label은 데이터를 늘리는 게 아니라, 신뢰도 있는 라벨을 만들기 위한 가설이다."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343254" y="5455310"/>
            <a:ext cx="133502" cy="13350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552651" y="5419649"/>
            <a:ext cx="1815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Risk: 노이즈/편향 발생 가능성</a:t>
            </a:r>
            <a:endParaRPr lang="en-US" sz="1000" dirty="0"/>
          </a:p>
        </p:txBody>
      </p:sp>
      <p:sp>
        <p:nvSpPr>
          <p:cNvPr id="19" name="Text 14"/>
          <p:cNvSpPr txBox="1"/>
          <p:nvPr/>
        </p:nvSpPr>
        <p:spPr>
          <a:xfrm>
            <a:off x="1571854" y="5639105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어떤 실패가 생길 수 있고, QA로 어떻게 잡을 것인가?</a:t>
            </a:r>
            <a:endParaRPr lang="en-US" sz="9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6/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9235440" y="790956"/>
            <a:ext cx="25200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"학습 가능한 품질"로 만드는 레버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09244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705002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5" name="Text 20"/>
          <p:cNvSpPr txBox="1"/>
          <p:nvPr/>
        </p:nvSpPr>
        <p:spPr>
          <a:xfrm>
            <a:off x="817474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6"/>
          <a:srcRect l="-607" r="-607" t="0" b="0"/>
          <a:stretch/>
        </p:blipFill>
        <p:spPr>
          <a:xfrm>
            <a:off x="1864462" y="2210105"/>
            <a:ext cx="362102" cy="286207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562710" y="2584094"/>
            <a:ext cx="10716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82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Training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1009498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1800454" y="3172054"/>
            <a:ext cx="581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GT 232장</a:t>
            </a:r>
            <a:endParaRPr lang="en-US" sz="900" dirty="0"/>
          </a:p>
        </p:txBody>
      </p:sp>
      <p:sp>
        <p:nvSpPr>
          <p:cNvPr id="30" name="Text 24"/>
          <p:cNvSpPr txBox="1"/>
          <p:nvPr/>
        </p:nvSpPr>
        <p:spPr>
          <a:xfrm>
            <a:off x="1406347" y="3333902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Stage-1 YOLO 학습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3510382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32" name="Shape 26"/>
          <p:cNvSpPr/>
          <p:nvPr/>
        </p:nvSpPr>
        <p:spPr>
          <a:xfrm>
            <a:off x="3405226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3517697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603090" y="2210105"/>
            <a:ext cx="286207" cy="286207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4212641" y="2584094"/>
            <a:ext cx="11676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Pseudo-labeling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3709721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Text 30"/>
          <p:cNvSpPr txBox="1"/>
          <p:nvPr/>
        </p:nvSpPr>
        <p:spPr>
          <a:xfrm>
            <a:off x="4418381" y="3172054"/>
            <a:ext cx="7434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419장 미라벨</a:t>
            </a:r>
            <a:endParaRPr lang="en-US" sz="900" dirty="0"/>
          </a:p>
        </p:txBody>
      </p:sp>
      <p:sp>
        <p:nvSpPr>
          <p:cNvPr id="38" name="Text 31"/>
          <p:cNvSpPr txBox="1"/>
          <p:nvPr/>
        </p:nvSpPr>
        <p:spPr>
          <a:xfrm>
            <a:off x="4128516" y="3333902"/>
            <a:ext cx="1353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651장 규모 확보</a:t>
            </a:r>
            <a:endParaRPr lang="en-US" sz="1200" dirty="0"/>
          </a:p>
        </p:txBody>
      </p:sp>
      <p:sp>
        <p:nvSpPr>
          <p:cNvPr id="39" name="Shape 32"/>
          <p:cNvSpPr/>
          <p:nvPr/>
        </p:nvSpPr>
        <p:spPr>
          <a:xfrm>
            <a:off x="6210605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6105449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4F46E5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1" name="Text 34"/>
          <p:cNvSpPr txBox="1"/>
          <p:nvPr/>
        </p:nvSpPr>
        <p:spPr>
          <a:xfrm>
            <a:off x="6218834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7303313" y="2210105"/>
            <a:ext cx="286207" cy="286207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7004304" y="2584094"/>
            <a:ext cx="9866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Selective Aug</a:t>
            </a:r>
            <a:endParaRPr lang="en-US" sz="1000" dirty="0"/>
          </a:p>
        </p:txBody>
      </p:sp>
      <p:sp>
        <p:nvSpPr>
          <p:cNvPr id="44" name="Shape 36"/>
          <p:cNvSpPr/>
          <p:nvPr/>
        </p:nvSpPr>
        <p:spPr>
          <a:xfrm>
            <a:off x="6409944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5" name="Text 37"/>
          <p:cNvSpPr txBox="1"/>
          <p:nvPr/>
        </p:nvSpPr>
        <p:spPr>
          <a:xfrm>
            <a:off x="7028993" y="3172054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20% 클래스</a:t>
            </a:r>
            <a:endParaRPr lang="en-US" sz="900" dirty="0"/>
          </a:p>
        </p:txBody>
      </p:sp>
      <p:sp>
        <p:nvSpPr>
          <p:cNvPr id="46" name="Text 38"/>
          <p:cNvSpPr txBox="1"/>
          <p:nvPr/>
        </p:nvSpPr>
        <p:spPr>
          <a:xfrm>
            <a:off x="6733642" y="3333902"/>
            <a:ext cx="15435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밝기/회전/노이즈 증강</a:t>
            </a:r>
            <a:endParaRPr lang="en-US" sz="1200" dirty="0"/>
          </a:p>
        </p:txBody>
      </p:sp>
      <p:sp>
        <p:nvSpPr>
          <p:cNvPr id="47" name="Shape 39"/>
          <p:cNvSpPr/>
          <p:nvPr/>
        </p:nvSpPr>
        <p:spPr>
          <a:xfrm>
            <a:off x="8910828" y="2009851"/>
            <a:ext cx="2476195" cy="1828800"/>
          </a:xfrm>
          <a:prstGeom prst="roundRect">
            <a:avLst>
              <a:gd name="adj" fmla="val 3125"/>
            </a:avLst>
          </a:prstGeom>
          <a:solidFill>
            <a:srgbClr val="F5F3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48" name="Shape 40"/>
          <p:cNvSpPr/>
          <p:nvPr/>
        </p:nvSpPr>
        <p:spPr>
          <a:xfrm>
            <a:off x="8805672" y="1904695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7C3AED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9" name="Text 41"/>
          <p:cNvSpPr txBox="1"/>
          <p:nvPr/>
        </p:nvSpPr>
        <p:spPr>
          <a:xfrm>
            <a:off x="8919058" y="1962302"/>
            <a:ext cx="186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1000" dirty="0"/>
          </a:p>
        </p:txBody>
      </p:sp>
      <p:pic>
        <p:nvPicPr>
          <p:cNvPr id="50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0003536" y="2210105"/>
            <a:ext cx="286207" cy="286207"/>
          </a:xfrm>
          <a:prstGeom prst="rect">
            <a:avLst/>
          </a:prstGeom>
        </p:spPr>
      </p:pic>
      <p:sp>
        <p:nvSpPr>
          <p:cNvPr id="51" name="Text 42"/>
          <p:cNvSpPr txBox="1"/>
          <p:nvPr/>
        </p:nvSpPr>
        <p:spPr>
          <a:xfrm>
            <a:off x="9809683" y="2584094"/>
            <a:ext cx="776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Expansion</a:t>
            </a:r>
            <a:endParaRPr lang="en-US" sz="1000" dirty="0"/>
          </a:p>
        </p:txBody>
      </p:sp>
      <p:sp>
        <p:nvSpPr>
          <p:cNvPr id="52" name="Shape 43"/>
          <p:cNvSpPr/>
          <p:nvPr/>
        </p:nvSpPr>
        <p:spPr>
          <a:xfrm>
            <a:off x="9111082" y="3105302"/>
            <a:ext cx="2076602" cy="533095"/>
          </a:xfrm>
          <a:prstGeom prst="roundRect">
            <a:avLst>
              <a:gd name="adj" fmla="val 122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3" name="Text 44"/>
          <p:cNvSpPr txBox="1"/>
          <p:nvPr/>
        </p:nvSpPr>
        <p:spPr>
          <a:xfrm>
            <a:off x="9731959" y="3172054"/>
            <a:ext cx="9244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 신규 라벨링</a:t>
            </a:r>
            <a:endParaRPr lang="en-US" sz="900" dirty="0"/>
          </a:p>
        </p:txBody>
      </p:sp>
      <p:sp>
        <p:nvSpPr>
          <p:cNvPr id="54" name="Text 45"/>
          <p:cNvSpPr txBox="1"/>
          <p:nvPr/>
        </p:nvSpPr>
        <p:spPr>
          <a:xfrm>
            <a:off x="9505188" y="3333902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총 74 Class 확장</a:t>
            </a:r>
            <a:endParaRPr lang="en-US" sz="1200" dirty="0"/>
          </a:p>
        </p:txBody>
      </p:sp>
      <p:sp>
        <p:nvSpPr>
          <p:cNvPr id="55" name="Shape 46"/>
          <p:cNvSpPr/>
          <p:nvPr/>
        </p:nvSpPr>
        <p:spPr>
          <a:xfrm>
            <a:off x="7290511" y="4352544"/>
            <a:ext cx="4334256" cy="1828800"/>
          </a:xfrm>
          <a:prstGeom prst="roundRect">
            <a:avLst>
              <a:gd name="adj" fmla="val 416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3366821" y="2819095"/>
            <a:ext cx="142646" cy="228600"/>
          </a:xfrm>
          <a:prstGeom prst="rect">
            <a:avLst/>
          </a:prstGeom>
        </p:spPr>
      </p:pic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-80" b="-80"/>
          <a:stretch/>
        </p:blipFill>
        <p:spPr>
          <a:xfrm>
            <a:off x="6067044" y="2819095"/>
            <a:ext cx="142646" cy="228600"/>
          </a:xfrm>
          <a:prstGeom prst="rect">
            <a:avLst/>
          </a:prstGeom>
        </p:spPr>
      </p:pic>
      <p:pic>
        <p:nvPicPr>
          <p:cNvPr id="58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80" b="-80"/>
          <a:stretch/>
        </p:blipFill>
        <p:spPr>
          <a:xfrm>
            <a:off x="8768182" y="2819095"/>
            <a:ext cx="142646" cy="228600"/>
          </a:xfrm>
          <a:prstGeom prst="rect">
            <a:avLst/>
          </a:prstGeom>
        </p:spPr>
      </p:pic>
      <p:pic>
        <p:nvPicPr>
          <p:cNvPr id="59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7528255" y="4789627"/>
            <a:ext cx="171907" cy="171907"/>
          </a:xfrm>
          <a:prstGeom prst="rect">
            <a:avLst/>
          </a:prstGeom>
        </p:spPr>
      </p:pic>
      <p:sp>
        <p:nvSpPr>
          <p:cNvPr id="60" name="Text 47"/>
          <p:cNvSpPr txBox="1"/>
          <p:nvPr/>
        </p:nvSpPr>
        <p:spPr>
          <a:xfrm>
            <a:off x="7776058" y="4740250"/>
            <a:ext cx="1576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Gate Solution</a:t>
            </a:r>
            <a:endParaRPr lang="en-US" sz="1300" dirty="0"/>
          </a:p>
        </p:txBody>
      </p:sp>
      <p:sp>
        <p:nvSpPr>
          <p:cNvPr id="61" name="Text 48"/>
          <p:cNvSpPr txBox="1"/>
          <p:nvPr/>
        </p:nvSpPr>
        <p:spPr>
          <a:xfrm>
            <a:off x="7528255" y="5120640"/>
            <a:ext cx="3348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양적 확장보다 비교 가능한 상태 고정이 우선입니다.</a:t>
            </a:r>
            <a:endParaRPr lang="en-US" sz="1000" dirty="0"/>
          </a:p>
        </p:txBody>
      </p:sp>
      <p:sp>
        <p:nvSpPr>
          <p:cNvPr id="62" name="Shape 49"/>
          <p:cNvSpPr/>
          <p:nvPr/>
        </p:nvSpPr>
        <p:spPr>
          <a:xfrm>
            <a:off x="7528255" y="5479999"/>
            <a:ext cx="1228954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3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7652614" y="5565953"/>
            <a:ext cx="152705" cy="152705"/>
          </a:xfrm>
          <a:prstGeom prst="rect">
            <a:avLst/>
          </a:prstGeom>
        </p:spPr>
      </p:pic>
      <p:sp>
        <p:nvSpPr>
          <p:cNvPr id="64" name="Shape 50"/>
          <p:cNvSpPr/>
          <p:nvPr/>
        </p:nvSpPr>
        <p:spPr>
          <a:xfrm>
            <a:off x="8833104" y="5479999"/>
            <a:ext cx="1628546" cy="323698"/>
          </a:xfrm>
          <a:prstGeom prst="roundRect">
            <a:avLst>
              <a:gd name="adj" fmla="val 6646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5" name="Image 12" descr="preencoded.png">    </p:cNvPr>
          <p:cNvPicPr>
            <a:picLocks noChangeAspect="1"/>
          </p:cNvPicPr>
          <p:nvPr/>
        </p:nvPicPr>
        <p:blipFill>
          <a:blip r:embed="rId15"/>
          <a:srcRect l="0" r="0" t="-43" b="-43"/>
          <a:stretch/>
        </p:blipFill>
        <p:spPr>
          <a:xfrm>
            <a:off x="8956548" y="5565953"/>
            <a:ext cx="133502" cy="152705"/>
          </a:xfrm>
          <a:prstGeom prst="rect">
            <a:avLst/>
          </a:prstGeom>
        </p:spPr>
      </p:pic>
      <p:sp>
        <p:nvSpPr>
          <p:cNvPr id="66" name="Text 51"/>
          <p:cNvSpPr txBox="1"/>
          <p:nvPr/>
        </p:nvSpPr>
        <p:spPr>
          <a:xfrm>
            <a:off x="7881214" y="5556809"/>
            <a:ext cx="8385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</a:t>
            </a:r>
            <a:endParaRPr lang="en-US" sz="900" dirty="0"/>
          </a:p>
        </p:txBody>
      </p:sp>
      <p:sp>
        <p:nvSpPr>
          <p:cNvPr id="67" name="Text 52"/>
          <p:cNvSpPr txBox="1"/>
          <p:nvPr/>
        </p:nvSpPr>
        <p:spPr>
          <a:xfrm>
            <a:off x="9166860" y="5556809"/>
            <a:ext cx="12573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Measurement Freeze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571500"/>
          </a:xfrm>
          <a:prstGeom prst="rect">
            <a:avLst/>
          </a:prstGeom>
          <a:solidFill>
            <a:srgbClr val="FEF2F2"/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352398"/>
            <a:ext cx="38405" cy="5715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2152498"/>
            <a:ext cx="3534156" cy="3267151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09244" y="2391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E2E2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3"/>
          <a:srcRect l="-80" r="-80" t="0" b="0"/>
          <a:stretch/>
        </p:blipFill>
        <p:spPr>
          <a:xfrm>
            <a:off x="895198" y="2505456"/>
            <a:ext cx="286207" cy="2286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809244" y="3381451"/>
            <a:ext cx="3057754" cy="838505"/>
          </a:xfrm>
          <a:prstGeom prst="roundRect">
            <a:avLst>
              <a:gd name="adj" fmla="val 4957"/>
            </a:avLst>
          </a:prstGeom>
          <a:solidFill>
            <a:srgbClr val="F9FAFB"/>
          </a:solidFill>
          <a:ln/>
        </p:spPr>
      </p:sp>
      <p:sp>
        <p:nvSpPr>
          <p:cNvPr id="11" name="Shape 8"/>
          <p:cNvSpPr/>
          <p:nvPr/>
        </p:nvSpPr>
        <p:spPr>
          <a:xfrm>
            <a:off x="4330598" y="2152498"/>
            <a:ext cx="3534156" cy="3267151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4"/>
          <a:srcRect l="-133" r="-133" t="0" b="0"/>
          <a:stretch/>
        </p:blipFill>
        <p:spPr>
          <a:xfrm>
            <a:off x="4711903" y="2505456"/>
            <a:ext cx="171907" cy="228600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4568342" y="3381451"/>
            <a:ext cx="3057754" cy="838505"/>
          </a:xfrm>
          <a:prstGeom prst="roundRect">
            <a:avLst>
              <a:gd name="adj" fmla="val 4957"/>
            </a:avLst>
          </a:prstGeom>
          <a:solidFill>
            <a:srgbClr val="F9FAFB"/>
          </a:solidFill>
          <a:ln/>
        </p:spPr>
      </p:sp>
      <p:sp>
        <p:nvSpPr>
          <p:cNvPr id="14" name="Shape 10"/>
          <p:cNvSpPr/>
          <p:nvPr/>
        </p:nvSpPr>
        <p:spPr>
          <a:xfrm>
            <a:off x="8089697" y="2152498"/>
            <a:ext cx="3534156" cy="3267151"/>
          </a:xfrm>
          <a:prstGeom prst="roundRect">
            <a:avLst>
              <a:gd name="adj" fmla="val 9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28355" y="239115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FEF3C7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8413394" y="2505456"/>
            <a:ext cx="286207" cy="228600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8328355" y="3381451"/>
            <a:ext cx="3057754" cy="647395"/>
          </a:xfrm>
          <a:prstGeom prst="roundRect">
            <a:avLst>
              <a:gd name="adj" fmla="val 8308"/>
            </a:avLst>
          </a:prstGeom>
          <a:solidFill>
            <a:srgbClr val="F9FAFB"/>
          </a:solidFill>
          <a:ln/>
        </p:spPr>
      </p:sp>
      <p:sp>
        <p:nvSpPr>
          <p:cNvPr id="18" name="Shape 13"/>
          <p:cNvSpPr/>
          <p:nvPr/>
        </p:nvSpPr>
        <p:spPr>
          <a:xfrm>
            <a:off x="571500" y="5648249"/>
            <a:ext cx="11048695" cy="533095"/>
          </a:xfrm>
          <a:prstGeom prst="roundRect">
            <a:avLst>
              <a:gd name="adj" fmla="val 24504"/>
            </a:avLst>
          </a:prstGeom>
          <a:solidFill>
            <a:srgbClr val="1F2937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24205" y="5820156"/>
            <a:ext cx="142646" cy="190195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5"/>
          <p:cNvSpPr txBox="1"/>
          <p:nvPr/>
        </p:nvSpPr>
        <p:spPr>
          <a:xfrm>
            <a:off x="571500" y="504749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" y="629107"/>
            <a:ext cx="3706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문제점 상세 분석</a:t>
            </a:r>
            <a:endParaRPr lang="en-US" sz="2700" dirty="0"/>
          </a:p>
        </p:txBody>
      </p:sp>
      <p:sp>
        <p:nvSpPr>
          <p:cNvPr id="23" name="Text 17"/>
          <p:cNvSpPr txBox="1"/>
          <p:nvPr/>
        </p:nvSpPr>
        <p:spPr>
          <a:xfrm>
            <a:off x="761695" y="1514246"/>
            <a:ext cx="61484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발견: "수치상 데이터는 충분해 보였지만, 실제 학습 가능한 데이터는 절반 이하"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809244" y="2991002"/>
            <a:ext cx="19339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라벨 누락 및 불일치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923544" y="3495751"/>
            <a:ext cx="2358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JSON 개수(1001) ≠ 이미지 개수(651)</a:t>
            </a:r>
            <a:endParaRPr lang="en-US" sz="1000" dirty="0"/>
          </a:p>
        </p:txBody>
      </p:sp>
      <p:sp>
        <p:nvSpPr>
          <p:cNvPr id="26" name="Text 20"/>
          <p:cNvSpPr txBox="1"/>
          <p:nvPr/>
        </p:nvSpPr>
        <p:spPr>
          <a:xfrm>
            <a:off x="923544" y="3724351"/>
            <a:ext cx="2882189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1:1 매칭이 불가능한 상태로, 데이터셋의 정합성이 심각하게 훼손됨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961949" y="4334256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이미지는 있으나 Annotation 파일 부재</a:t>
            </a:r>
            <a:endParaRPr lang="en-US" sz="1000" dirty="0"/>
          </a:p>
        </p:txBody>
      </p:sp>
      <p:sp>
        <p:nvSpPr>
          <p:cNvPr id="28" name="Text 22"/>
          <p:cNvSpPr txBox="1"/>
          <p:nvPr/>
        </p:nvSpPr>
        <p:spPr>
          <a:xfrm>
            <a:off x="961949" y="4600346"/>
            <a:ext cx="2576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Annotation 파일만 있고 이미지가 없는 경우</a:t>
            </a:r>
            <a:endParaRPr lang="en-US" sz="1000" dirty="0"/>
          </a:p>
        </p:txBody>
      </p:sp>
      <p:sp>
        <p:nvSpPr>
          <p:cNvPr id="29" name="Text 23"/>
          <p:cNvSpPr txBox="1"/>
          <p:nvPr/>
        </p:nvSpPr>
        <p:spPr>
          <a:xfrm>
            <a:off x="961949" y="4867351"/>
            <a:ext cx="28337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결과적으로 419장(64%)이 학습에 즉시 사용 불가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4568342" y="2991002"/>
            <a:ext cx="20007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Annotation 파편화</a:t>
            </a:r>
            <a:endParaRPr lang="en-US" sz="1500" dirty="0"/>
          </a:p>
        </p:txBody>
      </p:sp>
      <p:sp>
        <p:nvSpPr>
          <p:cNvPr id="31" name="Text 25"/>
          <p:cNvSpPr txBox="1"/>
          <p:nvPr/>
        </p:nvSpPr>
        <p:spPr>
          <a:xfrm>
            <a:off x="4682642" y="3495751"/>
            <a:ext cx="1586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 Image : N JSON Files</a:t>
            </a:r>
            <a:endParaRPr lang="en-US" sz="1000" dirty="0"/>
          </a:p>
        </p:txBody>
      </p:sp>
      <p:sp>
        <p:nvSpPr>
          <p:cNvPr id="32" name="Text 26"/>
          <p:cNvSpPr txBox="1"/>
          <p:nvPr/>
        </p:nvSpPr>
        <p:spPr>
          <a:xfrm>
            <a:off x="4682642" y="3724351"/>
            <a:ext cx="28245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이미지에 대한 라벨 정보가 여러 파일로 흩어져 있음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4721047" y="4334256"/>
            <a:ext cx="28629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포맷으로 통합되지 않아 모델 파이프라인에 직접 투입 불가</a:t>
            </a:r>
            <a:endParaRPr lang="en-US" sz="1000" dirty="0"/>
          </a:p>
        </p:txBody>
      </p:sp>
      <p:sp>
        <p:nvSpPr>
          <p:cNvPr id="34" name="Text 28"/>
          <p:cNvSpPr txBox="1"/>
          <p:nvPr/>
        </p:nvSpPr>
        <p:spPr>
          <a:xfrm>
            <a:off x="4721047" y="4791456"/>
            <a:ext cx="285292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일부 객체 정보가 누락되면 모델이 해당 객체를 '배경'으로 오인 학습할 위험 존재</a:t>
            </a:r>
            <a:endParaRPr lang="en-US" sz="1000" dirty="0"/>
          </a:p>
        </p:txBody>
      </p:sp>
      <p:sp>
        <p:nvSpPr>
          <p:cNvPr id="35" name="Text 29"/>
          <p:cNvSpPr txBox="1"/>
          <p:nvPr/>
        </p:nvSpPr>
        <p:spPr>
          <a:xfrm>
            <a:off x="8328355" y="2991002"/>
            <a:ext cx="2057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극심한 클래스 불균형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8442655" y="3495751"/>
            <a:ext cx="14337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Sparse Labeling 문제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8442655" y="3724351"/>
            <a:ext cx="26151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 이미지당 1개만 라벨링된 경우가 다수 존재</a:t>
            </a:r>
            <a:endParaRPr lang="en-US" sz="1000" dirty="0"/>
          </a:p>
        </p:txBody>
      </p:sp>
      <p:sp>
        <p:nvSpPr>
          <p:cNvPr id="38" name="Text 32"/>
          <p:cNvSpPr txBox="1"/>
          <p:nvPr/>
        </p:nvSpPr>
        <p:spPr>
          <a:xfrm>
            <a:off x="8480146" y="4143146"/>
            <a:ext cx="24816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56개 클래스 간 데이터 분포 격차 심각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8480146" y="4410151"/>
            <a:ext cx="29004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특정 클래스는 학습 데이터가 거의 전무하여 모델이 전혀 학습하지 못하는 상태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8480146" y="4867351"/>
            <a:ext cx="22914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테스트셋(74개)과의 클래스 불일치 발견</a:t>
            </a:r>
            <a:endParaRPr lang="en-US" sz="1000" dirty="0"/>
          </a:p>
        </p:txBody>
      </p:sp>
      <p:sp>
        <p:nvSpPr>
          <p:cNvPr id="41" name="Text 35"/>
          <p:cNvSpPr txBox="1"/>
          <p:nvPr/>
        </p:nvSpPr>
        <p:spPr>
          <a:xfrm>
            <a:off x="981151" y="5800954"/>
            <a:ext cx="49917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결론: "데이터를 모델에 넣기 전에, 정제와 복구(Recovery)가 선행되어야 함"</a:t>
            </a:r>
            <a:endParaRPr lang="en-US" sz="1200" dirty="0"/>
          </a:p>
        </p:txBody>
      </p:sp>
      <p:sp>
        <p:nvSpPr>
          <p:cNvPr id="42" name="Text 36"/>
          <p:cNvSpPr txBox="1"/>
          <p:nvPr/>
        </p:nvSpPr>
        <p:spPr>
          <a:xfrm>
            <a:off x="8839505" y="5820156"/>
            <a:ext cx="27294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다음 단계: Pseudo-Labeling 전략으로 해결</a:t>
            </a:r>
            <a:endParaRPr lang="en-US" sz="1000" dirty="0"/>
          </a:p>
        </p:txBody>
      </p:sp>
      <p:sp>
        <p:nvSpPr>
          <p:cNvPr id="43" name="Text 37"/>
          <p:cNvSpPr txBox="1"/>
          <p:nvPr/>
        </p:nvSpPr>
        <p:spPr>
          <a:xfrm>
            <a:off x="571500" y="6409944"/>
            <a:ext cx="1505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Data Analysis Detail</a:t>
            </a:r>
            <a:endParaRPr lang="en-US" sz="900" dirty="0"/>
          </a:p>
        </p:txBody>
      </p:sp>
      <p:sp>
        <p:nvSpPr>
          <p:cNvPr id="44" name="Text 38"/>
          <p:cNvSpPr txBox="1"/>
          <p:nvPr/>
        </p:nvSpPr>
        <p:spPr>
          <a:xfrm>
            <a:off x="11096244" y="6409944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7/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45" name="Text 39"/>
          <p:cNvSpPr txBox="1"/>
          <p:nvPr/>
        </p:nvSpPr>
        <p:spPr>
          <a:xfrm>
            <a:off x="9172346" y="790956"/>
            <a:ext cx="25868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기반 핵심 문제점 심층 분석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652" y="1239011"/>
            <a:ext cx="11048695" cy="8001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6" name="Shape 4"/>
          <p:cNvSpPr/>
          <p:nvPr/>
        </p:nvSpPr>
        <p:spPr>
          <a:xfrm>
            <a:off x="570585" y="1200607"/>
            <a:ext cx="38405" cy="8001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8" name="Shape 5"/>
          <p:cNvSpPr/>
          <p:nvPr/>
        </p:nvSpPr>
        <p:spPr>
          <a:xfrm>
            <a:off x="571652" y="5352898"/>
            <a:ext cx="11048695" cy="1438351"/>
          </a:xfrm>
          <a:prstGeom prst="roundRect">
            <a:avLst>
              <a:gd name="adj" fmla="val 5052"/>
            </a:avLst>
          </a:prstGeom>
          <a:solidFill>
            <a:srgbClr val="1f2937"/>
          </a:solidFill>
          <a:ln/>
          <a:effectLst>
            <a:outerShdw blurRad="12700" dist="12700" dir="16200000" algn="bl" rotWithShape="0">
              <a:srgbClr val="000000">
                <a:alpha val="7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209903" y="6255411"/>
            <a:ext cx="10181844" cy="304495"/>
          </a:xfrm>
          <a:prstGeom prst="roundRect">
            <a:avLst>
              <a:gd name="adj" fmla="val 37538"/>
            </a:avLst>
          </a:prstGeom>
          <a:solidFill>
            <a:srgbClr val="374151">
              <a:alpha val="50000"/>
            </a:srgbClr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285798" y="6350509"/>
            <a:ext cx="114300" cy="114300"/>
          </a:xfrm>
          <a:prstGeom prst="rect">
            <a:avLst/>
          </a:prstGeom>
        </p:spPr>
      </p:pic>
      <p:pic>
        <p:nvPicPr>
          <p:cNvPr id="7" name="Image 0" descr="preencoded.png"/>
          <p:cNvPicPr>
            <a:picLocks noChangeAspect="1"/>
          </p:cNvPicPr>
          <p:nvPr/>
        </p:nvPicPr>
        <p:blipFill rotWithShape="1">
          <a:blip r:embed="rId4"/>
          <a:srcRect l="-80" r="-80"/>
          <a:stretch>
            <a:fillRect/>
          </a:stretch>
        </p:blipFill>
        <p:spPr>
          <a:xfrm>
            <a:off x="761695" y="1410005"/>
            <a:ext cx="286207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571500" y="736000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2" name="Text 8"/>
          <p:cNvSpPr txBox="1"/>
          <p:nvPr/>
        </p:nvSpPr>
        <p:spPr>
          <a:xfrm>
            <a:off x="571500" y="276149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13" name="Text 9"/>
          <p:cNvSpPr txBox="1"/>
          <p:nvPr/>
        </p:nvSpPr>
        <p:spPr>
          <a:xfrm>
            <a:off x="571500" y="400507"/>
            <a:ext cx="40773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Pseudo-Label 전략 상세</a:t>
            </a:r>
            <a:endParaRPr lang="en-US" sz="2700" dirty="0"/>
          </a:p>
        </p:txBody>
      </p:sp>
      <p:sp>
        <p:nvSpPr>
          <p:cNvPr id="14" name="Text 10"/>
          <p:cNvSpPr txBox="1"/>
          <p:nvPr/>
        </p:nvSpPr>
        <p:spPr>
          <a:xfrm>
            <a:off x="1200607" y="1285646"/>
            <a:ext cx="2691079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1f2937"/>
                </a:solidFill>
                <a:latin typeface="Noto Sans KR"/>
                <a:ea typeface="Noto Sans KR"/>
                <a:cs typeface="Noto Sans KR"/>
              </a:rPr>
              <a:t>데이터 증강이 아닌 '라벨 복원' 전략</a:t>
            </a:r>
            <a:endParaRPr lang="en-US" sz="1300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 rotWithShape="1">
          <a:blip r:embed="rId5"/>
          <a:srcRect l="-1118" r="-1118"/>
          <a:stretch>
            <a:fillRect/>
          </a:stretch>
        </p:blipFill>
        <p:spPr>
          <a:xfrm>
            <a:off x="800252" y="5619903"/>
            <a:ext cx="219456" cy="286207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9903" y="5590642"/>
            <a:ext cx="2662733" cy="247802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300" b="1">
                <a:solidFill>
                  <a:srgbClr val="fbbf24"/>
                </a:solidFill>
                <a:latin typeface="Noto Sans KR"/>
                <a:ea typeface="Noto Sans KR"/>
                <a:cs typeface="Noto Sans KR"/>
              </a:rPr>
              <a:t>Meta Question: 가설 검증의 의미</a:t>
            </a:r>
            <a:endParaRPr lang="en-US" sz="1300"/>
          </a:p>
        </p:txBody>
      </p:sp>
      <p:sp>
        <p:nvSpPr>
          <p:cNvPr id="18" name="Text 13"/>
          <p:cNvSpPr txBox="1"/>
          <p:nvPr/>
        </p:nvSpPr>
        <p:spPr>
          <a:xfrm>
            <a:off x="1209903" y="5933542"/>
            <a:ext cx="6615684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e5e7eb"/>
                </a:solidFill>
                <a:latin typeface="Noto Sans KR"/>
                <a:ea typeface="Noto Sans KR"/>
                <a:cs typeface="Noto Sans KR"/>
              </a:rPr>
              <a:t>"Pseudo-label은 단순히 데이터를 늘리는 행위가 아니라, 신뢰도 있는 라벨을 만들기 위한 가설(Hypothesis)입니다."</a:t>
            </a:r>
            <a:endParaRPr lang="en-US" sz="1000"/>
          </a:p>
        </p:txBody>
      </p:sp>
      <p:sp>
        <p:nvSpPr>
          <p:cNvPr id="19" name="Text 14"/>
          <p:cNvSpPr txBox="1"/>
          <p:nvPr/>
        </p:nvSpPr>
        <p:spPr>
          <a:xfrm>
            <a:off x="1476908" y="6322162"/>
            <a:ext cx="59344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모델이 스스로 판단한 라벨(Confidence Score 기반)을 다시 학습에 활용하여 경계선에 있는 데이터의 학습 효율을 극대화함</a:t>
            </a:r>
            <a:endParaRPr lang="en-US" sz="900"/>
          </a:p>
        </p:txBody>
      </p:sp>
      <p:sp>
        <p:nvSpPr>
          <p:cNvPr id="15" name="Text 11"/>
          <p:cNvSpPr txBox="1"/>
          <p:nvPr/>
        </p:nvSpPr>
        <p:spPr>
          <a:xfrm>
            <a:off x="1200607" y="1580998"/>
            <a:ext cx="7434986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확실한 소수의 데이터(GT)로 모델을 학습시켜, 다수의 미라벨 데이터에 대한 가설(Pseudo-label)을 생성하고 검증하는 순환 프로세스</a:t>
            </a:r>
            <a:endParaRPr lang="en-US" sz="1000"/>
          </a:p>
        </p:txBody>
      </p:sp>
      <p:sp>
        <p:nvSpPr>
          <p:cNvPr id="20" name="Text 15"/>
          <p:cNvSpPr txBox="1"/>
          <p:nvPr/>
        </p:nvSpPr>
        <p:spPr>
          <a:xfrm>
            <a:off x="571500" y="7436815"/>
            <a:ext cx="18388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Data Engineering Strategy</a:t>
            </a:r>
            <a:endParaRPr lang="en-US" sz="900" dirty="0"/>
          </a:p>
        </p:txBody>
      </p:sp>
      <p:sp>
        <p:nvSpPr>
          <p:cNvPr id="21" name="Text 16"/>
          <p:cNvSpPr txBox="1"/>
          <p:nvPr/>
        </p:nvSpPr>
        <p:spPr>
          <a:xfrm>
            <a:off x="11582095" y="6628486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8/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2" name="Text 17"/>
          <p:cNvSpPr txBox="1"/>
          <p:nvPr/>
        </p:nvSpPr>
        <p:spPr>
          <a:xfrm>
            <a:off x="8508492" y="562356"/>
            <a:ext cx="32433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"신뢰도 있는 라벨을 만들기 위한 가설 검증"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1676095" y="3752698"/>
            <a:ext cx="8839505" cy="38405"/>
          </a:xfrm>
          <a:prstGeom prst="rect">
            <a:avLst/>
          </a:prstGeom>
          <a:solidFill>
            <a:srgbClr val="E2E8F0"/>
          </a:solidFill>
          <a:ln/>
        </p:spPr>
      </p:sp>
      <p:sp>
        <p:nvSpPr>
          <p:cNvPr id="24" name="Shape 19"/>
          <p:cNvSpPr/>
          <p:nvPr/>
        </p:nvSpPr>
        <p:spPr>
          <a:xfrm>
            <a:off x="571500" y="2305202"/>
            <a:ext cx="3381451" cy="2933395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724205" y="2457907"/>
            <a:ext cx="304495" cy="304495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35762" y="2510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1000" dirty="0"/>
          </a:p>
        </p:txBody>
      </p:sp>
      <p:sp>
        <p:nvSpPr>
          <p:cNvPr id="27" name="Shape 22"/>
          <p:cNvSpPr/>
          <p:nvPr/>
        </p:nvSpPr>
        <p:spPr>
          <a:xfrm>
            <a:off x="1955902" y="2695651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/>
          <a:srcRect l="-607" r="-607" t="0" b="0"/>
          <a:stretch/>
        </p:blipFill>
        <p:spPr>
          <a:xfrm>
            <a:off x="2079346" y="2857500"/>
            <a:ext cx="362102" cy="286207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1570939" y="3409798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Initial Training</a:t>
            </a:r>
            <a:endParaRPr lang="en-US" sz="1500" dirty="0"/>
          </a:p>
        </p:txBody>
      </p:sp>
      <p:sp>
        <p:nvSpPr>
          <p:cNvPr id="30" name="Text 24"/>
          <p:cNvSpPr txBox="1"/>
          <p:nvPr/>
        </p:nvSpPr>
        <p:spPr>
          <a:xfrm>
            <a:off x="1772107" y="3715207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STAGE-1 MODEL</a:t>
            </a:r>
            <a:endParaRPr lang="en-US" sz="900" dirty="0"/>
          </a:p>
        </p:txBody>
      </p:sp>
      <p:sp>
        <p:nvSpPr>
          <p:cNvPr id="31" name="Shape 25"/>
          <p:cNvSpPr/>
          <p:nvPr/>
        </p:nvSpPr>
        <p:spPr>
          <a:xfrm>
            <a:off x="809244" y="4028846"/>
            <a:ext cx="2905049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32" name="Text 26"/>
          <p:cNvSpPr txBox="1"/>
          <p:nvPr/>
        </p:nvSpPr>
        <p:spPr>
          <a:xfrm>
            <a:off x="1868119" y="4134002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232장</a:t>
            </a:r>
            <a:endParaRPr lang="en-US" sz="2200" dirty="0"/>
          </a:p>
        </p:txBody>
      </p:sp>
      <p:sp>
        <p:nvSpPr>
          <p:cNvPr id="33" name="Text 27"/>
          <p:cNvSpPr txBox="1"/>
          <p:nvPr/>
        </p:nvSpPr>
        <p:spPr>
          <a:xfrm>
            <a:off x="1523390" y="4543654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확실한 라벨(GT) 보유 데이터로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774850" y="4695444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1차 학습 진행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>
            <a:off x="4406494" y="2305202"/>
            <a:ext cx="3381451" cy="2933395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6" name="Shape 30"/>
          <p:cNvSpPr/>
          <p:nvPr/>
        </p:nvSpPr>
        <p:spPr>
          <a:xfrm>
            <a:off x="4559198" y="2457907"/>
            <a:ext cx="304495" cy="304495"/>
          </a:xfrm>
          <a:prstGeom prst="ellipse">
            <a:avLst/>
          </a:prstGeom>
          <a:solidFill>
            <a:srgbClr val="6366F1"/>
          </a:solidFill>
          <a:ln/>
        </p:spPr>
      </p:sp>
      <p:sp>
        <p:nvSpPr>
          <p:cNvPr id="37" name="Text 31"/>
          <p:cNvSpPr txBox="1"/>
          <p:nvPr/>
        </p:nvSpPr>
        <p:spPr>
          <a:xfrm>
            <a:off x="4670755" y="2510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1000" dirty="0"/>
          </a:p>
        </p:txBody>
      </p:sp>
      <p:sp>
        <p:nvSpPr>
          <p:cNvPr id="38" name="Shape 32"/>
          <p:cNvSpPr/>
          <p:nvPr/>
        </p:nvSpPr>
        <p:spPr>
          <a:xfrm>
            <a:off x="5790895" y="2695651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EEF2FF"/>
          </a:solidFill>
          <a:ln/>
        </p:spPr>
      </p:sp>
      <p:pic>
        <p:nvPicPr>
          <p:cNvPr id="39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5952744" y="2857500"/>
            <a:ext cx="286207" cy="286207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5446166" y="3409798"/>
            <a:ext cx="144841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Labeling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5349240" y="3715207"/>
            <a:ext cx="1581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F46E5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 &amp; GENERATE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4645152" y="4028846"/>
            <a:ext cx="2905049" cy="972007"/>
          </a:xfrm>
          <a:prstGeom prst="roundRect">
            <a:avLst>
              <a:gd name="adj" fmla="val 7378"/>
            </a:avLst>
          </a:prstGeom>
          <a:solidFill>
            <a:srgbClr val="F9FAFB"/>
          </a:solidFill>
          <a:ln/>
        </p:spPr>
      </p:sp>
      <p:sp>
        <p:nvSpPr>
          <p:cNvPr id="43" name="Text 36"/>
          <p:cNvSpPr txBox="1"/>
          <p:nvPr/>
        </p:nvSpPr>
        <p:spPr>
          <a:xfrm>
            <a:off x="5703113" y="4134002"/>
            <a:ext cx="10049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419장</a:t>
            </a:r>
            <a:endParaRPr lang="en-US" sz="2200" dirty="0"/>
          </a:p>
        </p:txBody>
      </p:sp>
      <p:sp>
        <p:nvSpPr>
          <p:cNvPr id="44" name="Text 37"/>
          <p:cNvSpPr txBox="1"/>
          <p:nvPr/>
        </p:nvSpPr>
        <p:spPr>
          <a:xfrm>
            <a:off x="5590642" y="4543654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미라벨 이미지에 대해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5359298" y="4695444"/>
            <a:ext cx="15627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Stage-1 모델로 라벨 자동 생성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8242402" y="2305202"/>
            <a:ext cx="3381451" cy="2933395"/>
          </a:xfrm>
          <a:prstGeom prst="roundRect">
            <a:avLst>
              <a:gd name="adj" fmla="val 161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7" name="Shape 40"/>
          <p:cNvSpPr/>
          <p:nvPr/>
        </p:nvSpPr>
        <p:spPr>
          <a:xfrm>
            <a:off x="8395106" y="2457907"/>
            <a:ext cx="304495" cy="304495"/>
          </a:xfrm>
          <a:prstGeom prst="ellipse">
            <a:avLst/>
          </a:prstGeom>
          <a:solidFill>
            <a:srgbClr val="8B5CF6"/>
          </a:solidFill>
          <a:ln/>
        </p:spPr>
      </p:sp>
      <p:sp>
        <p:nvSpPr>
          <p:cNvPr id="48" name="Text 41"/>
          <p:cNvSpPr txBox="1"/>
          <p:nvPr/>
        </p:nvSpPr>
        <p:spPr>
          <a:xfrm>
            <a:off x="8506663" y="2510028"/>
            <a:ext cx="18653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Shape 42"/>
          <p:cNvSpPr/>
          <p:nvPr/>
        </p:nvSpPr>
        <p:spPr>
          <a:xfrm>
            <a:off x="9626803" y="2695651"/>
            <a:ext cx="609905" cy="609905"/>
          </a:xfrm>
          <a:prstGeom prst="roundRect">
            <a:avLst>
              <a:gd name="adj" fmla="val 14992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0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-530" b="-530"/>
          <a:stretch/>
        </p:blipFill>
        <p:spPr>
          <a:xfrm>
            <a:off x="9807854" y="2857500"/>
            <a:ext cx="247802" cy="286207"/>
          </a:xfrm>
          <a:prstGeom prst="rect">
            <a:avLst/>
          </a:prstGeom>
        </p:spPr>
      </p:pic>
      <p:sp>
        <p:nvSpPr>
          <p:cNvPr id="51" name="Text 43"/>
          <p:cNvSpPr txBox="1"/>
          <p:nvPr/>
        </p:nvSpPr>
        <p:spPr>
          <a:xfrm>
            <a:off x="9522562" y="3409798"/>
            <a:ext cx="9628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Scale Up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9511589" y="3715207"/>
            <a:ext cx="933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DATASET V1.5</a:t>
            </a:r>
            <a:endParaRPr lang="en-US" sz="900" dirty="0"/>
          </a:p>
        </p:txBody>
      </p:sp>
      <p:sp>
        <p:nvSpPr>
          <p:cNvPr id="53" name="Shape 45"/>
          <p:cNvSpPr/>
          <p:nvPr/>
        </p:nvSpPr>
        <p:spPr>
          <a:xfrm>
            <a:off x="8480146" y="4028846"/>
            <a:ext cx="2905049" cy="972007"/>
          </a:xfrm>
          <a:prstGeom prst="roundRect">
            <a:avLst>
              <a:gd name="adj" fmla="val 7378"/>
            </a:avLst>
          </a:prstGeom>
          <a:solidFill>
            <a:srgbClr val="FFFFFF"/>
          </a:solidFill>
          <a:ln w="12700">
            <a:solidFill>
              <a:srgbClr val="EDE9FE"/>
            </a:solidFill>
            <a:prstDash val="solid"/>
          </a:ln>
        </p:spPr>
      </p:sp>
      <p:sp>
        <p:nvSpPr>
          <p:cNvPr id="54" name="Text 46"/>
          <p:cNvSpPr txBox="1"/>
          <p:nvPr/>
        </p:nvSpPr>
        <p:spPr>
          <a:xfrm>
            <a:off x="9460382" y="4095598"/>
            <a:ext cx="12006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7C3AE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651장</a:t>
            </a:r>
            <a:endParaRPr lang="en-US" sz="2700" dirty="0"/>
          </a:p>
        </p:txBody>
      </p:sp>
      <p:sp>
        <p:nvSpPr>
          <p:cNvPr id="55" name="Text 47"/>
          <p:cNvSpPr txBox="1"/>
          <p:nvPr/>
        </p:nvSpPr>
        <p:spPr>
          <a:xfrm>
            <a:off x="9114739" y="4562856"/>
            <a:ext cx="17245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데이터셋 학습 가능 상태 확보</a:t>
            </a:r>
            <a:endParaRPr lang="en-US" sz="900" dirty="0"/>
          </a:p>
        </p:txBody>
      </p:sp>
      <p:sp>
        <p:nvSpPr>
          <p:cNvPr id="56" name="Text 48"/>
          <p:cNvSpPr txBox="1"/>
          <p:nvPr/>
        </p:nvSpPr>
        <p:spPr>
          <a:xfrm>
            <a:off x="9391802" y="4714646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(약 2.8배 데이터 확장)</a:t>
            </a:r>
            <a:endParaRPr lang="en-US" sz="900" dirty="0"/>
          </a:p>
        </p:txBody>
      </p:sp>
      <p:pic>
        <p:nvPicPr>
          <p:cNvPr id="57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-30" b="-30"/>
          <a:stretch/>
        </p:blipFill>
        <p:spPr>
          <a:xfrm>
            <a:off x="4035247" y="3638398"/>
            <a:ext cx="190195" cy="304495"/>
          </a:xfrm>
          <a:prstGeom prst="rect">
            <a:avLst/>
          </a:prstGeom>
        </p:spPr>
      </p:pic>
      <p:pic>
        <p:nvPicPr>
          <p:cNvPr id="58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30" b="-30"/>
          <a:stretch/>
        </p:blipFill>
        <p:spPr>
          <a:xfrm>
            <a:off x="7871155" y="3638398"/>
            <a:ext cx="190195" cy="30449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505102"/>
            <a:ext cx="3610051" cy="1162202"/>
          </a:xfrm>
          <a:prstGeom prst="roundRect">
            <a:avLst>
              <a:gd name="adj" fmla="val 7739"/>
            </a:avLst>
          </a:prstGeom>
          <a:solidFill>
            <a:srgbClr val="FEF2F2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505102"/>
            <a:ext cx="38405" cy="1162202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00100" y="1733702"/>
            <a:ext cx="190195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4410151" y="1505102"/>
            <a:ext cx="7210044" cy="1162202"/>
          </a:xfrm>
          <a:prstGeom prst="roundRect">
            <a:avLst>
              <a:gd name="adj" fmla="val 773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724705" y="1969618"/>
            <a:ext cx="228600" cy="228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452153" y="1788566"/>
            <a:ext cx="1971446" cy="590702"/>
          </a:xfrm>
          <a:prstGeom prst="roundRect">
            <a:avLst>
              <a:gd name="adj" fmla="val 19974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0119665" y="1873606"/>
            <a:ext cx="9144" cy="418795"/>
          </a:xfrm>
          <a:prstGeom prst="rect">
            <a:avLst/>
          </a:prstGeom>
          <a:solidFill>
            <a:srgbClr val="D1D5D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-760" r="-760" t="0" b="0"/>
          <a:stretch/>
        </p:blipFill>
        <p:spPr>
          <a:xfrm>
            <a:off x="10353751" y="1997964"/>
            <a:ext cx="152705" cy="171907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71500" y="2862072"/>
            <a:ext cx="171907" cy="171907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819302" y="2814523"/>
            <a:ext cx="215798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적용된 4가지 핵심 증강 기법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571500" y="5747918"/>
            <a:ext cx="11048695" cy="495605"/>
          </a:xfrm>
          <a:prstGeom prst="roundRect">
            <a:avLst>
              <a:gd name="adj" fmla="val 28385"/>
            </a:avLst>
          </a:prstGeom>
          <a:solidFill>
            <a:srgbClr val="1F2937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24205" y="5900623"/>
            <a:ext cx="190195" cy="190195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1500" y="6472123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571500" y="276149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71500" y="400507"/>
            <a:ext cx="3706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불균형 해결 전략</a:t>
            </a:r>
            <a:endParaRPr lang="en-US" sz="2700" dirty="0"/>
          </a:p>
        </p:txBody>
      </p:sp>
      <p:sp>
        <p:nvSpPr>
          <p:cNvPr id="20" name="Text 13"/>
          <p:cNvSpPr txBox="1"/>
          <p:nvPr/>
        </p:nvSpPr>
        <p:spPr>
          <a:xfrm>
            <a:off x="1104595" y="1705356"/>
            <a:ext cx="814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문제</a:t>
            </a:r>
            <a:endParaRPr lang="en-US" sz="1300" dirty="0"/>
          </a:p>
        </p:txBody>
      </p:sp>
      <p:sp>
        <p:nvSpPr>
          <p:cNvPr id="21" name="Text 14"/>
          <p:cNvSpPr txBox="1"/>
          <p:nvPr/>
        </p:nvSpPr>
        <p:spPr>
          <a:xfrm>
            <a:off x="800100" y="2048256"/>
            <a:ext cx="3215030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"클래스가 많은 것만 잘 맞추고, 적은 것은 무시하는 편향 발생"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5219395" y="1864462"/>
            <a:ext cx="1910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하위 20% 클래스 타겟팅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219395" y="2121408"/>
            <a:ext cx="24149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증강이 아닌 취약 클래스 선별적 집중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9614002" y="1864462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9643262" y="2017166"/>
            <a:ext cx="4389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1장</a:t>
            </a:r>
            <a:endParaRPr lang="en-US" sz="1500" dirty="0"/>
          </a:p>
        </p:txBody>
      </p:sp>
      <p:sp>
        <p:nvSpPr>
          <p:cNvPr id="26" name="Text 19"/>
          <p:cNvSpPr txBox="1"/>
          <p:nvPr/>
        </p:nvSpPr>
        <p:spPr>
          <a:xfrm>
            <a:off x="10858500" y="1864462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735056" y="2017166"/>
            <a:ext cx="667512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6~8장</a:t>
            </a:r>
            <a:endParaRPr lang="en-US" sz="1500" dirty="0"/>
          </a:p>
        </p:txBody>
      </p:sp>
      <p:sp>
        <p:nvSpPr>
          <p:cNvPr id="28" name="Text 21"/>
          <p:cNvSpPr txBox="1"/>
          <p:nvPr/>
        </p:nvSpPr>
        <p:spPr>
          <a:xfrm>
            <a:off x="1028700" y="5900623"/>
            <a:ext cx="56537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결과: "단순히 데이터 양을 늘리는 것이 아니라, 실제 실패하는 상황(Edge Case)을 방어하도록 설계"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71500" y="6548018"/>
            <a:ext cx="19623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Data Augmentation Strategy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11096244" y="6548018"/>
            <a:ext cx="609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9/33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7589520" y="562356"/>
            <a:ext cx="41678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보고서 기반 선택적 증강(Selective Augmentation) 상세</a:t>
            </a:r>
            <a:endParaRPr lang="en-US" sz="1300" dirty="0"/>
          </a:p>
        </p:txBody>
      </p:sp>
      <p:sp>
        <p:nvSpPr>
          <p:cNvPr id="32" name="Shape 25"/>
          <p:cNvSpPr/>
          <p:nvPr/>
        </p:nvSpPr>
        <p:spPr>
          <a:xfrm>
            <a:off x="571500" y="3233318"/>
            <a:ext cx="26197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2876702" y="2938882"/>
            <a:ext cx="609905" cy="609905"/>
          </a:xfrm>
          <a:prstGeom prst="rect">
            <a:avLst/>
          </a:prstGeom>
          <a:solidFill>
            <a:srgbClr val="FFFBEB"/>
          </a:solidFill>
          <a:ln/>
        </p:spPr>
      </p:sp>
      <p:sp>
        <p:nvSpPr>
          <p:cNvPr id="34" name="Shape 27"/>
          <p:cNvSpPr/>
          <p:nvPr/>
        </p:nvSpPr>
        <p:spPr>
          <a:xfrm>
            <a:off x="771754" y="343357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FEF3C7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95198" y="3557930"/>
            <a:ext cx="228600" cy="228600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771754" y="4024274"/>
            <a:ext cx="1067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밝기/대비 조절</a:t>
            </a:r>
            <a:endParaRPr lang="en-US" sz="1200" dirty="0"/>
          </a:p>
        </p:txBody>
      </p:sp>
      <p:sp>
        <p:nvSpPr>
          <p:cNvPr id="37" name="Shape 29"/>
          <p:cNvSpPr/>
          <p:nvPr/>
        </p:nvSpPr>
        <p:spPr>
          <a:xfrm>
            <a:off x="771754" y="4347972"/>
            <a:ext cx="1495044" cy="2286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/>
        </p:spPr>
      </p:sp>
      <p:sp>
        <p:nvSpPr>
          <p:cNvPr id="38" name="Text 30"/>
          <p:cNvSpPr txBox="1"/>
          <p:nvPr/>
        </p:nvSpPr>
        <p:spPr>
          <a:xfrm>
            <a:off x="847649" y="4376318"/>
            <a:ext cx="14292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Environment Robustness</a:t>
            </a:r>
            <a:endParaRPr lang="en-US" sz="900" dirty="0"/>
          </a:p>
        </p:txBody>
      </p:sp>
      <p:sp>
        <p:nvSpPr>
          <p:cNvPr id="39" name="Text 31"/>
          <p:cNvSpPr txBox="1"/>
          <p:nvPr/>
        </p:nvSpPr>
        <p:spPr>
          <a:xfrm>
            <a:off x="771754" y="4681728"/>
            <a:ext cx="2262226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다양한 조명 환경(실내등, 자연광, 그림자)에서의 변화에 모델이 적응하도록 유도</a:t>
            </a:r>
            <a:endParaRPr lang="en-US" sz="1000" dirty="0"/>
          </a:p>
        </p:txBody>
      </p:sp>
      <p:sp>
        <p:nvSpPr>
          <p:cNvPr id="40" name="Shape 32"/>
          <p:cNvSpPr/>
          <p:nvPr/>
        </p:nvSpPr>
        <p:spPr>
          <a:xfrm>
            <a:off x="3381451" y="3233318"/>
            <a:ext cx="26197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3"/>
          <p:cNvSpPr/>
          <p:nvPr/>
        </p:nvSpPr>
        <p:spPr>
          <a:xfrm>
            <a:off x="5686654" y="2938882"/>
            <a:ext cx="609905" cy="609905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42" name="Shape 34"/>
          <p:cNvSpPr/>
          <p:nvPr/>
        </p:nvSpPr>
        <p:spPr>
          <a:xfrm>
            <a:off x="3581705" y="343357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DBEAFE"/>
          </a:solidFill>
          <a:ln/>
        </p:spPr>
      </p:sp>
      <p:pic>
        <p:nvPicPr>
          <p:cNvPr id="43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705149" y="3557930"/>
            <a:ext cx="228600" cy="228600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3581705" y="4024274"/>
            <a:ext cx="10479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아주 소폭 회전</a:t>
            </a:r>
            <a:endParaRPr lang="en-US" sz="1200" dirty="0"/>
          </a:p>
        </p:txBody>
      </p:sp>
      <p:sp>
        <p:nvSpPr>
          <p:cNvPr id="45" name="Shape 36"/>
          <p:cNvSpPr/>
          <p:nvPr/>
        </p:nvSpPr>
        <p:spPr>
          <a:xfrm>
            <a:off x="3581705" y="4347972"/>
            <a:ext cx="1466698" cy="2286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/>
        </p:spPr>
      </p:sp>
      <p:sp>
        <p:nvSpPr>
          <p:cNvPr id="46" name="Text 37"/>
          <p:cNvSpPr txBox="1"/>
          <p:nvPr/>
        </p:nvSpPr>
        <p:spPr>
          <a:xfrm>
            <a:off x="3657600" y="4376318"/>
            <a:ext cx="14008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Angle Variance (±5~10°)</a:t>
            </a:r>
            <a:endParaRPr lang="en-US" sz="900" dirty="0"/>
          </a:p>
        </p:txBody>
      </p:sp>
      <p:sp>
        <p:nvSpPr>
          <p:cNvPr id="47" name="Text 38"/>
          <p:cNvSpPr txBox="1"/>
          <p:nvPr/>
        </p:nvSpPr>
        <p:spPr>
          <a:xfrm>
            <a:off x="3581705" y="4681728"/>
            <a:ext cx="22530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알약을 촬영할 때 발생하는 미세한 각도 틀어짐에 대한 대응력 확보</a:t>
            </a:r>
            <a:endParaRPr lang="en-US" sz="1000" dirty="0"/>
          </a:p>
        </p:txBody>
      </p:sp>
      <p:sp>
        <p:nvSpPr>
          <p:cNvPr id="48" name="Shape 39"/>
          <p:cNvSpPr/>
          <p:nvPr/>
        </p:nvSpPr>
        <p:spPr>
          <a:xfrm>
            <a:off x="6191402" y="3233318"/>
            <a:ext cx="26197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Shape 40"/>
          <p:cNvSpPr/>
          <p:nvPr/>
        </p:nvSpPr>
        <p:spPr>
          <a:xfrm>
            <a:off x="8496605" y="2938882"/>
            <a:ext cx="609905" cy="60990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50" name="Shape 41"/>
          <p:cNvSpPr/>
          <p:nvPr/>
        </p:nvSpPr>
        <p:spPr>
          <a:xfrm>
            <a:off x="6391656" y="343357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D1FAE5"/>
          </a:solidFill>
          <a:ln/>
        </p:spPr>
      </p:sp>
      <p:pic>
        <p:nvPicPr>
          <p:cNvPr id="5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45" b="-45"/>
          <a:stretch/>
        </p:blipFill>
        <p:spPr>
          <a:xfrm>
            <a:off x="6500470" y="3557930"/>
            <a:ext cx="256946" cy="228600"/>
          </a:xfrm>
          <a:prstGeom prst="rect">
            <a:avLst/>
          </a:prstGeom>
        </p:spPr>
      </p:pic>
      <p:sp>
        <p:nvSpPr>
          <p:cNvPr id="52" name="Text 42"/>
          <p:cNvSpPr txBox="1"/>
          <p:nvPr/>
        </p:nvSpPr>
        <p:spPr>
          <a:xfrm>
            <a:off x="6391656" y="4024274"/>
            <a:ext cx="11622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Gaussian Blur</a:t>
            </a:r>
            <a:endParaRPr lang="en-US" sz="1200" dirty="0"/>
          </a:p>
        </p:txBody>
      </p:sp>
      <p:sp>
        <p:nvSpPr>
          <p:cNvPr id="53" name="Shape 43"/>
          <p:cNvSpPr/>
          <p:nvPr/>
        </p:nvSpPr>
        <p:spPr>
          <a:xfrm>
            <a:off x="6391656" y="4347972"/>
            <a:ext cx="942746" cy="2286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6467551" y="4376318"/>
            <a:ext cx="876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Focus Stability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6391656" y="4681728"/>
            <a:ext cx="2214677" cy="5623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카메라의 초점 흔들림이나 저화질 촬영 상황을 시뮬레이션하여 인식률 개선</a:t>
            </a:r>
            <a:endParaRPr lang="en-US" sz="1000" dirty="0"/>
          </a:p>
        </p:txBody>
      </p:sp>
      <p:sp>
        <p:nvSpPr>
          <p:cNvPr id="56" name="Shape 46"/>
          <p:cNvSpPr/>
          <p:nvPr/>
        </p:nvSpPr>
        <p:spPr>
          <a:xfrm>
            <a:off x="9001354" y="3233318"/>
            <a:ext cx="2619756" cy="22860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47"/>
          <p:cNvSpPr/>
          <p:nvPr/>
        </p:nvSpPr>
        <p:spPr>
          <a:xfrm>
            <a:off x="11306556" y="2938882"/>
            <a:ext cx="609905" cy="609905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58" name="Shape 48"/>
          <p:cNvSpPr/>
          <p:nvPr/>
        </p:nvSpPr>
        <p:spPr>
          <a:xfrm>
            <a:off x="9201607" y="3433572"/>
            <a:ext cx="476402" cy="476402"/>
          </a:xfrm>
          <a:prstGeom prst="roundRect">
            <a:avLst>
              <a:gd name="adj" fmla="val 46065"/>
            </a:avLst>
          </a:prstGeom>
          <a:solidFill>
            <a:srgbClr val="EDE9FE"/>
          </a:solidFill>
          <a:ln/>
        </p:spPr>
      </p:sp>
      <p:pic>
        <p:nvPicPr>
          <p:cNvPr id="59" name="Image 8" descr="preencoded.png">    </p:cNvPr>
          <p:cNvPicPr>
            <a:picLocks noChangeAspect="1"/>
          </p:cNvPicPr>
          <p:nvPr/>
        </p:nvPicPr>
        <p:blipFill>
          <a:blip r:embed="rId9"/>
          <a:srcRect l="-80" r="-80" t="0" b="0"/>
          <a:stretch/>
        </p:blipFill>
        <p:spPr>
          <a:xfrm>
            <a:off x="9296705" y="3557930"/>
            <a:ext cx="286207" cy="228600"/>
          </a:xfrm>
          <a:prstGeom prst="rect">
            <a:avLst/>
          </a:prstGeom>
        </p:spPr>
      </p:pic>
      <p:sp>
        <p:nvSpPr>
          <p:cNvPr id="60" name="Text 49"/>
          <p:cNvSpPr txBox="1"/>
          <p:nvPr/>
        </p:nvSpPr>
        <p:spPr>
          <a:xfrm>
            <a:off x="9201607" y="4024274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약한 Noise 추가</a:t>
            </a:r>
            <a:endParaRPr lang="en-US" sz="1200" dirty="0"/>
          </a:p>
        </p:txBody>
      </p:sp>
      <p:sp>
        <p:nvSpPr>
          <p:cNvPr id="61" name="Shape 50"/>
          <p:cNvSpPr/>
          <p:nvPr/>
        </p:nvSpPr>
        <p:spPr>
          <a:xfrm>
            <a:off x="9201607" y="4347972"/>
            <a:ext cx="857707" cy="228600"/>
          </a:xfrm>
          <a:prstGeom prst="roundRect">
            <a:avLst>
              <a:gd name="adj" fmla="val 66667"/>
            </a:avLst>
          </a:prstGeom>
          <a:solidFill>
            <a:srgbClr val="F9FAFB"/>
          </a:solidFill>
          <a:ln/>
        </p:spPr>
      </p:sp>
      <p:sp>
        <p:nvSpPr>
          <p:cNvPr id="62" name="Text 51"/>
          <p:cNvSpPr txBox="1"/>
          <p:nvPr/>
        </p:nvSpPr>
        <p:spPr>
          <a:xfrm>
            <a:off x="9277502" y="4376318"/>
            <a:ext cx="7909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Sensor Noise</a:t>
            </a:r>
            <a:endParaRPr lang="en-US" sz="900" dirty="0"/>
          </a:p>
        </p:txBody>
      </p:sp>
      <p:sp>
        <p:nvSpPr>
          <p:cNvPr id="63" name="Text 52"/>
          <p:cNvSpPr txBox="1"/>
          <p:nvPr/>
        </p:nvSpPr>
        <p:spPr>
          <a:xfrm>
            <a:off x="9201607" y="4681728"/>
            <a:ext cx="2253082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 센서 노이즈나 화질 저하 상황에서도 알약의 특징을 견고하게 학습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3353105"/>
            <a:ext cx="11048695" cy="2219249"/>
          </a:xfrm>
          <a:prstGeom prst="roundRect">
            <a:avLst>
              <a:gd name="adj" fmla="val 282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71754" y="4123944"/>
            <a:ext cx="10649102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771754" y="3666744"/>
            <a:ext cx="200254" cy="22860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9390888" y="3600907"/>
            <a:ext cx="2038198" cy="362102"/>
          </a:xfrm>
          <a:prstGeom prst="roundRect">
            <a:avLst>
              <a:gd name="adj" fmla="val 5316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1754" y="4286707"/>
            <a:ext cx="2553005" cy="1086307"/>
          </a:xfrm>
          <a:prstGeom prst="roundRect">
            <a:avLst>
              <a:gd name="adj" fmla="val 886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-57" r="-57" t="0" b="0"/>
          <a:stretch/>
        </p:blipFill>
        <p:spPr>
          <a:xfrm>
            <a:off x="1945843" y="4410151"/>
            <a:ext cx="200254" cy="22860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471977" y="4286707"/>
            <a:ext cx="2553005" cy="1086307"/>
          </a:xfrm>
          <a:prstGeom prst="roundRect">
            <a:avLst>
              <a:gd name="adj" fmla="val 886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631436" y="4410151"/>
            <a:ext cx="228600" cy="2286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172200" y="4286707"/>
            <a:ext cx="2553005" cy="1086307"/>
          </a:xfrm>
          <a:prstGeom prst="roundRect">
            <a:avLst>
              <a:gd name="adj" fmla="val 886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-57" r="-57" t="0" b="0"/>
          <a:stretch/>
        </p:blipFill>
        <p:spPr>
          <a:xfrm>
            <a:off x="7346290" y="4410151"/>
            <a:ext cx="200254" cy="228600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8872423" y="4286707"/>
            <a:ext cx="2553005" cy="1086307"/>
          </a:xfrm>
          <a:prstGeom prst="roundRect">
            <a:avLst>
              <a:gd name="adj" fmla="val 8861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-80" r="-80" t="0" b="0"/>
          <a:stretch/>
        </p:blipFill>
        <p:spPr>
          <a:xfrm>
            <a:off x="10003536" y="4410151"/>
            <a:ext cx="286207" cy="228600"/>
          </a:xfrm>
          <a:prstGeom prst="rect">
            <a:avLst/>
          </a:prstGeom>
        </p:spPr>
      </p:pic>
      <p:sp>
        <p:nvSpPr>
          <p:cNvPr id="17" name="Shape 10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8" name="Text 11"/>
          <p:cNvSpPr txBox="1"/>
          <p:nvPr/>
        </p:nvSpPr>
        <p:spPr>
          <a:xfrm>
            <a:off x="571500" y="37124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19" name="Text 12"/>
          <p:cNvSpPr txBox="1"/>
          <p:nvPr/>
        </p:nvSpPr>
        <p:spPr>
          <a:xfrm>
            <a:off x="571500" y="495605"/>
            <a:ext cx="406725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셀프 라벨링 &amp; 최종 산출물</a:t>
            </a:r>
            <a:endParaRPr lang="en-US" sz="2700" dirty="0"/>
          </a:p>
        </p:txBody>
      </p:sp>
      <p:sp>
        <p:nvSpPr>
          <p:cNvPr id="20" name="Text 13"/>
          <p:cNvSpPr txBox="1"/>
          <p:nvPr/>
        </p:nvSpPr>
        <p:spPr>
          <a:xfrm>
            <a:off x="1086307" y="3543300"/>
            <a:ext cx="2181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산출물: Dataset v2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1086307" y="3819449"/>
            <a:ext cx="2405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팀 전달 완료 (To. Model Architect)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9552737" y="3721608"/>
            <a:ext cx="114300" cy="133502"/>
          </a:xfrm>
          <a:prstGeom prst="rect">
            <a:avLst/>
          </a:prstGeom>
        </p:spPr>
      </p:pic>
      <p:sp>
        <p:nvSpPr>
          <p:cNvPr id="23" name="Text 15"/>
          <p:cNvSpPr txBox="1"/>
          <p:nvPr/>
        </p:nvSpPr>
        <p:spPr>
          <a:xfrm>
            <a:off x="9743846" y="3685946"/>
            <a:ext cx="16248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Quality Assurance Pass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1601114" y="4714646"/>
            <a:ext cx="9957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Full Coverage</a:t>
            </a:r>
            <a:endParaRPr lang="en-US" sz="1000" dirty="0"/>
          </a:p>
        </p:txBody>
      </p:sp>
      <p:sp>
        <p:nvSpPr>
          <p:cNvPr id="25" name="Text 17"/>
          <p:cNvSpPr txBox="1"/>
          <p:nvPr/>
        </p:nvSpPr>
        <p:spPr>
          <a:xfrm>
            <a:off x="1513332" y="4934102"/>
            <a:ext cx="1153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 발견된 18개 포함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1565453" y="5086807"/>
            <a:ext cx="1047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74개 클래스 확보</a:t>
            </a:r>
            <a:endParaRPr lang="en-US" sz="900" dirty="0"/>
          </a:p>
        </p:txBody>
      </p:sp>
      <p:sp>
        <p:nvSpPr>
          <p:cNvPr id="27" name="Text 19"/>
          <p:cNvSpPr txBox="1"/>
          <p:nvPr/>
        </p:nvSpPr>
        <p:spPr>
          <a:xfrm>
            <a:off x="4388206" y="4714646"/>
            <a:ext cx="8247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Refined GT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4398264" y="4934102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 제거 및</a:t>
            </a:r>
            <a:endParaRPr lang="en-US" sz="900" dirty="0"/>
          </a:p>
        </p:txBody>
      </p:sp>
      <p:sp>
        <p:nvSpPr>
          <p:cNvPr id="29" name="Text 21"/>
          <p:cNvSpPr txBox="1"/>
          <p:nvPr/>
        </p:nvSpPr>
        <p:spPr>
          <a:xfrm>
            <a:off x="4211726" y="5086807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정제된 Ground Truth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7133234" y="4714646"/>
            <a:ext cx="7287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 BBox</a:t>
            </a:r>
            <a:endParaRPr lang="en-US" sz="1000" dirty="0"/>
          </a:p>
        </p:txBody>
      </p:sp>
      <p:sp>
        <p:nvSpPr>
          <p:cNvPr id="31" name="Text 23"/>
          <p:cNvSpPr txBox="1"/>
          <p:nvPr/>
        </p:nvSpPr>
        <p:spPr>
          <a:xfrm>
            <a:off x="6956755" y="4934102"/>
            <a:ext cx="10671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수작업으로 정교하게</a:t>
            </a:r>
            <a:endParaRPr lang="en-US" sz="900" dirty="0"/>
          </a:p>
        </p:txBody>
      </p:sp>
      <p:sp>
        <p:nvSpPr>
          <p:cNvPr id="32" name="Text 24"/>
          <p:cNvSpPr txBox="1"/>
          <p:nvPr/>
        </p:nvSpPr>
        <p:spPr>
          <a:xfrm>
            <a:off x="6949440" y="5086807"/>
            <a:ext cx="10863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그린 Bounding Box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9676181" y="4714646"/>
            <a:ext cx="10433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Balanced Dist.</a:t>
            </a:r>
            <a:endParaRPr lang="en-US" sz="1000" dirty="0"/>
          </a:p>
        </p:txBody>
      </p:sp>
      <p:sp>
        <p:nvSpPr>
          <p:cNvPr id="34" name="Text 26"/>
          <p:cNvSpPr txBox="1"/>
          <p:nvPr/>
        </p:nvSpPr>
        <p:spPr>
          <a:xfrm>
            <a:off x="9867290" y="4934102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증강을 통해</a:t>
            </a:r>
            <a:endParaRPr lang="en-US" sz="900" dirty="0"/>
          </a:p>
        </p:txBody>
      </p:sp>
      <p:sp>
        <p:nvSpPr>
          <p:cNvPr id="35" name="Text 27"/>
          <p:cNvSpPr txBox="1"/>
          <p:nvPr/>
        </p:nvSpPr>
        <p:spPr>
          <a:xfrm>
            <a:off x="9572854" y="5086807"/>
            <a:ext cx="12390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분포 불균형 완화</a:t>
            </a:r>
            <a:endParaRPr lang="en-US" sz="900" dirty="0"/>
          </a:p>
        </p:txBody>
      </p:sp>
      <p:sp>
        <p:nvSpPr>
          <p:cNvPr id="36" name="Text 28"/>
          <p:cNvSpPr txBox="1"/>
          <p:nvPr/>
        </p:nvSpPr>
        <p:spPr>
          <a:xfrm>
            <a:off x="571500" y="6409944"/>
            <a:ext cx="16002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Self Labeling &amp; Final Output</a:t>
            </a:r>
            <a:endParaRPr lang="en-US" sz="900" dirty="0"/>
          </a:p>
        </p:txBody>
      </p:sp>
      <p:sp>
        <p:nvSpPr>
          <p:cNvPr id="37" name="Text 2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10/33</a:t>
            </a:r>
            <a:endParaRPr lang="en-US" sz="900" dirty="0"/>
          </a:p>
        </p:txBody>
      </p:sp>
      <p:sp>
        <p:nvSpPr>
          <p:cNvPr id="38" name="Text 30"/>
          <p:cNvSpPr txBox="1"/>
          <p:nvPr/>
        </p:nvSpPr>
        <p:spPr>
          <a:xfrm>
            <a:off x="8588959" y="657454"/>
            <a:ext cx="3167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"모델이 학습할 수 있는 데이터셋(v2) 완성"</a:t>
            </a:r>
            <a:endParaRPr lang="en-US" sz="1300" dirty="0"/>
          </a:p>
        </p:txBody>
      </p:sp>
      <p:sp>
        <p:nvSpPr>
          <p:cNvPr id="39" name="Shape 31"/>
          <p:cNvSpPr/>
          <p:nvPr/>
        </p:nvSpPr>
        <p:spPr>
          <a:xfrm>
            <a:off x="571500" y="1447495"/>
            <a:ext cx="3534156" cy="1676095"/>
          </a:xfrm>
          <a:prstGeom prst="roundRect">
            <a:avLst>
              <a:gd name="adj" fmla="val 3720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Shape 32"/>
          <p:cNvSpPr/>
          <p:nvPr/>
        </p:nvSpPr>
        <p:spPr>
          <a:xfrm>
            <a:off x="771754" y="1447495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86054" y="1561795"/>
            <a:ext cx="152705" cy="152705"/>
          </a:xfrm>
          <a:prstGeom prst="rect">
            <a:avLst/>
          </a:prstGeom>
        </p:spPr>
      </p:pic>
      <p:sp>
        <p:nvSpPr>
          <p:cNvPr id="42" name="Text 33"/>
          <p:cNvSpPr txBox="1"/>
          <p:nvPr/>
        </p:nvSpPr>
        <p:spPr>
          <a:xfrm>
            <a:off x="1266444" y="1514246"/>
            <a:ext cx="9674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발견된 문제</a:t>
            </a:r>
            <a:endParaRPr lang="en-US" sz="1300" dirty="0"/>
          </a:p>
        </p:txBody>
      </p:sp>
      <p:sp>
        <p:nvSpPr>
          <p:cNvPr id="43" name="Shape 34"/>
          <p:cNvSpPr/>
          <p:nvPr/>
        </p:nvSpPr>
        <p:spPr>
          <a:xfrm>
            <a:off x="771754" y="1904695"/>
            <a:ext cx="3133649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4" name="Text 35"/>
          <p:cNvSpPr txBox="1"/>
          <p:nvPr/>
        </p:nvSpPr>
        <p:spPr>
          <a:xfrm>
            <a:off x="875995" y="2009851"/>
            <a:ext cx="12527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GT 데이터 한계</a:t>
            </a:r>
            <a:endParaRPr lang="en-US" sz="1000" dirty="0"/>
          </a:p>
        </p:txBody>
      </p:sp>
      <p:sp>
        <p:nvSpPr>
          <p:cNvPr id="45" name="Text 36"/>
          <p:cNvSpPr txBox="1"/>
          <p:nvPr/>
        </p:nvSpPr>
        <p:spPr>
          <a:xfrm>
            <a:off x="875995" y="2210105"/>
            <a:ext cx="20766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232장 GT 데이터에는 56개 클래스만 존재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771754" y="2553005"/>
            <a:ext cx="3133649" cy="571500"/>
          </a:xfrm>
          <a:prstGeom prst="roundRect">
            <a:avLst>
              <a:gd name="adj" fmla="val 21333"/>
            </a:avLst>
          </a:prstGeom>
          <a:solidFill>
            <a:srgbClr val="FFFFFF"/>
          </a:solidFill>
          <a:ln w="12700">
            <a:solidFill>
              <a:srgbClr val="FEE2E2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7" name="Text 38"/>
          <p:cNvSpPr txBox="1"/>
          <p:nvPr/>
        </p:nvSpPr>
        <p:spPr>
          <a:xfrm>
            <a:off x="875995" y="2657246"/>
            <a:ext cx="11960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파일 분석 결과</a:t>
            </a:r>
            <a:endParaRPr lang="en-US" sz="1000" dirty="0"/>
          </a:p>
        </p:txBody>
      </p:sp>
      <p:sp>
        <p:nvSpPr>
          <p:cNvPr id="48" name="Text 39"/>
          <p:cNvSpPr txBox="1"/>
          <p:nvPr/>
        </p:nvSpPr>
        <p:spPr>
          <a:xfrm>
            <a:off x="875995" y="2857500"/>
            <a:ext cx="2334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파일명 전수 조사 결과 74개 클래스 발견</a:t>
            </a:r>
            <a:endParaRPr lang="en-US" sz="900" dirty="0"/>
          </a:p>
        </p:txBody>
      </p:sp>
      <p:sp>
        <p:nvSpPr>
          <p:cNvPr id="49" name="Shape 40"/>
          <p:cNvSpPr/>
          <p:nvPr/>
        </p:nvSpPr>
        <p:spPr>
          <a:xfrm>
            <a:off x="4330598" y="1447495"/>
            <a:ext cx="3534156" cy="1676095"/>
          </a:xfrm>
          <a:prstGeom prst="roundRect">
            <a:avLst>
              <a:gd name="adj" fmla="val 3720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50" name="Shape 41"/>
          <p:cNvSpPr/>
          <p:nvPr/>
        </p:nvSpPr>
        <p:spPr>
          <a:xfrm>
            <a:off x="5613502" y="1343254"/>
            <a:ext cx="972007" cy="228600"/>
          </a:xfrm>
          <a:prstGeom prst="roundRect">
            <a:avLst>
              <a:gd name="adj" fmla="val 400000"/>
            </a:avLst>
          </a:prstGeom>
          <a:solidFill>
            <a:srgbClr val="2563EB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1" name="Text 42"/>
          <p:cNvSpPr txBox="1"/>
          <p:nvPr/>
        </p:nvSpPr>
        <p:spPr>
          <a:xfrm>
            <a:off x="5727802" y="1371600"/>
            <a:ext cx="8293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Action</a:t>
            </a:r>
            <a:endParaRPr lang="en-US" sz="900" dirty="0"/>
          </a:p>
        </p:txBody>
      </p:sp>
      <p:sp>
        <p:nvSpPr>
          <p:cNvPr id="52" name="Shape 43"/>
          <p:cNvSpPr/>
          <p:nvPr/>
        </p:nvSpPr>
        <p:spPr>
          <a:xfrm>
            <a:off x="4530852" y="14950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 w="12700">
            <a:solidFill>
              <a:srgbClr val="BFDBFE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180" b="-180"/>
          <a:stretch/>
        </p:blipFill>
        <p:spPr>
          <a:xfrm>
            <a:off x="4673498" y="1609344"/>
            <a:ext cx="95098" cy="15270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5026457" y="1561795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셀프 라벨링 진행</a:t>
            </a:r>
            <a:endParaRPr lang="en-US" sz="1300" dirty="0"/>
          </a:p>
        </p:txBody>
      </p:sp>
      <p:sp>
        <p:nvSpPr>
          <p:cNvPr id="55" name="Shape 45"/>
          <p:cNvSpPr/>
          <p:nvPr/>
        </p:nvSpPr>
        <p:spPr>
          <a:xfrm>
            <a:off x="4530852" y="1952244"/>
            <a:ext cx="3133649" cy="1123798"/>
          </a:xfrm>
          <a:prstGeom prst="roundRect">
            <a:avLst>
              <a:gd name="adj" fmla="val 5516"/>
            </a:avLst>
          </a:prstGeom>
          <a:solidFill>
            <a:srgbClr val="FFFFFF"/>
          </a:solidFill>
          <a:ln w="12700">
            <a:solidFill>
              <a:srgbClr val="DBEAFE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6" name="Text 46"/>
          <p:cNvSpPr txBox="1"/>
          <p:nvPr/>
        </p:nvSpPr>
        <p:spPr>
          <a:xfrm>
            <a:off x="5437937" y="2076602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Roboflow 기반 수작업</a:t>
            </a:r>
            <a:endParaRPr lang="en-US" sz="1000" dirty="0"/>
          </a:p>
        </p:txBody>
      </p:sp>
      <p:sp>
        <p:nvSpPr>
          <p:cNvPr id="57" name="Shape 47"/>
          <p:cNvSpPr/>
          <p:nvPr/>
        </p:nvSpPr>
        <p:spPr>
          <a:xfrm>
            <a:off x="4654296" y="2343607"/>
            <a:ext cx="2885846" cy="75895"/>
          </a:xfrm>
          <a:prstGeom prst="roundRect">
            <a:avLst>
              <a:gd name="adj" fmla="val 1204822"/>
            </a:avLst>
          </a:prstGeom>
          <a:solidFill>
            <a:srgbClr val="F3F4F6"/>
          </a:solidFill>
          <a:ln/>
        </p:spPr>
      </p:sp>
      <p:sp>
        <p:nvSpPr>
          <p:cNvPr id="58" name="Shape 48"/>
          <p:cNvSpPr/>
          <p:nvPr/>
        </p:nvSpPr>
        <p:spPr>
          <a:xfrm>
            <a:off x="4654296" y="2343607"/>
            <a:ext cx="2885846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59" name="Text 49"/>
          <p:cNvSpPr txBox="1"/>
          <p:nvPr/>
        </p:nvSpPr>
        <p:spPr>
          <a:xfrm>
            <a:off x="5632704" y="2523744"/>
            <a:ext cx="10195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누락된 18개 클래스</a:t>
            </a:r>
            <a:endParaRPr lang="en-US" sz="900" dirty="0"/>
          </a:p>
        </p:txBody>
      </p:sp>
      <p:sp>
        <p:nvSpPr>
          <p:cNvPr id="60" name="Text 50"/>
          <p:cNvSpPr txBox="1"/>
          <p:nvPr/>
        </p:nvSpPr>
        <p:spPr>
          <a:xfrm>
            <a:off x="5041087" y="2723998"/>
            <a:ext cx="22293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직접 Bounding Box 라벨링 수행</a:t>
            </a:r>
            <a:endParaRPr lang="en-US" sz="1200" dirty="0"/>
          </a:p>
        </p:txBody>
      </p:sp>
      <p:sp>
        <p:nvSpPr>
          <p:cNvPr id="61" name="Shape 51"/>
          <p:cNvSpPr/>
          <p:nvPr/>
        </p:nvSpPr>
        <p:spPr>
          <a:xfrm>
            <a:off x="8089697" y="1447495"/>
            <a:ext cx="3534156" cy="1676095"/>
          </a:xfrm>
          <a:prstGeom prst="roundRect">
            <a:avLst>
              <a:gd name="adj" fmla="val 3720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2" name="Image 8" descr="preencoded.png">    </p:cNvPr>
          <p:cNvPicPr>
            <a:picLocks noChangeAspect="1"/>
          </p:cNvPicPr>
          <p:nvPr/>
        </p:nvPicPr>
        <p:blipFill>
          <a:blip r:embed="rId9"/>
          <a:srcRect l="-1648" r="-1648" t="0" b="0"/>
          <a:stretch/>
        </p:blipFill>
        <p:spPr>
          <a:xfrm>
            <a:off x="3916375" y="5876849"/>
            <a:ext cx="171907" cy="190195"/>
          </a:xfrm>
          <a:prstGeom prst="rect">
            <a:avLst/>
          </a:prstGeom>
        </p:spPr>
      </p:pic>
      <p:pic>
        <p:nvPicPr>
          <p:cNvPr id="63" name="Image 9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8103413" y="5876849"/>
            <a:ext cx="171907" cy="190195"/>
          </a:xfrm>
          <a:prstGeom prst="rect">
            <a:avLst/>
          </a:prstGeom>
        </p:spPr>
      </p:pic>
      <p:sp>
        <p:nvSpPr>
          <p:cNvPr id="64" name="Text 52"/>
          <p:cNvSpPr txBox="1"/>
          <p:nvPr/>
        </p:nvSpPr>
        <p:spPr>
          <a:xfrm>
            <a:off x="4240073" y="5848502"/>
            <a:ext cx="38441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"이제 모델이 잘 배울 수 있는 상태가 되었습니다."</a:t>
            </a:r>
            <a:endParaRPr lang="en-US" sz="1300" dirty="0"/>
          </a:p>
        </p:txBody>
      </p:sp>
      <p:pic>
        <p:nvPicPr>
          <p:cNvPr id="65" name="Image 10" descr="preencoded.png">    </p:cNvPr>
          <p:cNvPicPr>
            <a:picLocks noChangeAspect="1"/>
          </p:cNvPicPr>
          <p:nvPr/>
        </p:nvPicPr>
        <p:blipFill>
          <a:blip r:embed="rId11"/>
          <a:srcRect l="-57" r="-57" t="0" b="0"/>
          <a:stretch/>
        </p:blipFill>
        <p:spPr>
          <a:xfrm>
            <a:off x="4121201" y="2180844"/>
            <a:ext cx="200254" cy="228600"/>
          </a:xfrm>
          <a:prstGeom prst="rect">
            <a:avLst/>
          </a:prstGeom>
        </p:spPr>
      </p:pic>
      <p:pic>
        <p:nvPicPr>
          <p:cNvPr id="66" name="Image 11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7880299" y="2180844"/>
            <a:ext cx="200254" cy="228600"/>
          </a:xfrm>
          <a:prstGeom prst="rect">
            <a:avLst/>
          </a:prstGeom>
        </p:spPr>
      </p:pic>
      <p:sp>
        <p:nvSpPr>
          <p:cNvPr id="67" name="Shape 53"/>
          <p:cNvSpPr/>
          <p:nvPr/>
        </p:nvSpPr>
        <p:spPr>
          <a:xfrm>
            <a:off x="8289950" y="1628546"/>
            <a:ext cx="381305" cy="381305"/>
          </a:xfrm>
          <a:prstGeom prst="roundRect">
            <a:avLst>
              <a:gd name="adj" fmla="val 239808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68" name="Image 12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8404250" y="1742846"/>
            <a:ext cx="152705" cy="152705"/>
          </a:xfrm>
          <a:prstGeom prst="rect">
            <a:avLst/>
          </a:prstGeom>
        </p:spPr>
      </p:pic>
      <p:sp>
        <p:nvSpPr>
          <p:cNvPr id="69" name="Text 54"/>
          <p:cNvSpPr txBox="1"/>
          <p:nvPr/>
        </p:nvSpPr>
        <p:spPr>
          <a:xfrm>
            <a:off x="8785555" y="1695298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확장 완료</a:t>
            </a:r>
            <a:endParaRPr lang="en-US" sz="1300" dirty="0"/>
          </a:p>
        </p:txBody>
      </p:sp>
      <p:sp>
        <p:nvSpPr>
          <p:cNvPr id="70" name="Shape 55"/>
          <p:cNvSpPr/>
          <p:nvPr/>
        </p:nvSpPr>
        <p:spPr>
          <a:xfrm>
            <a:off x="8289950" y="2085746"/>
            <a:ext cx="3133649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1" name="Image 13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9552737" y="2419502"/>
            <a:ext cx="190195" cy="190195"/>
          </a:xfrm>
          <a:prstGeom prst="rect">
            <a:avLst/>
          </a:prstGeom>
        </p:spPr>
      </p:pic>
      <p:sp>
        <p:nvSpPr>
          <p:cNvPr id="72" name="Text 56"/>
          <p:cNvSpPr txBox="1"/>
          <p:nvPr/>
        </p:nvSpPr>
        <p:spPr>
          <a:xfrm>
            <a:off x="8659368" y="2276856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Before</a:t>
            </a:r>
            <a:endParaRPr lang="en-US" sz="900" dirty="0"/>
          </a:p>
        </p:txBody>
      </p:sp>
      <p:sp>
        <p:nvSpPr>
          <p:cNvPr id="73" name="Text 57"/>
          <p:cNvSpPr txBox="1"/>
          <p:nvPr/>
        </p:nvSpPr>
        <p:spPr>
          <a:xfrm>
            <a:off x="8451799" y="2467051"/>
            <a:ext cx="9144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 Class</a:t>
            </a:r>
            <a:endParaRPr lang="en-US" sz="1500" dirty="0"/>
          </a:p>
        </p:txBody>
      </p:sp>
      <p:sp>
        <p:nvSpPr>
          <p:cNvPr id="74" name="Text 58"/>
          <p:cNvSpPr txBox="1"/>
          <p:nvPr/>
        </p:nvSpPr>
        <p:spPr>
          <a:xfrm>
            <a:off x="10532059" y="2238451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After</a:t>
            </a:r>
            <a:endParaRPr lang="en-US" sz="900" dirty="0"/>
          </a:p>
        </p:txBody>
      </p:sp>
      <p:sp>
        <p:nvSpPr>
          <p:cNvPr id="75" name="Text 59"/>
          <p:cNvSpPr txBox="1"/>
          <p:nvPr/>
        </p:nvSpPr>
        <p:spPr>
          <a:xfrm>
            <a:off x="10080346" y="2400300"/>
            <a:ext cx="13962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 Class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361127" y="1947672"/>
            <a:ext cx="6267298" cy="1104595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361127" y="1947672"/>
            <a:ext cx="38405" cy="1104595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-1648" r="-1648" t="0" b="0"/>
          <a:stretch/>
        </p:blipFill>
        <p:spPr>
          <a:xfrm>
            <a:off x="5589727" y="2176272"/>
            <a:ext cx="171907" cy="19019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361127" y="3204972"/>
            <a:ext cx="3057754" cy="1438351"/>
          </a:xfrm>
          <a:prstGeom prst="roundRect">
            <a:avLst>
              <a:gd name="adj" fmla="val 5052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646420" y="3491179"/>
            <a:ext cx="133502" cy="133502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8567014" y="3204972"/>
            <a:ext cx="3057754" cy="1438351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8767267" y="340522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E0E7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852306" y="3491179"/>
            <a:ext cx="133502" cy="133502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5361127" y="4788713"/>
            <a:ext cx="3057754" cy="1438351"/>
          </a:xfrm>
          <a:prstGeom prst="roundRect">
            <a:avLst>
              <a:gd name="adj" fmla="val 505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5561381" y="4988966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rcRect l="-1507" r="-1507" t="0" b="0"/>
          <a:stretch/>
        </p:blipFill>
        <p:spPr>
          <a:xfrm>
            <a:off x="5628132" y="5074006"/>
            <a:ext cx="171907" cy="133502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8567014" y="4788713"/>
            <a:ext cx="3057754" cy="1438351"/>
          </a:xfrm>
          <a:prstGeom prst="roundRect">
            <a:avLst>
              <a:gd name="adj" fmla="val 5052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852306" y="5074006"/>
            <a:ext cx="133502" cy="133502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71500" y="338328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461772"/>
            <a:ext cx="25630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설계</a:t>
            </a:r>
            <a:endParaRPr lang="en-US" sz="27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1090879"/>
            <a:ext cx="46579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재현성/유지보수: config 기반 파이프라인 설계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500530"/>
            <a:ext cx="62727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"모듈 + 설정 파일" 구조를 통해 조건 변경에도 로직 수정 없이 재실행 가능한 환경 구축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5875020" y="2147926"/>
            <a:ext cx="242498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설정 파일로 전체 실험 제어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5894222" y="2481682"/>
            <a:ext cx="56061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전처리 ↔ 학습 ↔ 추론 ↔ 제출을 하나의 흐름으로 고정하여, 코드 변경 없이 파라미터만으로 모든 실험을 관리합니다.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5980176" y="3443630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재현성 확보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561381" y="3795674"/>
            <a:ext cx="27011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조건이 바뀌어도(경로, 버전, 모델) 로직 수정 없이 재실행 가능하며, 실험 결과의 신뢰도를 보장합니다.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9186062" y="3443630"/>
            <a:ext cx="1143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유지보수성 향상</a:t>
            </a:r>
            <a:endParaRPr lang="en-US" sz="1200" dirty="0"/>
          </a:p>
        </p:txBody>
      </p:sp>
      <p:sp>
        <p:nvSpPr>
          <p:cNvPr id="28" name="Text 21"/>
          <p:cNvSpPr txBox="1"/>
          <p:nvPr/>
        </p:nvSpPr>
        <p:spPr>
          <a:xfrm>
            <a:off x="8767267" y="3795674"/>
            <a:ext cx="27011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각 단계가 모듈화되어 있어, 특정 단계 수정이 전체 시스템에 영향을 주지 않습니다.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5980176" y="5026457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협업 효율성 증대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5561381" y="5379415"/>
            <a:ext cx="2701138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"규칙(=config)"이 곧 인터페이스가 되어, 팀원 간 동일한 실험 환경을 손쉽게 공유하고 검증 가능합니다.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9186062" y="5026457"/>
            <a:ext cx="8668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확장성 강화</a:t>
            </a:r>
            <a:endParaRPr lang="en-US" sz="1200" dirty="0"/>
          </a:p>
        </p:txBody>
      </p:sp>
      <p:sp>
        <p:nvSpPr>
          <p:cNvPr id="32" name="Text 25"/>
          <p:cNvSpPr txBox="1"/>
          <p:nvPr/>
        </p:nvSpPr>
        <p:spPr>
          <a:xfrm>
            <a:off x="8767267" y="5379415"/>
            <a:ext cx="2748686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새로운 모델이나 데이터셋 추가 시 설정 파일만 업데이트하면 파이프라인 구조 변경 없이 다양한 실험 수용이 가능합니다.</a:t>
            </a:r>
            <a:endParaRPr lang="en-US" sz="1000" dirty="0"/>
          </a:p>
        </p:txBody>
      </p:sp>
      <p:sp>
        <p:nvSpPr>
          <p:cNvPr id="33" name="Text 26"/>
          <p:cNvSpPr txBox="1"/>
          <p:nvPr/>
        </p:nvSpPr>
        <p:spPr>
          <a:xfrm>
            <a:off x="571500" y="6409944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Pipeline Architecture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11/33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9843516" y="623621"/>
            <a:ext cx="19101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 &amp; Strategy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71500" y="1947672"/>
            <a:ext cx="4486046" cy="4276649"/>
          </a:xfrm>
          <a:prstGeom prst="roundRect">
            <a:avLst>
              <a:gd name="adj" fmla="val 762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733349" y="2100377"/>
            <a:ext cx="14100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ARCHITECTURE FLOW</a:t>
            </a:r>
            <a:endParaRPr lang="en-US" sz="900" dirty="0"/>
          </a:p>
        </p:txBody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2728570" y="3293669"/>
            <a:ext cx="171907" cy="171907"/>
          </a:xfrm>
          <a:prstGeom prst="rect">
            <a:avLst/>
          </a:prstGeom>
        </p:spPr>
      </p:pic>
      <p:sp>
        <p:nvSpPr>
          <p:cNvPr id="39" name="Shape 31"/>
          <p:cNvSpPr/>
          <p:nvPr/>
        </p:nvSpPr>
        <p:spPr>
          <a:xfrm>
            <a:off x="1366114" y="4588459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0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1661465" y="4760366"/>
            <a:ext cx="171907" cy="190195"/>
          </a:xfrm>
          <a:prstGeom prst="rect">
            <a:avLst/>
          </a:prstGeom>
        </p:spPr>
      </p:pic>
      <p:sp>
        <p:nvSpPr>
          <p:cNvPr id="41" name="Text 32"/>
          <p:cNvSpPr txBox="1"/>
          <p:nvPr/>
        </p:nvSpPr>
        <p:spPr>
          <a:xfrm>
            <a:off x="1617574" y="5017313"/>
            <a:ext cx="3529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</a:t>
            </a:r>
            <a:endParaRPr lang="en-US" sz="900" dirty="0"/>
          </a:p>
        </p:txBody>
      </p:sp>
      <p:sp>
        <p:nvSpPr>
          <p:cNvPr id="42" name="Shape 33"/>
          <p:cNvSpPr/>
          <p:nvPr/>
        </p:nvSpPr>
        <p:spPr>
          <a:xfrm>
            <a:off x="2433218" y="4588459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3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718511" y="4760366"/>
            <a:ext cx="190195" cy="190195"/>
          </a:xfrm>
          <a:prstGeom prst="rect">
            <a:avLst/>
          </a:prstGeom>
        </p:spPr>
      </p:pic>
      <p:sp>
        <p:nvSpPr>
          <p:cNvPr id="44" name="Text 34"/>
          <p:cNvSpPr txBox="1"/>
          <p:nvPr/>
        </p:nvSpPr>
        <p:spPr>
          <a:xfrm>
            <a:off x="2670962" y="5017313"/>
            <a:ext cx="3813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45" name="Shape 35"/>
          <p:cNvSpPr/>
          <p:nvPr/>
        </p:nvSpPr>
        <p:spPr>
          <a:xfrm>
            <a:off x="3499409" y="4588459"/>
            <a:ext cx="761695" cy="761695"/>
          </a:xfrm>
          <a:prstGeom prst="roundRect">
            <a:avLst>
              <a:gd name="adj" fmla="val 1200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46" name="Image 8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3770986" y="4760366"/>
            <a:ext cx="219456" cy="190195"/>
          </a:xfrm>
          <a:prstGeom prst="rect">
            <a:avLst/>
          </a:prstGeom>
        </p:spPr>
      </p:pic>
      <p:sp>
        <p:nvSpPr>
          <p:cNvPr id="47" name="Text 36"/>
          <p:cNvSpPr txBox="1"/>
          <p:nvPr/>
        </p:nvSpPr>
        <p:spPr>
          <a:xfrm>
            <a:off x="3678631" y="5017313"/>
            <a:ext cx="4956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</a:t>
            </a:r>
            <a:endParaRPr lang="en-US" sz="900" dirty="0"/>
          </a:p>
        </p:txBody>
      </p:sp>
      <p:sp>
        <p:nvSpPr>
          <p:cNvPr id="48" name="Shape 37"/>
          <p:cNvSpPr/>
          <p:nvPr/>
        </p:nvSpPr>
        <p:spPr>
          <a:xfrm>
            <a:off x="2024482" y="5579669"/>
            <a:ext cx="1580998" cy="286207"/>
          </a:xfrm>
          <a:prstGeom prst="roundRect">
            <a:avLst>
              <a:gd name="adj" fmla="val 319489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49" name="Text 38"/>
          <p:cNvSpPr txBox="1"/>
          <p:nvPr/>
        </p:nvSpPr>
        <p:spPr>
          <a:xfrm>
            <a:off x="2186330" y="5636362"/>
            <a:ext cx="1343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Single Source of Truth</a:t>
            </a:r>
            <a:endParaRPr lang="en-US" sz="900" dirty="0"/>
          </a:p>
        </p:txBody>
      </p:sp>
      <p:sp>
        <p:nvSpPr>
          <p:cNvPr id="50" name="Shape 39"/>
          <p:cNvSpPr/>
          <p:nvPr/>
        </p:nvSpPr>
        <p:spPr>
          <a:xfrm>
            <a:off x="1594714" y="2455164"/>
            <a:ext cx="2438705" cy="724205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 w="254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1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861718" y="2722169"/>
            <a:ext cx="190195" cy="190195"/>
          </a:xfrm>
          <a:prstGeom prst="rect">
            <a:avLst/>
          </a:prstGeom>
        </p:spPr>
      </p:pic>
      <p:sp>
        <p:nvSpPr>
          <p:cNvPr id="52" name="Text 40"/>
          <p:cNvSpPr txBox="1"/>
          <p:nvPr/>
        </p:nvSpPr>
        <p:spPr>
          <a:xfrm>
            <a:off x="2337206" y="2645359"/>
            <a:ext cx="8723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config.yaml</a:t>
            </a:r>
            <a:endParaRPr lang="en-US" sz="1000" dirty="0"/>
          </a:p>
        </p:txBody>
      </p:sp>
      <p:sp>
        <p:nvSpPr>
          <p:cNvPr id="53" name="Text 41"/>
          <p:cNvSpPr txBox="1"/>
          <p:nvPr/>
        </p:nvSpPr>
        <p:spPr>
          <a:xfrm>
            <a:off x="2337206" y="2826410"/>
            <a:ext cx="10003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파라미터 제어</a:t>
            </a:r>
            <a:endParaRPr lang="en-US" sz="900" dirty="0"/>
          </a:p>
        </p:txBody>
      </p:sp>
      <p:sp>
        <p:nvSpPr>
          <p:cNvPr id="54" name="Shape 42"/>
          <p:cNvSpPr/>
          <p:nvPr/>
        </p:nvSpPr>
        <p:spPr>
          <a:xfrm>
            <a:off x="1594714" y="3540557"/>
            <a:ext cx="2438705" cy="724205"/>
          </a:xfrm>
          <a:prstGeom prst="roundRect">
            <a:avLst>
              <a:gd name="adj" fmla="val 13291"/>
            </a:avLst>
          </a:prstGeom>
          <a:solidFill>
            <a:srgbClr val="FFFFFF"/>
          </a:solidFill>
          <a:ln w="25400">
            <a:solidFill>
              <a:srgbClr val="6366F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55" name="Shape 43"/>
          <p:cNvSpPr/>
          <p:nvPr/>
        </p:nvSpPr>
        <p:spPr>
          <a:xfrm>
            <a:off x="1728216" y="3674059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E0E7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6" name="Image 10" descr="preencoded.png">    </p:cNvPr>
          <p:cNvPicPr>
            <a:picLocks noChangeAspect="1"/>
          </p:cNvPicPr>
          <p:nvPr/>
        </p:nvPicPr>
        <p:blipFill>
          <a:blip r:embed="rId11"/>
          <a:srcRect l="-1282" r="-1282" t="0" b="0"/>
          <a:stretch/>
        </p:blipFill>
        <p:spPr>
          <a:xfrm>
            <a:off x="1847088" y="3807562"/>
            <a:ext cx="219456" cy="190195"/>
          </a:xfrm>
          <a:prstGeom prst="rect">
            <a:avLst/>
          </a:prstGeom>
        </p:spPr>
      </p:pic>
      <p:sp>
        <p:nvSpPr>
          <p:cNvPr id="57" name="Text 44"/>
          <p:cNvSpPr txBox="1"/>
          <p:nvPr/>
        </p:nvSpPr>
        <p:spPr>
          <a:xfrm>
            <a:off x="2337206" y="3731666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pipeline.py</a:t>
            </a:r>
            <a:endParaRPr lang="en-US" sz="1000" dirty="0"/>
          </a:p>
        </p:txBody>
      </p:sp>
      <p:sp>
        <p:nvSpPr>
          <p:cNvPr id="58" name="Text 45"/>
          <p:cNvSpPr txBox="1"/>
          <p:nvPr/>
        </p:nvSpPr>
        <p:spPr>
          <a:xfrm>
            <a:off x="2337206" y="3912718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워크플로우 통합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572000"/>
            <a:ext cx="3581705" cy="1533449"/>
          </a:xfrm>
          <a:prstGeom prst="roundRect">
            <a:avLst>
              <a:gd name="adj" fmla="val 4444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1754" y="4791456"/>
            <a:ext cx="152705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29107"/>
            <a:ext cx="64300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모듈 상세 (Model &amp; Output)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1000354" y="4772254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Ops &amp; Output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71754" y="5048402"/>
            <a:ext cx="3243377" cy="8485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모델의 학습(Training)부터 추론(Inference), 그리고 결과 제출(Submission)까지의 핵심 과정을 담당하는 클래스들입니다. Config 설정을 기반으로 동작하여 실험의 재현성을 보장합니다.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6409944"/>
            <a:ext cx="20199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Module Details - Model Ops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12/33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372600" y="790956"/>
            <a:ext cx="23865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Module Responsibilities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" y="1276502"/>
            <a:ext cx="3581705" cy="3143707"/>
          </a:xfrm>
          <a:prstGeom prst="roundRect">
            <a:avLst>
              <a:gd name="adj" fmla="val 141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0644" y="2042036"/>
            <a:ext cx="3562502" cy="1611725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57700" y="1276502"/>
            <a:ext cx="71624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805172" y="1719072"/>
            <a:ext cx="237744" cy="19019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05349" y="1576426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Trainer 클래스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5305349" y="1938528"/>
            <a:ext cx="605790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파일에 정의된 하이퍼파라미터를 기반으로 YOLO 모델 학습을 수행합니다. 데이터 로더 연결, 학습 루프 실행, 체크포인트 저장을 자동화하여 일관된 학습 환경을 제공합니다.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4457700" y="2962656"/>
            <a:ext cx="71624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4695444" y="3271723"/>
            <a:ext cx="457200" cy="457200"/>
          </a:xfrm>
          <a:prstGeom prst="ellipse">
            <a:avLst/>
          </a:prstGeom>
          <a:solidFill>
            <a:srgbClr val="EEF2FF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828946" y="3405226"/>
            <a:ext cx="190195" cy="19019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305349" y="3262579"/>
            <a:ext cx="16002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Predictor 클래스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305349" y="3624682"/>
            <a:ext cx="6143854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학습된 최적 모델(best.pt)을 로드하여 테스트 데이터셋에 대한 추론을 수행합니다. 배치 단위 처리를 통해 대용량 이미지에 대한 빠른 예측이 가능하며, 결과를 메모리에 효율적으로 적재합니다.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457700" y="4647895"/>
            <a:ext cx="7162495" cy="1457554"/>
          </a:xfrm>
          <a:prstGeom prst="roundRect">
            <a:avLst>
              <a:gd name="adj" fmla="val 4920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5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4695444" y="4957877"/>
            <a:ext cx="457200" cy="457200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4828946" y="5091379"/>
            <a:ext cx="190195" cy="190195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305349" y="4947818"/>
            <a:ext cx="24003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SubmissionWriter 클래스</a:t>
            </a:r>
            <a:endParaRPr lang="en-US" sz="1500" dirty="0"/>
          </a:p>
        </p:txBody>
      </p:sp>
      <p:sp>
        <p:nvSpPr>
          <p:cNvPr id="30" name="Text 23"/>
          <p:cNvSpPr txBox="1"/>
          <p:nvPr/>
        </p:nvSpPr>
        <p:spPr>
          <a:xfrm>
            <a:off x="5305349" y="5309921"/>
            <a:ext cx="5906110" cy="4764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추론된 결과(Category ID, Confidence Score 등)를 대회 규정이나 서비스 요구사항에 맞는 CSV 형식으로 변환하여 저장합니다. 최종 산출물의 형식을 보장하는 역할을 수행합니다.</a:t>
            </a:r>
            <a:endParaRPr lang="en-US" sz="1200" dirty="0"/>
          </a:p>
        </p:txBody>
      </p:sp>
      <p:sp>
        <p:nvSpPr>
          <p:cNvPr id="31" name="Shape 24"/>
          <p:cNvSpPr/>
          <p:nvPr/>
        </p:nvSpPr>
        <p:spPr>
          <a:xfrm>
            <a:off x="4657954" y="1171346"/>
            <a:ext cx="1218895" cy="247802"/>
          </a:xfrm>
          <a:prstGeom prst="roundRect">
            <a:avLst>
              <a:gd name="adj" fmla="val 369004"/>
            </a:avLst>
          </a:prstGeom>
          <a:solidFill>
            <a:srgbClr val="DBEAFE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4772254" y="1209751"/>
            <a:ext cx="10771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TRAINING</a:t>
            </a:r>
            <a:endParaRPr lang="en-US" sz="900" dirty="0"/>
          </a:p>
        </p:txBody>
      </p:sp>
      <p:sp>
        <p:nvSpPr>
          <p:cNvPr id="33" name="Shape 26"/>
          <p:cNvSpPr/>
          <p:nvPr/>
        </p:nvSpPr>
        <p:spPr>
          <a:xfrm>
            <a:off x="4657954" y="2857500"/>
            <a:ext cx="875995" cy="247802"/>
          </a:xfrm>
          <a:prstGeom prst="roundRect">
            <a:avLst>
              <a:gd name="adj" fmla="val 369004"/>
            </a:avLst>
          </a:prstGeom>
          <a:solidFill>
            <a:srgbClr val="4F46E5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27"/>
          <p:cNvSpPr txBox="1"/>
          <p:nvPr/>
        </p:nvSpPr>
        <p:spPr>
          <a:xfrm>
            <a:off x="4772254" y="2895905"/>
            <a:ext cx="7342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900" dirty="0"/>
          </a:p>
        </p:txBody>
      </p:sp>
      <p:sp>
        <p:nvSpPr>
          <p:cNvPr id="35" name="Shape 28"/>
          <p:cNvSpPr/>
          <p:nvPr/>
        </p:nvSpPr>
        <p:spPr>
          <a:xfrm>
            <a:off x="4657954" y="4543654"/>
            <a:ext cx="952805" cy="247802"/>
          </a:xfrm>
          <a:prstGeom prst="roundRect">
            <a:avLst>
              <a:gd name="adj" fmla="val 369004"/>
            </a:avLst>
          </a:prstGeom>
          <a:solidFill>
            <a:srgbClr val="4B5563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Text 29"/>
          <p:cNvSpPr txBox="1"/>
          <p:nvPr/>
        </p:nvSpPr>
        <p:spPr>
          <a:xfrm>
            <a:off x="4772254" y="4581144"/>
            <a:ext cx="8101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SUBMISSION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5067605"/>
            <a:ext cx="4476902" cy="1037844"/>
          </a:xfrm>
          <a:prstGeom prst="roundRect">
            <a:avLst>
              <a:gd name="adj" fmla="val 970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771754" y="5286146"/>
            <a:ext cx="133502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503774" y="1907438"/>
            <a:ext cx="6124651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8" name="Shape 5"/>
          <p:cNvSpPr/>
          <p:nvPr/>
        </p:nvSpPr>
        <p:spPr>
          <a:xfrm>
            <a:off x="5503774" y="2069287"/>
            <a:ext cx="6124651" cy="1076249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836615" y="2510028"/>
            <a:ext cx="190195" cy="19019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5503774" y="3293669"/>
            <a:ext cx="6124651" cy="1076249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5704027" y="3600907"/>
            <a:ext cx="457200" cy="457200"/>
          </a:xfrm>
          <a:prstGeom prst="ellipse">
            <a:avLst/>
          </a:prstGeom>
          <a:solidFill>
            <a:srgbClr val="EFF6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rcRect l="-1282" r="-1282" t="0" b="0"/>
          <a:stretch/>
        </p:blipFill>
        <p:spPr>
          <a:xfrm>
            <a:off x="5822899" y="3733495"/>
            <a:ext cx="219456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10924337" y="3503066"/>
            <a:ext cx="504749" cy="209398"/>
          </a:xfrm>
          <a:prstGeom prst="roundRect">
            <a:avLst>
              <a:gd name="adj" fmla="val 79396"/>
            </a:avLst>
          </a:prstGeom>
          <a:solidFill>
            <a:srgbClr val="DBEAFE"/>
          </a:solidFill>
          <a:ln/>
        </p:spPr>
      </p:sp>
      <p:sp>
        <p:nvSpPr>
          <p:cNvPr id="14" name="Shape 9"/>
          <p:cNvSpPr/>
          <p:nvPr/>
        </p:nvSpPr>
        <p:spPr>
          <a:xfrm>
            <a:off x="5503774" y="4517136"/>
            <a:ext cx="6124651" cy="1076249"/>
          </a:xfrm>
          <a:prstGeom prst="roundRect">
            <a:avLst>
              <a:gd name="adj" fmla="val 751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5704027" y="4824374"/>
            <a:ext cx="457200" cy="457200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6"/>
          <a:srcRect l="-1282" r="-1282" t="0" b="0"/>
          <a:stretch/>
        </p:blipFill>
        <p:spPr>
          <a:xfrm>
            <a:off x="5822899" y="4957877"/>
            <a:ext cx="219456" cy="19019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10735970" y="4726534"/>
            <a:ext cx="685800" cy="209398"/>
          </a:xfrm>
          <a:prstGeom prst="roundRect">
            <a:avLst>
              <a:gd name="adj" fmla="val 79396"/>
            </a:avLst>
          </a:prstGeom>
          <a:solidFill>
            <a:srgbClr val="EDE9FE"/>
          </a:solidFill>
          <a:ln/>
        </p:spPr>
      </p:sp>
      <p:sp>
        <p:nvSpPr>
          <p:cNvPr id="18" name="Shape 12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3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571500" y="629107"/>
            <a:ext cx="41632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PillDatasetBuilder 상세</a:t>
            </a:r>
            <a:endParaRPr lang="en-US" sz="2700" dirty="0"/>
          </a:p>
        </p:txBody>
      </p:sp>
      <p:sp>
        <p:nvSpPr>
          <p:cNvPr id="21" name="Text 15"/>
          <p:cNvSpPr txBox="1"/>
          <p:nvPr/>
        </p:nvSpPr>
        <p:spPr>
          <a:xfrm>
            <a:off x="981151" y="5266944"/>
            <a:ext cx="10341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역할 정의</a:t>
            </a:r>
            <a:endParaRPr lang="en-US" sz="1000" dirty="0"/>
          </a:p>
        </p:txBody>
      </p:sp>
      <p:sp>
        <p:nvSpPr>
          <p:cNvPr id="22" name="Text 16"/>
          <p:cNvSpPr txBox="1"/>
          <p:nvPr/>
        </p:nvSpPr>
        <p:spPr>
          <a:xfrm>
            <a:off x="771754" y="5544007"/>
            <a:ext cx="4163263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데이터를 분석하여 결측치(Missing)와 불일치(Mismatch)를 식별하고, 학습 가능한 형태의 표준 COCO 포맷으로 변환하는 전처리 파이프라인의 핵심 빌더입니다.</a:t>
            </a:r>
            <a:endParaRPr lang="en-US" sz="900" dirty="0"/>
          </a:p>
        </p:txBody>
      </p:sp>
      <p:sp>
        <p:nvSpPr>
          <p:cNvPr id="23" name="Text 17"/>
          <p:cNvSpPr txBox="1"/>
          <p:nvPr/>
        </p:nvSpPr>
        <p:spPr>
          <a:xfrm>
            <a:off x="5503774" y="1640434"/>
            <a:ext cx="13194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 FUNCTIONS</a:t>
            </a:r>
            <a:endParaRPr lang="en-US" sz="1000" dirty="0"/>
          </a:p>
        </p:txBody>
      </p:sp>
      <p:sp>
        <p:nvSpPr>
          <p:cNvPr id="24" name="Text 18"/>
          <p:cNvSpPr txBox="1"/>
          <p:nvPr/>
        </p:nvSpPr>
        <p:spPr>
          <a:xfrm>
            <a:off x="6351422" y="2278685"/>
            <a:ext cx="22146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무결성 검증 및 필터링</a:t>
            </a:r>
            <a:endParaRPr lang="en-US" sz="1300" dirty="0"/>
          </a:p>
        </p:txBody>
      </p:sp>
      <p:sp>
        <p:nvSpPr>
          <p:cNvPr id="25" name="Text 19"/>
          <p:cNvSpPr txBox="1"/>
          <p:nvPr/>
        </p:nvSpPr>
        <p:spPr>
          <a:xfrm>
            <a:off x="10773461" y="2297887"/>
            <a:ext cx="6574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6351422" y="2564892"/>
            <a:ext cx="4558284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이미지와 Annotation 파일 간의 1:1 매칭 여부를 전수 검사하여 Matched(정상), Mismatched(불일치), Only(단독) 그룹으로 자동 분류 및 격리합니다.</a:t>
            </a:r>
            <a:endParaRPr lang="en-US" sz="1000" dirty="0"/>
          </a:p>
        </p:txBody>
      </p:sp>
      <p:sp>
        <p:nvSpPr>
          <p:cNvPr id="27" name="Text 21"/>
          <p:cNvSpPr txBox="1"/>
          <p:nvPr/>
        </p:nvSpPr>
        <p:spPr>
          <a:xfrm>
            <a:off x="6351422" y="3503066"/>
            <a:ext cx="2634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Annotation 통합 (Aggregation)</a:t>
            </a:r>
            <a:endParaRPr lang="en-US" sz="1300" dirty="0"/>
          </a:p>
        </p:txBody>
      </p:sp>
      <p:sp>
        <p:nvSpPr>
          <p:cNvPr id="28" name="Text 22"/>
          <p:cNvSpPr txBox="1"/>
          <p:nvPr/>
        </p:nvSpPr>
        <p:spPr>
          <a:xfrm>
            <a:off x="11000232" y="3522269"/>
            <a:ext cx="438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Merge</a:t>
            </a:r>
            <a:endParaRPr lang="en-US" sz="900" dirty="0"/>
          </a:p>
        </p:txBody>
      </p:sp>
      <p:sp>
        <p:nvSpPr>
          <p:cNvPr id="29" name="Text 23"/>
          <p:cNvSpPr txBox="1"/>
          <p:nvPr/>
        </p:nvSpPr>
        <p:spPr>
          <a:xfrm>
            <a:off x="6351422" y="3788359"/>
            <a:ext cx="5072177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하나의 이미지에 대해 여러 개로 파편화되어 흩어진 JSON 파일들을 수집하고 병합하여, 이미지당 하나의 Annotation 구조를 갖도록 정리합니다.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6351422" y="4726534"/>
            <a:ext cx="20153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디렉토리 구조 생성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10812780" y="4745736"/>
            <a:ext cx="6199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D28D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Structure</a:t>
            </a:r>
            <a:endParaRPr lang="en-US" sz="900" dirty="0"/>
          </a:p>
        </p:txBody>
      </p:sp>
      <p:sp>
        <p:nvSpPr>
          <p:cNvPr id="32" name="Text 26"/>
          <p:cNvSpPr txBox="1"/>
          <p:nvPr/>
        </p:nvSpPr>
        <p:spPr>
          <a:xfrm>
            <a:off x="6351422" y="5012741"/>
            <a:ext cx="514898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정제된 데이터를 기반으로 data/processed/coco 하위에 표준 images, annotations 폴더를 생성하고 학습/검증 데이터셋을 구축합니다.</a:t>
            </a:r>
            <a:endParaRPr lang="en-US" sz="1000" dirty="0"/>
          </a:p>
        </p:txBody>
      </p:sp>
      <p:sp>
        <p:nvSpPr>
          <p:cNvPr id="33" name="Text 27"/>
          <p:cNvSpPr txBox="1"/>
          <p:nvPr/>
        </p:nvSpPr>
        <p:spPr>
          <a:xfrm>
            <a:off x="571500" y="6409944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Module Detail: PillDatasetBuilder</a:t>
            </a:r>
            <a:endParaRPr lang="en-US" sz="900" dirty="0"/>
          </a:p>
        </p:txBody>
      </p:sp>
      <p:sp>
        <p:nvSpPr>
          <p:cNvPr id="34" name="Text 28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13/33</a:t>
            </a:r>
            <a:endParaRPr lang="en-US" sz="900" dirty="0"/>
          </a:p>
        </p:txBody>
      </p:sp>
      <p:sp>
        <p:nvSpPr>
          <p:cNvPr id="35" name="Text 29"/>
          <p:cNvSpPr txBox="1"/>
          <p:nvPr/>
        </p:nvSpPr>
        <p:spPr>
          <a:xfrm>
            <a:off x="8545068" y="790956"/>
            <a:ext cx="32058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Preprocessing &amp; COCO Conversion</a:t>
            </a:r>
            <a:endParaRPr lang="en-US" sz="1300" dirty="0"/>
          </a:p>
        </p:txBody>
      </p:sp>
      <p:sp>
        <p:nvSpPr>
          <p:cNvPr id="36" name="Shape 30"/>
          <p:cNvSpPr/>
          <p:nvPr/>
        </p:nvSpPr>
        <p:spPr>
          <a:xfrm>
            <a:off x="571500" y="1276502"/>
            <a:ext cx="4476902" cy="3638398"/>
          </a:xfrm>
          <a:prstGeom prst="roundRect">
            <a:avLst>
              <a:gd name="adj" fmla="val 789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580644" y="2118925"/>
            <a:ext cx="4457700" cy="195263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842" b="-842"/>
          <a:stretch/>
        </p:blipFill>
        <p:spPr>
          <a:xfrm>
            <a:off x="6247181" y="2314346"/>
            <a:ext cx="190195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14186" y="2266798"/>
            <a:ext cx="20628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디렉토리 및 파일 역할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247181" y="2648102"/>
            <a:ext cx="5305349" cy="828446"/>
          </a:xfrm>
          <a:prstGeom prst="roundRect">
            <a:avLst>
              <a:gd name="adj" fmla="val 1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247181" y="2648102"/>
            <a:ext cx="38405" cy="828446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438290" y="2781605"/>
            <a:ext cx="152705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6247181" y="3590849"/>
            <a:ext cx="5305349" cy="647395"/>
          </a:xfrm>
          <a:prstGeom prst="roundRect">
            <a:avLst>
              <a:gd name="adj" fmla="val 2077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47181" y="3590849"/>
            <a:ext cx="38405" cy="647395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38290" y="3724351"/>
            <a:ext cx="152705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47181" y="4347972"/>
            <a:ext cx="5305349" cy="828446"/>
          </a:xfrm>
          <a:prstGeom prst="roundRect">
            <a:avLst>
              <a:gd name="adj" fmla="val 1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47181" y="4347972"/>
            <a:ext cx="38405" cy="828446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38290" y="4481474"/>
            <a:ext cx="15270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6247181" y="5290718"/>
            <a:ext cx="5305349" cy="828446"/>
          </a:xfrm>
          <a:prstGeom prst="roundRect">
            <a:avLst>
              <a:gd name="adj" fmla="val 1268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6247181" y="5290718"/>
            <a:ext cx="38405" cy="828446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100" b="-100"/>
          <a:stretch/>
        </p:blipFill>
        <p:spPr>
          <a:xfrm>
            <a:off x="6438290" y="5424221"/>
            <a:ext cx="114300" cy="152705"/>
          </a:xfrm>
          <a:prstGeom prst="rect">
            <a:avLst/>
          </a:prstGeom>
        </p:spPr>
      </p:pic>
      <p:sp>
        <p:nvSpPr>
          <p:cNvPr id="19" name="Shape 12"/>
          <p:cNvSpPr/>
          <p:nvPr/>
        </p:nvSpPr>
        <p:spPr>
          <a:xfrm>
            <a:off x="571500" y="11141050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0" name="Text 13"/>
          <p:cNvSpPr txBox="1"/>
          <p:nvPr/>
        </p:nvSpPr>
        <p:spPr>
          <a:xfrm>
            <a:off x="571500" y="2761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400507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모듈 구조</a:t>
            </a:r>
            <a:endParaRPr lang="en-US" sz="27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410005"/>
            <a:ext cx="220096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체계적인 모듈화 설계</a:t>
            </a:r>
            <a:endParaRPr lang="en-US" sz="18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1819656"/>
            <a:ext cx="67199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기반 설정을 통해 확장성과 유지보수성을 극대화한 Medicine 프로젝트 디렉토리 구조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6666890" y="2762402"/>
            <a:ext cx="5577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config/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6666890" y="3000146"/>
            <a:ext cx="47722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전체 파이프라인 설정을 관리. config.yaml, category_mapping.json 등을 통해 데이터 경로와 모델 파라미터를 제어합니다.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6666890" y="3705149"/>
            <a:ext cx="4526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data/</a:t>
            </a:r>
            <a:endParaRPr lang="en-US" sz="1000" dirty="0"/>
          </a:p>
        </p:txBody>
      </p:sp>
      <p:sp>
        <p:nvSpPr>
          <p:cNvPr id="27" name="Text 20"/>
          <p:cNvSpPr txBox="1"/>
          <p:nvPr/>
        </p:nvSpPr>
        <p:spPr>
          <a:xfrm>
            <a:off x="6666890" y="3943807"/>
            <a:ext cx="4620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raw: 원본 이미지 및 어노테이션 processed: 학습을 위해 COCO/YOLO 포맷으로 변환된 데이터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6666890" y="4462272"/>
            <a:ext cx="3483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src/</a:t>
            </a:r>
            <a:endParaRPr lang="en-US" sz="1000" dirty="0"/>
          </a:p>
        </p:txBody>
      </p:sp>
      <p:sp>
        <p:nvSpPr>
          <p:cNvPr id="29" name="Text 22"/>
          <p:cNvSpPr txBox="1"/>
          <p:nvPr/>
        </p:nvSpPr>
        <p:spPr>
          <a:xfrm>
            <a:off x="6666890" y="4700930"/>
            <a:ext cx="47439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로직이 모듈화된 디렉토리. data, mapping, yolo 등으로 기능이 분리되어 유지보수가 용이합니다.</a:t>
            </a:r>
            <a:endParaRPr lang="en-US" sz="900" dirty="0"/>
          </a:p>
        </p:txBody>
      </p:sp>
      <p:sp>
        <p:nvSpPr>
          <p:cNvPr id="30" name="Text 23"/>
          <p:cNvSpPr txBox="1"/>
          <p:nvPr/>
        </p:nvSpPr>
        <p:spPr>
          <a:xfrm>
            <a:off x="6628486" y="5405018"/>
            <a:ext cx="8430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pipeline.py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666890" y="5643677"/>
            <a:ext cx="4763110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E2E 파이프라인 엔트리 포인트. Config를 로드하고 빌더, 매퍼, 트레이너를 순차적으로 실행하여 전체 공정을 자동화합니다.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571500" y="11216945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Pipeline Module Structure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11214202" y="640171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14/33</a:t>
            </a:r>
            <a:endParaRPr lang="en-US" sz="900"/>
          </a:p>
        </p:txBody>
      </p:sp>
      <p:sp>
        <p:nvSpPr>
          <p:cNvPr id="34" name="Text 27"/>
          <p:cNvSpPr txBox="1"/>
          <p:nvPr/>
        </p:nvSpPr>
        <p:spPr>
          <a:xfrm>
            <a:off x="9288475" y="562356"/>
            <a:ext cx="24624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Directory Structure &amp; Modules</a:t>
            </a:r>
            <a:endParaRPr lang="en-US" sz="1300" dirty="0"/>
          </a:p>
        </p:txBody>
      </p:sp>
      <p:sp>
        <p:nvSpPr>
          <p:cNvPr id="35" name="Shape 28"/>
          <p:cNvSpPr/>
          <p:nvPr/>
        </p:nvSpPr>
        <p:spPr>
          <a:xfrm>
            <a:off x="493777" y="2257654"/>
            <a:ext cx="5372100" cy="4495631"/>
          </a:xfrm>
          <a:prstGeom prst="roundRect">
            <a:avLst>
              <a:gd name="adj" fmla="val 36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63500" dist="381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36" name="Image 5" descr="preencoded.png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1752905" y="2257654"/>
            <a:ext cx="2753754" cy="4495631"/>
          </a:xfrm>
          <a:prstGeom prst="rect">
            <a:avLst/>
          </a:prstGeom>
        </p:spPr>
      </p:pic>
      <p:sp>
        <p:nvSpPr>
          <p:cNvPr id="37" name="Shape 29"/>
          <p:cNvSpPr/>
          <p:nvPr/>
        </p:nvSpPr>
        <p:spPr>
          <a:xfrm>
            <a:off x="5137100" y="6366968"/>
            <a:ext cx="1457554" cy="286207"/>
          </a:xfrm>
          <a:prstGeom prst="roundRect">
            <a:avLst>
              <a:gd name="adj" fmla="val 63898"/>
            </a:avLst>
          </a:prstGeom>
          <a:solidFill>
            <a:srgbClr val="0f766e">
              <a:alpha val="90000"/>
            </a:srgbClr>
          </a:solidFill>
          <a:ln/>
          <a:effectLst>
            <a:outerShdw blurRad="381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8" name="Text 30"/>
          <p:cNvSpPr txBox="1"/>
          <p:nvPr/>
        </p:nvSpPr>
        <p:spPr>
          <a:xfrm>
            <a:off x="5251400" y="6423661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 b="1">
                <a:solidFill>
                  <a:srgbClr val="ffffff"/>
                </a:solidFill>
                <a:latin typeface="Noto Sans KR"/>
                <a:ea typeface="Noto Sans KR"/>
                <a:cs typeface="Noto Sans KR"/>
              </a:rPr>
              <a:t>Medicine Project Tree</a:t>
            </a:r>
            <a:endParaRPr lang="en-US" sz="900"/>
          </a:p>
        </p:txBody>
      </p:sp>
    </p:spTree>
  </p:cSld>
  <p:clrMapOvr>
    <a:masterClrMapping/>
  </p:clrMapOvr>
</p:sld>
</file>

<file path=ppt/slides/slide1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144207" y="2238451"/>
            <a:ext cx="171907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91095" y="2190902"/>
            <a:ext cx="117683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설정 항목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7144207" y="2609698"/>
            <a:ext cx="4476902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7144207" y="2609698"/>
            <a:ext cx="38405" cy="90525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4"/>
          <a:srcRect l="-33" r="-33" t="0" b="0"/>
          <a:stretch/>
        </p:blipFill>
        <p:spPr>
          <a:xfrm>
            <a:off x="7381951" y="2781605"/>
            <a:ext cx="171907" cy="152705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144207" y="3629254"/>
            <a:ext cx="4476902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7144207" y="3629254"/>
            <a:ext cx="38405" cy="90525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391095" y="3800246"/>
            <a:ext cx="152705" cy="15270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144207" y="4647895"/>
            <a:ext cx="4476902" cy="905256"/>
          </a:xfrm>
          <a:prstGeom prst="roundRect">
            <a:avLst>
              <a:gd name="adj" fmla="val 106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7144207" y="4647895"/>
            <a:ext cx="38405" cy="905256"/>
          </a:xfrm>
          <a:prstGeom prst="rect">
            <a:avLst/>
          </a:prstGeom>
          <a:solidFill>
            <a:srgbClr val="0D9488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391095" y="4819802"/>
            <a:ext cx="152705" cy="152705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7144207" y="5896051"/>
            <a:ext cx="4476902" cy="857707"/>
          </a:xfrm>
          <a:prstGeom prst="roundRect">
            <a:avLst>
              <a:gd name="adj" fmla="val 1421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420356" y="6248095"/>
            <a:ext cx="152705" cy="152705"/>
          </a:xfrm>
          <a:prstGeom prst="rect">
            <a:avLst/>
          </a:prstGeom>
        </p:spPr>
      </p:pic>
      <p:sp>
        <p:nvSpPr>
          <p:cNvPr id="18" name="Shape 11"/>
          <p:cNvSpPr/>
          <p:nvPr/>
        </p:nvSpPr>
        <p:spPr>
          <a:xfrm>
            <a:off x="571500" y="6867144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71500" y="2761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400507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설정 상세</a:t>
            </a:r>
            <a:endParaRPr lang="en-US" sz="27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1333195"/>
            <a:ext cx="31629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실험의 재현성을 위한 중앙 제어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742846"/>
            <a:ext cx="65964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경로, 학습 파라미터, 추론 임계값을 하나의 YAML 파일로 통합 관리하여 일관성 확보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7677302" y="2762402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Paths (데이터 경로)</a:t>
            </a:r>
            <a:endParaRPr lang="en-US" sz="1000" dirty="0"/>
          </a:p>
        </p:txBody>
      </p:sp>
      <p:sp>
        <p:nvSpPr>
          <p:cNvPr id="24" name="Text 17"/>
          <p:cNvSpPr txBox="1"/>
          <p:nvPr/>
        </p:nvSpPr>
        <p:spPr>
          <a:xfrm>
            <a:off x="7696505" y="3019349"/>
            <a:ext cx="37435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base_dir를 기준으로 Raw 데이터와 전처리된(Matched/Mismatched) 데이터의 입출력 경로를 체계적으로 정의</a:t>
            </a:r>
            <a:endParaRPr lang="en-US" sz="900" dirty="0"/>
          </a:p>
        </p:txBody>
      </p:sp>
      <p:sp>
        <p:nvSpPr>
          <p:cNvPr id="25" name="Text 18"/>
          <p:cNvSpPr txBox="1"/>
          <p:nvPr/>
        </p:nvSpPr>
        <p:spPr>
          <a:xfrm>
            <a:off x="7677302" y="3781044"/>
            <a:ext cx="16724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 (학습 파라미터)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7696505" y="4038905"/>
            <a:ext cx="3667658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YOLOv8 모델 학습을 위한 핵심 하이퍼파라미터 정의 • Epochs: 50, Batch: 16, Imgsz: 640 • Project/Name: runs/detect/pill_exp (로그 저장소)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7677302" y="4800600"/>
            <a:ext cx="17099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 Args (추론 설정)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7696505" y="5057546"/>
            <a:ext cx="3801161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및 대회 제출 시 사용할 후처리 임계값 고정 • Conf: 0.2 (신뢰도 임계값) • IoU: 0.6 (NMS 중복 제거 임계값)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7800746" y="6057900"/>
            <a:ext cx="12152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기반의 이점</a:t>
            </a:r>
            <a:endParaRPr lang="en-US" sz="1000" dirty="0"/>
          </a:p>
        </p:txBody>
      </p:sp>
      <p:sp>
        <p:nvSpPr>
          <p:cNvPr id="30" name="Text 23"/>
          <p:cNvSpPr txBox="1"/>
          <p:nvPr/>
        </p:nvSpPr>
        <p:spPr>
          <a:xfrm>
            <a:off x="7800746" y="6277356"/>
            <a:ext cx="3686861" cy="3145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코드 수정 없이 config 파일만 변경하여 다양한 모델 버전과 데이터셋 조합을 빠르고 안전하게 실험할 수 있습니다.</a:t>
            </a:r>
            <a:endParaRPr lang="en-US" sz="900" dirty="0"/>
          </a:p>
        </p:txBody>
      </p:sp>
      <p:sp>
        <p:nvSpPr>
          <p:cNvPr id="31" name="Text 24"/>
          <p:cNvSpPr txBox="1"/>
          <p:nvPr/>
        </p:nvSpPr>
        <p:spPr>
          <a:xfrm>
            <a:off x="571500" y="6943954"/>
            <a:ext cx="16578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Pipeline Configuration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11440059" y="659099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15/25</a:t>
            </a:r>
            <a:endParaRPr lang="en-US" sz="900"/>
          </a:p>
        </p:txBody>
      </p:sp>
      <p:sp>
        <p:nvSpPr>
          <p:cNvPr id="33" name="Text 26"/>
          <p:cNvSpPr txBox="1"/>
          <p:nvPr/>
        </p:nvSpPr>
        <p:spPr>
          <a:xfrm>
            <a:off x="8452714" y="562356"/>
            <a:ext cx="3300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Configuration Management (config.yaml)</a:t>
            </a:r>
            <a:endParaRPr lang="en-US" sz="1300" dirty="0"/>
          </a:p>
        </p:txBody>
      </p:sp>
      <p:sp>
        <p:nvSpPr>
          <p:cNvPr id="34" name="Shape 27"/>
          <p:cNvSpPr/>
          <p:nvPr/>
        </p:nvSpPr>
        <p:spPr>
          <a:xfrm>
            <a:off x="571500" y="2190902"/>
            <a:ext cx="6267298" cy="4562856"/>
          </a:xfrm>
          <a:prstGeom prst="roundRect">
            <a:avLst>
              <a:gd name="adj" fmla="val 502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20000"/>
              </a:srgbClr>
            </a:outerShdw>
          </a:effectLst>
        </p:spPr>
      </p:sp>
      <p:pic>
        <p:nvPicPr>
          <p:cNvPr id="35" name="Image 5" descr="preencoded.png"/>
          <p:cNvPicPr>
            <a:picLocks noChangeAspect="1"/>
          </p:cNvPicPr>
          <p:nvPr/>
        </p:nvPicPr>
        <p:blipFill rotWithShape="1">
          <a:blip r:embed="rId8"/>
          <a:srcRect/>
          <a:stretch>
            <a:fillRect/>
          </a:stretch>
        </p:blipFill>
        <p:spPr>
          <a:xfrm>
            <a:off x="580644" y="3167283"/>
            <a:ext cx="6248095" cy="2609179"/>
          </a:xfrm>
          <a:prstGeom prst="rect">
            <a:avLst/>
          </a:prstGeom>
        </p:spPr>
      </p:pic>
      <p:sp>
        <p:nvSpPr>
          <p:cNvPr id="36" name="Shape 28"/>
          <p:cNvSpPr/>
          <p:nvPr/>
        </p:nvSpPr>
        <p:spPr>
          <a:xfrm>
            <a:off x="724205" y="2343607"/>
            <a:ext cx="972007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28446" y="2409444"/>
            <a:ext cx="848563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config.yaml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957877"/>
            <a:ext cx="3581705" cy="1152144"/>
          </a:xfrm>
          <a:prstGeom prst="roundRect">
            <a:avLst>
              <a:gd name="adj" fmla="val 7871"/>
            </a:avLst>
          </a:prstGeom>
          <a:solidFill>
            <a:srgbClr val="FDF2F8"/>
          </a:solidFill>
          <a:ln w="12700">
            <a:solidFill>
              <a:srgbClr val="FCE7F3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349" y="5138928"/>
            <a:ext cx="152705" cy="152705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9" name="Text 6"/>
          <p:cNvSpPr txBox="1"/>
          <p:nvPr/>
        </p:nvSpPr>
        <p:spPr>
          <a:xfrm>
            <a:off x="571500" y="629107"/>
            <a:ext cx="28483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상세 설정</a:t>
            </a:r>
            <a:endParaRPr lang="en-US" sz="2700" dirty="0"/>
          </a:p>
        </p:txBody>
      </p:sp>
      <p:sp>
        <p:nvSpPr>
          <p:cNvPr id="10" name="Text 7"/>
          <p:cNvSpPr txBox="1"/>
          <p:nvPr/>
        </p:nvSpPr>
        <p:spPr>
          <a:xfrm>
            <a:off x="961949" y="5119726"/>
            <a:ext cx="11576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제어 파라미터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733349" y="5395874"/>
            <a:ext cx="3210458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학습(Train)과 추론(Inference)에 필요한 모든 하이퍼파라미터를 YAML 파일로 통합 관리합니다. 코드 수정 없이 Config 변경만으로 실험 조건을 제어하여 재현성을 확보합니다.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571500" y="6409944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Configuration Details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16/33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9422892" y="790956"/>
            <a:ext cx="23289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&amp; Inference Arguments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71500" y="1276502"/>
            <a:ext cx="3581705" cy="3534156"/>
          </a:xfrm>
          <a:prstGeom prst="roundRect">
            <a:avLst>
              <a:gd name="adj" fmla="val 837"/>
            </a:avLst>
          </a:prstGeom>
          <a:solidFill>
            <a:srgbClr val="1E1E1E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580644" y="2070992"/>
            <a:ext cx="3562502" cy="194426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457700" y="1276502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4543654" y="1200607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Text 15"/>
          <p:cNvSpPr txBox="1"/>
          <p:nvPr/>
        </p:nvSpPr>
        <p:spPr>
          <a:xfrm>
            <a:off x="4619549" y="1218895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20" name="Shape 16"/>
          <p:cNvSpPr/>
          <p:nvPr/>
        </p:nvSpPr>
        <p:spPr>
          <a:xfrm>
            <a:off x="4562856" y="1476756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4634179" y="1548079"/>
            <a:ext cx="123444" cy="123444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4886554" y="1438351"/>
            <a:ext cx="1324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Selection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562856" y="1772107"/>
            <a:ext cx="2171700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yolov8m.pt 성능과 속도의 균형을 위해 Medium 모델을 베이스라인으로 선정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6883603" y="1276502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968642" y="1200607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1"/>
          <p:cNvSpPr txBox="1"/>
          <p:nvPr/>
        </p:nvSpPr>
        <p:spPr>
          <a:xfrm>
            <a:off x="7045452" y="1218895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27" name="Shape 22"/>
          <p:cNvSpPr/>
          <p:nvPr/>
        </p:nvSpPr>
        <p:spPr>
          <a:xfrm>
            <a:off x="6987845" y="1476756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059168" y="1548079"/>
            <a:ext cx="123444" cy="1234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7311542" y="1438351"/>
            <a:ext cx="6574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Epochs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6987845" y="1772107"/>
            <a:ext cx="2210105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 충분한 학습 수렴을 위해 50회 반복 설정 (Early Stopping 적용)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9309506" y="1276502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9394546" y="1200607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Text 27"/>
          <p:cNvSpPr txBox="1"/>
          <p:nvPr/>
        </p:nvSpPr>
        <p:spPr>
          <a:xfrm>
            <a:off x="9471355" y="1218895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34" name="Shape 28"/>
          <p:cNvSpPr/>
          <p:nvPr/>
        </p:nvSpPr>
        <p:spPr>
          <a:xfrm>
            <a:off x="9413748" y="1476756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35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2012" b="-2012"/>
          <a:stretch/>
        </p:blipFill>
        <p:spPr>
          <a:xfrm>
            <a:off x="9480499" y="1548079"/>
            <a:ext cx="133502" cy="123444"/>
          </a:xfrm>
          <a:prstGeom prst="rect">
            <a:avLst/>
          </a:prstGeom>
        </p:spPr>
      </p:pic>
      <p:sp>
        <p:nvSpPr>
          <p:cNvPr id="36" name="Text 29"/>
          <p:cNvSpPr txBox="1"/>
          <p:nvPr/>
        </p:nvSpPr>
        <p:spPr>
          <a:xfrm>
            <a:off x="9737446" y="1438351"/>
            <a:ext cx="8961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 Size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9413748" y="1772107"/>
            <a:ext cx="22201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 GPU 메모리 효율성과 학습 안정성을 고려한 배치 크기 설정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4457700" y="2993746"/>
            <a:ext cx="2314346" cy="1399946"/>
          </a:xfrm>
          <a:prstGeom prst="roundRect">
            <a:avLst>
              <a:gd name="adj" fmla="val 44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39" name="Shape 32"/>
          <p:cNvSpPr/>
          <p:nvPr/>
        </p:nvSpPr>
        <p:spPr>
          <a:xfrm>
            <a:off x="4543654" y="2917850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Text 33"/>
          <p:cNvSpPr txBox="1"/>
          <p:nvPr/>
        </p:nvSpPr>
        <p:spPr>
          <a:xfrm>
            <a:off x="4619549" y="2937053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41" name="Shape 34"/>
          <p:cNvSpPr/>
          <p:nvPr/>
        </p:nvSpPr>
        <p:spPr>
          <a:xfrm>
            <a:off x="4562856" y="3193999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42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-1359" b="-1359"/>
          <a:stretch/>
        </p:blipFill>
        <p:spPr>
          <a:xfrm>
            <a:off x="4643323" y="3265322"/>
            <a:ext cx="105156" cy="123444"/>
          </a:xfrm>
          <a:prstGeom prst="rect">
            <a:avLst/>
          </a:prstGeom>
        </p:spPr>
      </p:pic>
      <p:sp>
        <p:nvSpPr>
          <p:cNvPr id="43" name="Text 35"/>
          <p:cNvSpPr txBox="1"/>
          <p:nvPr/>
        </p:nvSpPr>
        <p:spPr>
          <a:xfrm>
            <a:off x="4886554" y="3155594"/>
            <a:ext cx="9336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Image Size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4562856" y="3489350"/>
            <a:ext cx="22101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640 YOLOv8의 표준 입력 해상도인 640x640 픽셀 사용</a:t>
            </a:r>
            <a:endParaRPr lang="en-US" sz="1200" dirty="0"/>
          </a:p>
        </p:txBody>
      </p:sp>
      <p:sp>
        <p:nvSpPr>
          <p:cNvPr id="45" name="Shape 37"/>
          <p:cNvSpPr/>
          <p:nvPr/>
        </p:nvSpPr>
        <p:spPr>
          <a:xfrm>
            <a:off x="6883603" y="2993746"/>
            <a:ext cx="2314346" cy="1399946"/>
          </a:xfrm>
          <a:prstGeom prst="roundRect">
            <a:avLst>
              <a:gd name="adj" fmla="val 44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6968642" y="2917850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47" name="Text 39"/>
          <p:cNvSpPr txBox="1"/>
          <p:nvPr/>
        </p:nvSpPr>
        <p:spPr>
          <a:xfrm>
            <a:off x="7045452" y="2937053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48" name="Shape 40"/>
          <p:cNvSpPr/>
          <p:nvPr/>
        </p:nvSpPr>
        <p:spPr>
          <a:xfrm>
            <a:off x="6987845" y="3193999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-2012" b="-2012"/>
          <a:stretch/>
        </p:blipFill>
        <p:spPr>
          <a:xfrm>
            <a:off x="7054596" y="3265322"/>
            <a:ext cx="133502" cy="123444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7311542" y="3155594"/>
            <a:ext cx="12957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Project Logging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6987845" y="3489350"/>
            <a:ext cx="221010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runs/detect/pill_exp 실험 결과 로그 및 가중치 저장 경로 지정</a:t>
            </a:r>
            <a:endParaRPr lang="en-US" sz="1200" dirty="0"/>
          </a:p>
        </p:txBody>
      </p:sp>
      <p:sp>
        <p:nvSpPr>
          <p:cNvPr id="52" name="Shape 43"/>
          <p:cNvSpPr/>
          <p:nvPr/>
        </p:nvSpPr>
        <p:spPr>
          <a:xfrm>
            <a:off x="9309506" y="2993746"/>
            <a:ext cx="2314346" cy="1399946"/>
          </a:xfrm>
          <a:prstGeom prst="roundRect">
            <a:avLst>
              <a:gd name="adj" fmla="val 444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53" name="Shape 44"/>
          <p:cNvSpPr/>
          <p:nvPr/>
        </p:nvSpPr>
        <p:spPr>
          <a:xfrm>
            <a:off x="9394546" y="2917850"/>
            <a:ext cx="743407" cy="190195"/>
          </a:xfrm>
          <a:prstGeom prst="roundRect">
            <a:avLst>
              <a:gd name="adj" fmla="val 240385"/>
            </a:avLst>
          </a:prstGeom>
          <a:solidFill>
            <a:srgbClr val="DB2777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Text 45"/>
          <p:cNvSpPr txBox="1"/>
          <p:nvPr/>
        </p:nvSpPr>
        <p:spPr>
          <a:xfrm>
            <a:off x="9471355" y="2937053"/>
            <a:ext cx="667512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ARGS</a:t>
            </a:r>
            <a:endParaRPr lang="en-US" sz="800" dirty="0"/>
          </a:p>
        </p:txBody>
      </p:sp>
      <p:sp>
        <p:nvSpPr>
          <p:cNvPr id="55" name="Shape 46"/>
          <p:cNvSpPr/>
          <p:nvPr/>
        </p:nvSpPr>
        <p:spPr>
          <a:xfrm>
            <a:off x="9413748" y="3193999"/>
            <a:ext cx="267005" cy="267005"/>
          </a:xfrm>
          <a:prstGeom prst="ellipse">
            <a:avLst/>
          </a:prstGeom>
          <a:solidFill>
            <a:srgbClr val="FDF2F8"/>
          </a:solidFill>
          <a:ln/>
        </p:spPr>
      </p:sp>
      <p:pic>
        <p:nvPicPr>
          <p:cNvPr id="56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485071" y="3265322"/>
            <a:ext cx="123444" cy="123444"/>
          </a:xfrm>
          <a:prstGeom prst="rect">
            <a:avLst/>
          </a:prstGeom>
        </p:spPr>
      </p:pic>
      <p:sp>
        <p:nvSpPr>
          <p:cNvPr id="57" name="Text 47"/>
          <p:cNvSpPr txBox="1"/>
          <p:nvPr/>
        </p:nvSpPr>
        <p:spPr>
          <a:xfrm>
            <a:off x="9737446" y="3155594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9413748" y="3489350"/>
            <a:ext cx="2220163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val: false 학습 중 불필요한 연산 방지 (별도 검증 파이프라인 존재)</a:t>
            </a:r>
            <a:endParaRPr lang="en-US" sz="1200" dirty="0"/>
          </a:p>
        </p:txBody>
      </p:sp>
      <p:sp>
        <p:nvSpPr>
          <p:cNvPr id="59" name="Shape 49"/>
          <p:cNvSpPr/>
          <p:nvPr/>
        </p:nvSpPr>
        <p:spPr>
          <a:xfrm>
            <a:off x="4457700" y="4502506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0" name="Shape 50"/>
          <p:cNvSpPr/>
          <p:nvPr/>
        </p:nvSpPr>
        <p:spPr>
          <a:xfrm>
            <a:off x="4543654" y="4425696"/>
            <a:ext cx="1000354" cy="190195"/>
          </a:xfrm>
          <a:prstGeom prst="roundRect">
            <a:avLst>
              <a:gd name="adj" fmla="val 240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1" name="Text 51"/>
          <p:cNvSpPr txBox="1"/>
          <p:nvPr/>
        </p:nvSpPr>
        <p:spPr>
          <a:xfrm>
            <a:off x="4619549" y="4444898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 ARGS</a:t>
            </a:r>
            <a:endParaRPr lang="en-US" sz="800" dirty="0"/>
          </a:p>
        </p:txBody>
      </p:sp>
      <p:sp>
        <p:nvSpPr>
          <p:cNvPr id="62" name="Shape 52"/>
          <p:cNvSpPr/>
          <p:nvPr/>
        </p:nvSpPr>
        <p:spPr>
          <a:xfrm>
            <a:off x="4562856" y="4701845"/>
            <a:ext cx="267005" cy="267005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63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4634179" y="4773168"/>
            <a:ext cx="123444" cy="123444"/>
          </a:xfrm>
          <a:prstGeom prst="rect">
            <a:avLst/>
          </a:prstGeom>
        </p:spPr>
      </p:pic>
      <p:sp>
        <p:nvSpPr>
          <p:cNvPr id="64" name="Text 53"/>
          <p:cNvSpPr txBox="1"/>
          <p:nvPr/>
        </p:nvSpPr>
        <p:spPr>
          <a:xfrm>
            <a:off x="4886554" y="4664354"/>
            <a:ext cx="9628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65" name="Text 54"/>
          <p:cNvSpPr txBox="1"/>
          <p:nvPr/>
        </p:nvSpPr>
        <p:spPr>
          <a:xfrm>
            <a:off x="4562856" y="4997196"/>
            <a:ext cx="21817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conf: 0.2 Recall(재현율) 확보를 위해 낮은 임계값 설정 후 후처리</a:t>
            </a:r>
            <a:endParaRPr lang="en-US" sz="1200" dirty="0"/>
          </a:p>
        </p:txBody>
      </p:sp>
      <p:sp>
        <p:nvSpPr>
          <p:cNvPr id="66" name="Shape 55"/>
          <p:cNvSpPr/>
          <p:nvPr/>
        </p:nvSpPr>
        <p:spPr>
          <a:xfrm>
            <a:off x="6883603" y="4502506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67" name="Shape 56"/>
          <p:cNvSpPr/>
          <p:nvPr/>
        </p:nvSpPr>
        <p:spPr>
          <a:xfrm>
            <a:off x="6968642" y="4425696"/>
            <a:ext cx="1000354" cy="190195"/>
          </a:xfrm>
          <a:prstGeom prst="roundRect">
            <a:avLst>
              <a:gd name="adj" fmla="val 240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68" name="Text 57"/>
          <p:cNvSpPr txBox="1"/>
          <p:nvPr/>
        </p:nvSpPr>
        <p:spPr>
          <a:xfrm>
            <a:off x="7045452" y="4444898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 ARGS</a:t>
            </a:r>
            <a:endParaRPr lang="en-US" sz="800" dirty="0"/>
          </a:p>
        </p:txBody>
      </p:sp>
      <p:sp>
        <p:nvSpPr>
          <p:cNvPr id="69" name="Shape 58"/>
          <p:cNvSpPr/>
          <p:nvPr/>
        </p:nvSpPr>
        <p:spPr>
          <a:xfrm>
            <a:off x="6987845" y="4701845"/>
            <a:ext cx="267005" cy="267005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70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2012" b="-2012"/>
          <a:stretch/>
        </p:blipFill>
        <p:spPr>
          <a:xfrm>
            <a:off x="7054596" y="4773168"/>
            <a:ext cx="133502" cy="123444"/>
          </a:xfrm>
          <a:prstGeom prst="rect">
            <a:avLst/>
          </a:prstGeom>
        </p:spPr>
      </p:pic>
      <p:sp>
        <p:nvSpPr>
          <p:cNvPr id="71" name="Text 59"/>
          <p:cNvSpPr txBox="1"/>
          <p:nvPr/>
        </p:nvSpPr>
        <p:spPr>
          <a:xfrm>
            <a:off x="7311542" y="4664354"/>
            <a:ext cx="11814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 Threshold</a:t>
            </a:r>
            <a:endParaRPr lang="en-US" sz="1200" dirty="0"/>
          </a:p>
        </p:txBody>
      </p:sp>
      <p:sp>
        <p:nvSpPr>
          <p:cNvPr id="72" name="Text 60"/>
          <p:cNvSpPr txBox="1"/>
          <p:nvPr/>
        </p:nvSpPr>
        <p:spPr>
          <a:xfrm>
            <a:off x="6987845" y="4997196"/>
            <a:ext cx="218175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iou: 0.6 NMS(비최대 억제) 수행 시 중복 박스 제거 기준값</a:t>
            </a:r>
            <a:endParaRPr lang="en-US" sz="1200" dirty="0"/>
          </a:p>
        </p:txBody>
      </p:sp>
      <p:sp>
        <p:nvSpPr>
          <p:cNvPr id="73" name="Shape 61"/>
          <p:cNvSpPr/>
          <p:nvPr/>
        </p:nvSpPr>
        <p:spPr>
          <a:xfrm>
            <a:off x="9309506" y="4502506"/>
            <a:ext cx="2314346" cy="1609344"/>
          </a:xfrm>
          <a:prstGeom prst="roundRect">
            <a:avLst>
              <a:gd name="adj" fmla="val 336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74" name="Shape 62"/>
          <p:cNvSpPr/>
          <p:nvPr/>
        </p:nvSpPr>
        <p:spPr>
          <a:xfrm>
            <a:off x="9394546" y="4425696"/>
            <a:ext cx="1000354" cy="190195"/>
          </a:xfrm>
          <a:prstGeom prst="roundRect">
            <a:avLst>
              <a:gd name="adj" fmla="val 240385"/>
            </a:avLst>
          </a:prstGeom>
          <a:solidFill>
            <a:srgbClr val="7C3AED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sp>
        <p:nvSpPr>
          <p:cNvPr id="75" name="Text 63"/>
          <p:cNvSpPr txBox="1"/>
          <p:nvPr/>
        </p:nvSpPr>
        <p:spPr>
          <a:xfrm>
            <a:off x="9471355" y="4444898"/>
            <a:ext cx="924458" cy="1435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 ARGS</a:t>
            </a:r>
            <a:endParaRPr lang="en-US" sz="800" dirty="0"/>
          </a:p>
        </p:txBody>
      </p:sp>
      <p:sp>
        <p:nvSpPr>
          <p:cNvPr id="76" name="Shape 64"/>
          <p:cNvSpPr/>
          <p:nvPr/>
        </p:nvSpPr>
        <p:spPr>
          <a:xfrm>
            <a:off x="9413748" y="4701845"/>
            <a:ext cx="267005" cy="267005"/>
          </a:xfrm>
          <a:prstGeom prst="ellipse">
            <a:avLst/>
          </a:prstGeom>
          <a:solidFill>
            <a:srgbClr val="F5F3FF"/>
          </a:solidFill>
          <a:ln/>
        </p:spPr>
      </p:sp>
      <p:pic>
        <p:nvPicPr>
          <p:cNvPr id="77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9485071" y="4773168"/>
            <a:ext cx="123444" cy="123444"/>
          </a:xfrm>
          <a:prstGeom prst="rect">
            <a:avLst/>
          </a:prstGeom>
        </p:spPr>
      </p:pic>
      <p:sp>
        <p:nvSpPr>
          <p:cNvPr id="78" name="Text 65"/>
          <p:cNvSpPr txBox="1"/>
          <p:nvPr/>
        </p:nvSpPr>
        <p:spPr>
          <a:xfrm>
            <a:off x="9737446" y="4664354"/>
            <a:ext cx="7242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 Det</a:t>
            </a:r>
            <a:endParaRPr lang="en-US" sz="1200" dirty="0"/>
          </a:p>
        </p:txBody>
      </p:sp>
      <p:sp>
        <p:nvSpPr>
          <p:cNvPr id="79" name="Text 66"/>
          <p:cNvSpPr txBox="1"/>
          <p:nvPr/>
        </p:nvSpPr>
        <p:spPr>
          <a:xfrm>
            <a:off x="9413748" y="4997196"/>
            <a:ext cx="2143354" cy="6483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max_det: 10 단일 이미지 내 최대 검출 객체 수를 제한 (알약 특성 반영)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865376"/>
            <a:ext cx="5086807" cy="4248302"/>
          </a:xfrm>
          <a:prstGeom prst="roundRect">
            <a:avLst>
              <a:gd name="adj" fmla="val 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2331720"/>
            <a:ext cx="5067605" cy="9144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80" b="-180"/>
          <a:stretch/>
        </p:blipFill>
        <p:spPr>
          <a:xfrm>
            <a:off x="733349" y="2027225"/>
            <a:ext cx="190195" cy="152705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80644" y="4839005"/>
            <a:ext cx="5067605" cy="1257300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33349" y="5296205"/>
            <a:ext cx="114300" cy="114300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33349" y="5676595"/>
            <a:ext cx="114300" cy="114300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534302" y="1865376"/>
            <a:ext cx="5086807" cy="4248302"/>
          </a:xfrm>
          <a:prstGeom prst="roundRect">
            <a:avLst>
              <a:gd name="adj" fmla="val 57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6543446" y="1874520"/>
            <a:ext cx="5067605" cy="466344"/>
          </a:xfrm>
          <a:prstGeom prst="rect">
            <a:avLst/>
          </a:prstGeom>
          <a:solidFill>
            <a:srgbClr val="FDF2F8"/>
          </a:solidFill>
          <a:ln/>
        </p:spPr>
      </p:sp>
      <p:sp>
        <p:nvSpPr>
          <p:cNvPr id="13" name="Shape 8"/>
          <p:cNvSpPr/>
          <p:nvPr/>
        </p:nvSpPr>
        <p:spPr>
          <a:xfrm>
            <a:off x="6543446" y="2331720"/>
            <a:ext cx="5067605" cy="9144"/>
          </a:xfrm>
          <a:prstGeom prst="rect">
            <a:avLst/>
          </a:prstGeom>
          <a:solidFill>
            <a:srgbClr val="F1F5F9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696151" y="2027225"/>
            <a:ext cx="114300" cy="152705"/>
          </a:xfrm>
          <a:prstGeom prst="rect">
            <a:avLst/>
          </a:prstGeom>
        </p:spPr>
      </p:pic>
      <p:sp>
        <p:nvSpPr>
          <p:cNvPr id="15" name="Shape 9"/>
          <p:cNvSpPr/>
          <p:nvPr/>
        </p:nvSpPr>
        <p:spPr>
          <a:xfrm>
            <a:off x="6543446" y="4686300"/>
            <a:ext cx="5067605" cy="1410005"/>
          </a:xfrm>
          <a:prstGeom prst="rect">
            <a:avLst/>
          </a:prstGeom>
          <a:solidFill>
            <a:srgbClr val="F8FAFC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96151" y="5143500"/>
            <a:ext cx="114300" cy="11430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6696151" y="5486400"/>
            <a:ext cx="487741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Definition nc: 74 초기 56개에서 확장된 총 74개 클래스 정보와 한국어 알약 이름 리스트 자동 생성</a:t>
            </a:r>
            <a:endParaRPr lang="en-US" sz="1200" dirty="0"/>
          </a:p>
        </p:txBody>
      </p:sp>
      <p:sp>
        <p:nvSpPr>
          <p:cNvPr id="18" name="Shape 11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2"/>
          <p:cNvSpPr txBox="1"/>
          <p:nvPr/>
        </p:nvSpPr>
        <p:spPr>
          <a:xfrm>
            <a:off x="571500" y="407822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20" name="Text 13"/>
          <p:cNvSpPr txBox="1"/>
          <p:nvPr/>
        </p:nvSpPr>
        <p:spPr>
          <a:xfrm>
            <a:off x="571500" y="532181"/>
            <a:ext cx="4048963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빌더 &amp; 데이터 변환</a:t>
            </a:r>
            <a:endParaRPr lang="en-US" sz="2700" dirty="0"/>
          </a:p>
        </p:txBody>
      </p:sp>
      <p:sp>
        <p:nvSpPr>
          <p:cNvPr id="21" name="Text 14"/>
          <p:cNvSpPr txBox="1"/>
          <p:nvPr/>
        </p:nvSpPr>
        <p:spPr>
          <a:xfrm>
            <a:off x="571500" y="1160374"/>
            <a:ext cx="38578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to YOLO 자동 변환 파이프라인</a:t>
            </a:r>
            <a:endParaRPr lang="en-US" sz="1800" dirty="0"/>
          </a:p>
        </p:txBody>
      </p:sp>
      <p:sp>
        <p:nvSpPr>
          <p:cNvPr id="22" name="Text 15"/>
          <p:cNvSpPr txBox="1"/>
          <p:nvPr/>
        </p:nvSpPr>
        <p:spPr>
          <a:xfrm>
            <a:off x="571500" y="1522476"/>
            <a:ext cx="50913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데이터 전처리 과정을 클래스로 모듈화하여, 단일 실행으로 학습 준비를 완료합니다.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1000354" y="1988820"/>
            <a:ext cx="1819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YOLODatasetBuilder</a:t>
            </a:r>
            <a:endParaRPr lang="en-US" sz="1200" dirty="0"/>
          </a:p>
        </p:txBody>
      </p:sp>
      <p:sp>
        <p:nvSpPr>
          <p:cNvPr id="24" name="Text 17"/>
          <p:cNvSpPr txBox="1"/>
          <p:nvPr/>
        </p:nvSpPr>
        <p:spPr>
          <a:xfrm>
            <a:off x="733349" y="499079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기능</a:t>
            </a:r>
            <a:endParaRPr lang="en-US" sz="1000" dirty="0"/>
          </a:p>
        </p:txBody>
      </p:sp>
      <p:sp>
        <p:nvSpPr>
          <p:cNvPr id="25" name="Text 18"/>
          <p:cNvSpPr txBox="1"/>
          <p:nvPr/>
        </p:nvSpPr>
        <p:spPr>
          <a:xfrm>
            <a:off x="923544" y="5248656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Format Conversion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923544" y="5400446"/>
            <a:ext cx="4601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JSON의 bbox(x,y,w,h)를 YOLO 포맷(center_x, center_y, w, h)으로 정규화하여 변환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923544" y="5629046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Symlink Optimization</a:t>
            </a:r>
            <a:endParaRPr lang="en-US" sz="900" dirty="0"/>
          </a:p>
        </p:txBody>
      </p:sp>
      <p:sp>
        <p:nvSpPr>
          <p:cNvPr id="28" name="Text 21"/>
          <p:cNvSpPr txBox="1"/>
          <p:nvPr/>
        </p:nvSpPr>
        <p:spPr>
          <a:xfrm>
            <a:off x="923544" y="5781751"/>
            <a:ext cx="3591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이미지를 복사하지 않고 심볼릭 링크(Symlink)를 생성하여 저장 공간 절약</a:t>
            </a:r>
            <a:endParaRPr lang="en-US" sz="900" dirty="0"/>
          </a:p>
        </p:txBody>
      </p:sp>
      <p:sp>
        <p:nvSpPr>
          <p:cNvPr id="29" name="Text 22"/>
          <p:cNvSpPr txBox="1"/>
          <p:nvPr/>
        </p:nvSpPr>
        <p:spPr>
          <a:xfrm>
            <a:off x="6886346" y="1988820"/>
            <a:ext cx="20958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Output: yolo_data.yaml</a:t>
            </a:r>
            <a:endParaRPr lang="en-US" sz="1200" dirty="0"/>
          </a:p>
        </p:txBody>
      </p:sp>
      <p:sp>
        <p:nvSpPr>
          <p:cNvPr id="30" name="Text 23"/>
          <p:cNvSpPr txBox="1"/>
          <p:nvPr/>
        </p:nvSpPr>
        <p:spPr>
          <a:xfrm>
            <a:off x="6696151" y="4839005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생성 결과</a:t>
            </a:r>
            <a:endParaRPr lang="en-US" sz="1000" dirty="0"/>
          </a:p>
        </p:txBody>
      </p:sp>
      <p:sp>
        <p:nvSpPr>
          <p:cNvPr id="31" name="Text 24"/>
          <p:cNvSpPr txBox="1"/>
          <p:nvPr/>
        </p:nvSpPr>
        <p:spPr>
          <a:xfrm>
            <a:off x="6886346" y="5095951"/>
            <a:ext cx="1162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Auto Configuration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6886346" y="5248656"/>
            <a:ext cx="2791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학습(Train) 및 검증(Val) 데이터셋의 절대 경로 자동 매핑</a:t>
            </a:r>
            <a:endParaRPr lang="en-US" sz="900" dirty="0"/>
          </a:p>
        </p:txBody>
      </p:sp>
      <p:sp>
        <p:nvSpPr>
          <p:cNvPr id="33" name="Text 26"/>
          <p:cNvSpPr txBox="1"/>
          <p:nvPr/>
        </p:nvSpPr>
        <p:spPr>
          <a:xfrm>
            <a:off x="571500" y="6409944"/>
            <a:ext cx="2105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Dataset Builder &amp; Configuration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17/33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9662465" y="694030"/>
            <a:ext cx="20912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 Conversion Strategy</a:t>
            </a:r>
            <a:endParaRPr lang="en-US" sz="1300" dirty="0"/>
          </a:p>
        </p:txBody>
      </p:sp>
      <p:sp>
        <p:nvSpPr>
          <p:cNvPr id="36" name="Shape 29"/>
          <p:cNvSpPr/>
          <p:nvPr/>
        </p:nvSpPr>
        <p:spPr>
          <a:xfrm>
            <a:off x="580644" y="2341778"/>
            <a:ext cx="5067605" cy="2505456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1830" r="1830" t="0" b="0"/>
          <a:stretch/>
        </p:blipFill>
        <p:spPr>
          <a:xfrm>
            <a:off x="580644" y="2350922"/>
            <a:ext cx="5067605" cy="2486254"/>
          </a:xfrm>
          <a:prstGeom prst="rect">
            <a:avLst/>
          </a:prstGeom>
        </p:spPr>
      </p:pic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>
            <a:alphaModFix amt="82000"/>
          </a:blip>
          <a:srcRect l="-166" r="-166" t="0" b="0"/>
          <a:stretch/>
        </p:blipFill>
        <p:spPr>
          <a:xfrm>
            <a:off x="5960974" y="3831336"/>
            <a:ext cx="276149" cy="314554"/>
          </a:xfrm>
          <a:prstGeom prst="rect">
            <a:avLst/>
          </a:prstGeom>
        </p:spPr>
      </p:pic>
      <p:sp>
        <p:nvSpPr>
          <p:cNvPr id="39" name="Shape 30"/>
          <p:cNvSpPr/>
          <p:nvPr/>
        </p:nvSpPr>
        <p:spPr>
          <a:xfrm>
            <a:off x="6543446" y="2341778"/>
            <a:ext cx="5067605" cy="2352751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rcRect l="163" r="163" t="0" b="0"/>
          <a:stretch/>
        </p:blipFill>
        <p:spPr>
          <a:xfrm>
            <a:off x="6543446" y="2350922"/>
            <a:ext cx="5067605" cy="233354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571500" y="1248156"/>
            <a:ext cx="219456" cy="17190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6851" y="1200607"/>
            <a:ext cx="2643530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Mapping Dictionary Structure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1500" y="1733702"/>
            <a:ext cx="6495898" cy="4486046"/>
          </a:xfrm>
          <a:prstGeom prst="roundRect">
            <a:avLst>
              <a:gd name="adj" fmla="val 519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1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580644" y="1742846"/>
            <a:ext cx="6476695" cy="333756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9" name="Shape 6"/>
          <p:cNvSpPr/>
          <p:nvPr/>
        </p:nvSpPr>
        <p:spPr>
          <a:xfrm>
            <a:off x="580644" y="2067458"/>
            <a:ext cx="6476695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10" name="Shape 7"/>
          <p:cNvSpPr/>
          <p:nvPr/>
        </p:nvSpPr>
        <p:spPr>
          <a:xfrm>
            <a:off x="733349" y="1857146"/>
            <a:ext cx="95098" cy="9509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11" name="Shape 8"/>
          <p:cNvSpPr/>
          <p:nvPr/>
        </p:nvSpPr>
        <p:spPr>
          <a:xfrm>
            <a:off x="886054" y="1857146"/>
            <a:ext cx="95098" cy="9509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2" name="Shape 9"/>
          <p:cNvSpPr/>
          <p:nvPr/>
        </p:nvSpPr>
        <p:spPr>
          <a:xfrm>
            <a:off x="1037844" y="1857146"/>
            <a:ext cx="95098" cy="95098"/>
          </a:xfrm>
          <a:prstGeom prst="ellipse">
            <a:avLst/>
          </a:prstGeom>
          <a:solidFill>
            <a:srgbClr val="27C93F"/>
          </a:solidFill>
          <a:ln/>
        </p:spPr>
      </p:sp>
      <p:sp>
        <p:nvSpPr>
          <p:cNvPr id="13" name="Shape 10"/>
          <p:cNvSpPr/>
          <p:nvPr/>
        </p:nvSpPr>
        <p:spPr>
          <a:xfrm>
            <a:off x="7291426" y="1200607"/>
            <a:ext cx="4295851" cy="761695"/>
          </a:xfrm>
          <a:prstGeom prst="roundRect">
            <a:avLst>
              <a:gd name="adj" fmla="val 180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15784" y="1362456"/>
            <a:ext cx="152705" cy="1527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7291426" y="2076602"/>
            <a:ext cx="4295851" cy="160020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415784" y="2200046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BEAFE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7482535" y="2266798"/>
            <a:ext cx="133502" cy="133502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10137038" y="2200046"/>
            <a:ext cx="1324051" cy="267005"/>
          </a:xfrm>
          <a:prstGeom prst="roundRect">
            <a:avLst>
              <a:gd name="adj" fmla="val 48924"/>
            </a:avLst>
          </a:prstGeom>
          <a:solidFill>
            <a:srgbClr val="EFF6FF"/>
          </a:solidFill>
          <a:ln/>
        </p:spPr>
      </p:sp>
      <p:sp>
        <p:nvSpPr>
          <p:cNvPr id="19" name="Shape 14"/>
          <p:cNvSpPr/>
          <p:nvPr/>
        </p:nvSpPr>
        <p:spPr>
          <a:xfrm>
            <a:off x="7415784" y="2790749"/>
            <a:ext cx="4048049" cy="342900"/>
          </a:xfrm>
          <a:prstGeom prst="roundRect">
            <a:avLst>
              <a:gd name="adj" fmla="val 29630"/>
            </a:avLst>
          </a:prstGeom>
          <a:solidFill>
            <a:srgbClr val="F9FAFB"/>
          </a:solidFill>
          <a:ln/>
        </p:spPr>
      </p:sp>
      <p:sp>
        <p:nvSpPr>
          <p:cNvPr id="20" name="Shape 15"/>
          <p:cNvSpPr/>
          <p:nvPr/>
        </p:nvSpPr>
        <p:spPr>
          <a:xfrm>
            <a:off x="7291426" y="3829507"/>
            <a:ext cx="4295851" cy="1600200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7415784" y="3952951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EDE9FE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82535" y="4019702"/>
            <a:ext cx="133502" cy="133502"/>
          </a:xfrm>
          <a:prstGeom prst="rect">
            <a:avLst/>
          </a:prstGeom>
        </p:spPr>
      </p:pic>
      <p:sp>
        <p:nvSpPr>
          <p:cNvPr id="23" name="Shape 17"/>
          <p:cNvSpPr/>
          <p:nvPr/>
        </p:nvSpPr>
        <p:spPr>
          <a:xfrm>
            <a:off x="9749333" y="3952951"/>
            <a:ext cx="1714500" cy="267005"/>
          </a:xfrm>
          <a:prstGeom prst="roundRect">
            <a:avLst>
              <a:gd name="adj" fmla="val 48924"/>
            </a:avLst>
          </a:prstGeom>
          <a:solidFill>
            <a:srgbClr val="F5F3FF"/>
          </a:solidFill>
          <a:ln/>
        </p:spPr>
      </p:sp>
      <p:sp>
        <p:nvSpPr>
          <p:cNvPr id="24" name="Shape 18"/>
          <p:cNvSpPr/>
          <p:nvPr/>
        </p:nvSpPr>
        <p:spPr>
          <a:xfrm>
            <a:off x="7415784" y="4543654"/>
            <a:ext cx="4048049" cy="342900"/>
          </a:xfrm>
          <a:prstGeom prst="roundRect">
            <a:avLst>
              <a:gd name="adj" fmla="val 29630"/>
            </a:avLst>
          </a:prstGeom>
          <a:solidFill>
            <a:srgbClr val="F9FAFB"/>
          </a:solidFill>
          <a:ln/>
        </p:spPr>
      </p:sp>
      <p:sp>
        <p:nvSpPr>
          <p:cNvPr id="25" name="Shape 19"/>
          <p:cNvSpPr/>
          <p:nvPr/>
        </p:nvSpPr>
        <p:spPr>
          <a:xfrm>
            <a:off x="7324343" y="5506516"/>
            <a:ext cx="4295851" cy="1351484"/>
          </a:xfrm>
          <a:prstGeom prst="roundRect">
            <a:avLst>
              <a:gd name="adj" fmla="val 3401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381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7415783" y="5568238"/>
            <a:ext cx="267005" cy="267005"/>
          </a:xfrm>
          <a:prstGeom prst="roundRect">
            <a:avLst>
              <a:gd name="adj" fmla="val 73385"/>
            </a:avLst>
          </a:prstGeom>
          <a:solidFill>
            <a:srgbClr val="d1fae5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 rotWithShape="1">
          <a:blip r:embed="rId7"/>
          <a:srcRect/>
          <a:stretch>
            <a:fillRect/>
          </a:stretch>
        </p:blipFill>
        <p:spPr>
          <a:xfrm>
            <a:off x="7482535" y="5618989"/>
            <a:ext cx="123901" cy="123901"/>
          </a:xfrm>
          <a:prstGeom prst="rect">
            <a:avLst/>
          </a:prstGeom>
        </p:spPr>
      </p:pic>
      <p:sp>
        <p:nvSpPr>
          <p:cNvPr id="28" name="Shape 21"/>
          <p:cNvSpPr/>
          <p:nvPr/>
        </p:nvSpPr>
        <p:spPr>
          <a:xfrm>
            <a:off x="10344607" y="5705856"/>
            <a:ext cx="1114654" cy="267005"/>
          </a:xfrm>
          <a:prstGeom prst="roundRect">
            <a:avLst>
              <a:gd name="adj" fmla="val 48924"/>
            </a:avLst>
          </a:prstGeom>
          <a:solidFill>
            <a:srgbClr val="ECFDF5"/>
          </a:solidFill>
          <a:ln/>
        </p:spPr>
      </p:sp>
      <p:sp>
        <p:nvSpPr>
          <p:cNvPr id="29" name="Shape 22"/>
          <p:cNvSpPr/>
          <p:nvPr/>
        </p:nvSpPr>
        <p:spPr>
          <a:xfrm>
            <a:off x="7415784" y="6078016"/>
            <a:ext cx="4048049" cy="342900"/>
          </a:xfrm>
          <a:prstGeom prst="roundRect">
            <a:avLst>
              <a:gd name="adj" fmla="val 29630"/>
            </a:avLst>
          </a:prstGeom>
          <a:solidFill>
            <a:srgbClr val="f9fafb"/>
          </a:solidFill>
          <a:ln/>
        </p:spPr>
      </p:sp>
      <p:sp>
        <p:nvSpPr>
          <p:cNvPr id="30" name="Shape 23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32" name="Text 25"/>
          <p:cNvSpPr txBox="1"/>
          <p:nvPr/>
        </p:nvSpPr>
        <p:spPr>
          <a:xfrm>
            <a:off x="571500" y="629107"/>
            <a:ext cx="29818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카테고리 매핑 관리</a:t>
            </a:r>
            <a:endParaRPr lang="en-US" sz="2700" dirty="0"/>
          </a:p>
        </p:txBody>
      </p:sp>
      <p:sp>
        <p:nvSpPr>
          <p:cNvPr id="33" name="Text 26"/>
          <p:cNvSpPr txBox="1"/>
          <p:nvPr/>
        </p:nvSpPr>
        <p:spPr>
          <a:xfrm>
            <a:off x="571500" y="1495044"/>
            <a:ext cx="4401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ID(불연속)와 YOLO ID(0-index 연속) 간의 양방향 변환을 위한 3가지 핵심 딕셔너리</a:t>
            </a:r>
            <a:endParaRPr lang="en-US" sz="900" dirty="0"/>
          </a:p>
        </p:txBody>
      </p:sp>
      <p:sp>
        <p:nvSpPr>
          <p:cNvPr id="34" name="Text 27"/>
          <p:cNvSpPr txBox="1"/>
          <p:nvPr/>
        </p:nvSpPr>
        <p:spPr>
          <a:xfrm>
            <a:off x="1285646" y="1837944"/>
            <a:ext cx="3734410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src/mapping/category_mapper.py (Output Visualization)</a:t>
            </a:r>
            <a:endParaRPr lang="en-US" sz="900" dirty="0"/>
          </a:p>
        </p:txBody>
      </p:sp>
      <p:sp>
        <p:nvSpPr>
          <p:cNvPr id="35" name="Text 28"/>
          <p:cNvSpPr txBox="1"/>
          <p:nvPr/>
        </p:nvSpPr>
        <p:spPr>
          <a:xfrm>
            <a:off x="7644384" y="1324051"/>
            <a:ext cx="1347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매핑이 필요한가요?</a:t>
            </a:r>
            <a:endParaRPr lang="en-US" sz="1000" dirty="0"/>
          </a:p>
        </p:txBody>
      </p:sp>
      <p:sp>
        <p:nvSpPr>
          <p:cNvPr id="36" name="Text 29"/>
          <p:cNvSpPr txBox="1"/>
          <p:nvPr/>
        </p:nvSpPr>
        <p:spPr>
          <a:xfrm>
            <a:off x="7644384" y="1543507"/>
            <a:ext cx="3706063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데이터셋의 category_id는 비연속적(예: 1899, 2482)일 수 있지만, YOLO 모델 학습은 반드시 0부터 시작하는 연속된 정수 인덱스를 요구합니다.</a:t>
            </a:r>
            <a:endParaRPr lang="en-US" sz="900" dirty="0"/>
          </a:p>
        </p:txBody>
      </p:sp>
      <p:sp>
        <p:nvSpPr>
          <p:cNvPr id="37" name="Text 30"/>
          <p:cNvSpPr txBox="1"/>
          <p:nvPr/>
        </p:nvSpPr>
        <p:spPr>
          <a:xfrm>
            <a:off x="10212934" y="2219249"/>
            <a:ext cx="12865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Input / Training</a:t>
            </a:r>
            <a:endParaRPr lang="en-US" sz="1200" dirty="0"/>
          </a:p>
        </p:txBody>
      </p:sp>
      <p:sp>
        <p:nvSpPr>
          <p:cNvPr id="38" name="Text 31"/>
          <p:cNvSpPr txBox="1"/>
          <p:nvPr/>
        </p:nvSpPr>
        <p:spPr>
          <a:xfrm>
            <a:off x="7415784" y="2562149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category_to_yolo</a:t>
            </a:r>
            <a:endParaRPr lang="en-US" sz="1000" dirty="0"/>
          </a:p>
        </p:txBody>
      </p:sp>
      <p:sp>
        <p:nvSpPr>
          <p:cNvPr id="39" name="Text 32"/>
          <p:cNvSpPr txBox="1"/>
          <p:nvPr/>
        </p:nvSpPr>
        <p:spPr>
          <a:xfrm>
            <a:off x="7472477" y="2876702"/>
            <a:ext cx="2315261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"1899" (COCO) → 0 (YOLO)</a:t>
            </a:r>
            <a:endParaRPr lang="en-US" sz="1200" dirty="0"/>
          </a:p>
        </p:txBody>
      </p:sp>
      <p:sp>
        <p:nvSpPr>
          <p:cNvPr id="40" name="Text 33"/>
          <p:cNvSpPr txBox="1"/>
          <p:nvPr/>
        </p:nvSpPr>
        <p:spPr>
          <a:xfrm>
            <a:off x="7415784" y="3152851"/>
            <a:ext cx="40773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 생성 시, 원본 JSON의 ID를 모델이 이해할 수 있는 0-index 포맷으로 변환합니다.</a:t>
            </a:r>
            <a:endParaRPr lang="en-US" sz="1200" dirty="0"/>
          </a:p>
        </p:txBody>
      </p:sp>
      <p:sp>
        <p:nvSpPr>
          <p:cNvPr id="41" name="Text 34"/>
          <p:cNvSpPr txBox="1"/>
          <p:nvPr/>
        </p:nvSpPr>
        <p:spPr>
          <a:xfrm>
            <a:off x="9825228" y="3972154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Output / Submission</a:t>
            </a:r>
            <a:endParaRPr lang="en-US" sz="1200" dirty="0"/>
          </a:p>
        </p:txBody>
      </p:sp>
      <p:sp>
        <p:nvSpPr>
          <p:cNvPr id="42" name="Text 35"/>
          <p:cNvSpPr txBox="1"/>
          <p:nvPr/>
        </p:nvSpPr>
        <p:spPr>
          <a:xfrm>
            <a:off x="7415784" y="4315054"/>
            <a:ext cx="12435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yolo_to_category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7472477" y="4629607"/>
            <a:ext cx="2134210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0 (YOLO) → 1899 (COCO)</a:t>
            </a:r>
            <a:endParaRPr lang="en-US" sz="1200" dirty="0"/>
          </a:p>
        </p:txBody>
      </p:sp>
      <p:sp>
        <p:nvSpPr>
          <p:cNvPr id="44" name="Text 37"/>
          <p:cNvSpPr txBox="1"/>
          <p:nvPr/>
        </p:nvSpPr>
        <p:spPr>
          <a:xfrm>
            <a:off x="7415784" y="4905756"/>
            <a:ext cx="407731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추론(Inference) 결과를 제출할 때, 모델의 예측값(0)을 다시 원본 ID(1899)로 복원합니다.</a:t>
            </a:r>
            <a:endParaRPr lang="en-US" sz="1200" dirty="0"/>
          </a:p>
        </p:txBody>
      </p:sp>
      <p:sp>
        <p:nvSpPr>
          <p:cNvPr id="45" name="Text 38"/>
          <p:cNvSpPr txBox="1"/>
          <p:nvPr/>
        </p:nvSpPr>
        <p:spPr>
          <a:xfrm>
            <a:off x="10420502" y="5506516"/>
            <a:ext cx="1077163" cy="22860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 b="1">
                <a:solidFill>
                  <a:srgbClr val="10b981"/>
                </a:solidFill>
                <a:latin typeface="Noto Sans KR"/>
                <a:ea typeface="Noto Sans KR"/>
                <a:cs typeface="Noto Sans KR"/>
              </a:rPr>
              <a:t>Visualization</a:t>
            </a:r>
            <a:endParaRPr lang="en-US" sz="1200"/>
          </a:p>
        </p:txBody>
      </p:sp>
      <p:sp>
        <p:nvSpPr>
          <p:cNvPr id="46" name="Text 39"/>
          <p:cNvSpPr txBox="1"/>
          <p:nvPr/>
        </p:nvSpPr>
        <p:spPr>
          <a:xfrm>
            <a:off x="7415784" y="5849416"/>
            <a:ext cx="900684" cy="1911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000" b="1">
                <a:solidFill>
                  <a:srgbClr val="1f2937"/>
                </a:solidFill>
                <a:latin typeface="Noto Sans KR"/>
                <a:ea typeface="Noto Sans KR"/>
                <a:cs typeface="Noto Sans KR"/>
              </a:rPr>
              <a:t>yolo_names</a:t>
            </a:r>
            <a:endParaRPr lang="en-US" sz="1000"/>
          </a:p>
        </p:txBody>
      </p:sp>
      <p:sp>
        <p:nvSpPr>
          <p:cNvPr id="47" name="Text 40"/>
          <p:cNvSpPr txBox="1"/>
          <p:nvPr/>
        </p:nvSpPr>
        <p:spPr>
          <a:xfrm>
            <a:off x="7459675" y="6144768"/>
            <a:ext cx="2677363" cy="171907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>
                <a:solidFill>
                  <a:srgbClr val="6b7280"/>
                </a:solidFill>
                <a:latin typeface="ui-monospace"/>
                <a:ea typeface="ui-monospace"/>
                <a:cs typeface="ui-monospace"/>
              </a:rPr>
              <a:t>Index 순서대로 Class Name 저장</a:t>
            </a:r>
            <a:endParaRPr lang="en-US" sz="1200"/>
          </a:p>
        </p:txBody>
      </p:sp>
      <p:sp>
        <p:nvSpPr>
          <p:cNvPr id="48" name="Text 41"/>
          <p:cNvSpPr txBox="1"/>
          <p:nvPr/>
        </p:nvSpPr>
        <p:spPr>
          <a:xfrm>
            <a:off x="7415784" y="6440118"/>
            <a:ext cx="4153205" cy="419710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1200">
                <a:solidFill>
                  <a:srgbClr val="4b5563"/>
                </a:solidFill>
                <a:latin typeface="Noto Sans KR"/>
                <a:ea typeface="Noto Sans KR"/>
                <a:cs typeface="Noto Sans KR"/>
              </a:rPr>
              <a:t>시각화 및 디버깅을 위해 YOLO 인덱스 순서에 맞춰 실제 알약 이름(Label)을 매핑합니다.</a:t>
            </a:r>
            <a:endParaRPr lang="en-US" sz="1200"/>
          </a:p>
        </p:txBody>
      </p:sp>
      <p:sp>
        <p:nvSpPr>
          <p:cNvPr id="49" name="Text 42"/>
          <p:cNvSpPr txBox="1"/>
          <p:nvPr/>
        </p:nvSpPr>
        <p:spPr>
          <a:xfrm>
            <a:off x="571500" y="6409944"/>
            <a:ext cx="23344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Module Details - CategoryMapper</a:t>
            </a:r>
            <a:endParaRPr lang="en-US" sz="900" dirty="0"/>
          </a:p>
        </p:txBody>
      </p:sp>
      <p:sp>
        <p:nvSpPr>
          <p:cNvPr id="50" name="Text 43"/>
          <p:cNvSpPr txBox="1"/>
          <p:nvPr/>
        </p:nvSpPr>
        <p:spPr>
          <a:xfrm>
            <a:off x="11515344" y="6572707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18/33</a:t>
            </a:r>
            <a:endParaRPr lang="en-US" sz="900"/>
          </a:p>
        </p:txBody>
      </p:sp>
      <p:sp>
        <p:nvSpPr>
          <p:cNvPr id="51" name="Text 44"/>
          <p:cNvSpPr txBox="1"/>
          <p:nvPr/>
        </p:nvSpPr>
        <p:spPr>
          <a:xfrm>
            <a:off x="9208008" y="790956"/>
            <a:ext cx="25484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CategoryMapper Class Strategy</a:t>
            </a:r>
            <a:endParaRPr lang="en-US" sz="1300" dirty="0"/>
          </a:p>
        </p:txBody>
      </p:sp>
      <p:sp>
        <p:nvSpPr>
          <p:cNvPr id="52" name="Shape 45"/>
          <p:cNvSpPr/>
          <p:nvPr/>
        </p:nvSpPr>
        <p:spPr>
          <a:xfrm>
            <a:off x="580644" y="2076602"/>
            <a:ext cx="6476695" cy="4134002"/>
          </a:xfrm>
          <a:prstGeom prst="rect">
            <a:avLst/>
          </a:prstGeom>
          <a:solidFill>
            <a:srgbClr val="1E1E1E"/>
          </a:solidFill>
          <a:ln/>
        </p:spPr>
      </p:sp>
      <p:pic>
        <p:nvPicPr>
          <p:cNvPr id="53" name="Image 5" descr="preencoded.png">    </p:cNvPr>
          <p:cNvPicPr>
            <a:picLocks noChangeAspect="1"/>
          </p:cNvPicPr>
          <p:nvPr/>
        </p:nvPicPr>
        <p:blipFill>
          <a:blip r:embed="rId8"/>
          <a:srcRect l="5937" r="5937" t="0" b="0"/>
          <a:stretch/>
        </p:blipFill>
        <p:spPr>
          <a:xfrm>
            <a:off x="580644" y="2076602"/>
            <a:ext cx="6476695" cy="413400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276502"/>
            <a:ext cx="4476902" cy="4753051"/>
          </a:xfrm>
          <a:prstGeom prst="roundRect">
            <a:avLst>
              <a:gd name="adj" fmla="val 521"/>
            </a:avLst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  <a:effectLst>
            <a:outerShdw sx="100000" sy="100000" kx="0" ky="0" algn="bl" rotWithShape="0" blurRad="139700" dist="101600" dir="5400000">
              <a:srgbClr val="000000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1285646"/>
            <a:ext cx="4457700" cy="314554"/>
          </a:xfrm>
          <a:prstGeom prst="rect">
            <a:avLst/>
          </a:prstGeom>
          <a:solidFill>
            <a:srgbClr val="2D2D2D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1591056"/>
            <a:ext cx="4457700" cy="9144"/>
          </a:xfrm>
          <a:prstGeom prst="rect">
            <a:avLst/>
          </a:prstGeom>
          <a:solidFill>
            <a:srgbClr val="333333"/>
          </a:solidFill>
          <a:ln/>
        </p:spPr>
      </p:sp>
      <p:sp>
        <p:nvSpPr>
          <p:cNvPr id="8" name="Shape 6"/>
          <p:cNvSpPr/>
          <p:nvPr/>
        </p:nvSpPr>
        <p:spPr>
          <a:xfrm>
            <a:off x="694944" y="1390802"/>
            <a:ext cx="95098" cy="95098"/>
          </a:xfrm>
          <a:prstGeom prst="ellipse">
            <a:avLst/>
          </a:prstGeom>
          <a:solidFill>
            <a:srgbClr val="FF5F56"/>
          </a:solidFill>
          <a:ln/>
        </p:spPr>
      </p:sp>
      <p:sp>
        <p:nvSpPr>
          <p:cNvPr id="9" name="Shape 7"/>
          <p:cNvSpPr/>
          <p:nvPr/>
        </p:nvSpPr>
        <p:spPr>
          <a:xfrm>
            <a:off x="847649" y="1390802"/>
            <a:ext cx="95098" cy="95098"/>
          </a:xfrm>
          <a:prstGeom prst="ellipse">
            <a:avLst/>
          </a:prstGeom>
          <a:solidFill>
            <a:srgbClr val="FFBD2E"/>
          </a:solidFill>
          <a:ln/>
        </p:spPr>
      </p:sp>
      <p:sp>
        <p:nvSpPr>
          <p:cNvPr id="10" name="Shape 8"/>
          <p:cNvSpPr/>
          <p:nvPr/>
        </p:nvSpPr>
        <p:spPr>
          <a:xfrm>
            <a:off x="1000354" y="1390802"/>
            <a:ext cx="95098" cy="95098"/>
          </a:xfrm>
          <a:prstGeom prst="ellipse">
            <a:avLst/>
          </a:prstGeom>
          <a:solidFill>
            <a:srgbClr val="27C93F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52898" y="1314907"/>
            <a:ext cx="237744" cy="190195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5667451" y="1276502"/>
            <a:ext cx="2257654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 기반 6단계 자동화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467198" y="6369710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-1064" r="-1064" t="0" b="0"/>
          <a:stretch/>
        </p:blipFill>
        <p:spPr>
          <a:xfrm>
            <a:off x="5548579" y="6474866"/>
            <a:ext cx="219456" cy="171907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571500" y="504749"/>
            <a:ext cx="11814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571500" y="629107"/>
            <a:ext cx="3296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파이프라인 실행 흐름</a:t>
            </a:r>
            <a:endParaRPr lang="en-US" sz="2700" dirty="0"/>
          </a:p>
        </p:txBody>
      </p:sp>
      <p:sp>
        <p:nvSpPr>
          <p:cNvPr id="18" name="Text 14"/>
          <p:cNvSpPr txBox="1"/>
          <p:nvPr/>
        </p:nvSpPr>
        <p:spPr>
          <a:xfrm>
            <a:off x="1285646" y="1371600"/>
            <a:ext cx="1810512" cy="1335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ui-monospace" pitchFamily="34" charset="0"/>
                <a:ea typeface="ui-monospace" pitchFamily="34" charset="-122"/>
                <a:cs typeface="ui-monospace" pitchFamily="34" charset="-120"/>
              </a:rPr>
              <a:t>pipeline.py execution log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5352898" y="1580998"/>
            <a:ext cx="4282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pipeline.py 명령 하나로 데이터 구축부터 결과 제출까지 순차 실행</a:t>
            </a:r>
            <a:endParaRPr lang="en-US" sz="1000" dirty="0"/>
          </a:p>
        </p:txBody>
      </p:sp>
      <p:sp>
        <p:nvSpPr>
          <p:cNvPr id="20" name="Text 16"/>
          <p:cNvSpPr txBox="1"/>
          <p:nvPr/>
        </p:nvSpPr>
        <p:spPr>
          <a:xfrm>
            <a:off x="5962802" y="6388913"/>
            <a:ext cx="13670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Human Error 최소화</a:t>
            </a:r>
            <a:endParaRPr lang="en-US" sz="1000" dirty="0"/>
          </a:p>
        </p:txBody>
      </p:sp>
      <p:sp>
        <p:nvSpPr>
          <p:cNvPr id="21" name="Text 17"/>
          <p:cNvSpPr txBox="1"/>
          <p:nvPr/>
        </p:nvSpPr>
        <p:spPr>
          <a:xfrm>
            <a:off x="571500" y="640994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Pipeline Execution Flow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19/33</a:t>
            </a:r>
            <a:endParaRPr lang="en-US" sz="900" dirty="0"/>
          </a:p>
        </p:txBody>
      </p:sp>
      <p:sp>
        <p:nvSpPr>
          <p:cNvPr id="23" name="Text 19"/>
          <p:cNvSpPr txBox="1"/>
          <p:nvPr/>
        </p:nvSpPr>
        <p:spPr>
          <a:xfrm>
            <a:off x="8461858" y="790956"/>
            <a:ext cx="32909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Execution Logic (pipeline.py)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580644" y="1600200"/>
            <a:ext cx="4457700" cy="441929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664" b="8664"/>
          <a:stretch/>
        </p:blipFill>
        <p:spPr>
          <a:xfrm>
            <a:off x="657454" y="1676095"/>
            <a:ext cx="4304995" cy="4267505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5352898" y="1923898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27" name="Text 22"/>
          <p:cNvSpPr txBox="1"/>
          <p:nvPr/>
        </p:nvSpPr>
        <p:spPr>
          <a:xfrm>
            <a:off x="5876849" y="2029054"/>
            <a:ext cx="107076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Dataset Build</a:t>
            </a:r>
            <a:endParaRPr lang="en-US" sz="1100" dirty="0"/>
          </a:p>
        </p:txBody>
      </p:sp>
      <p:sp>
        <p:nvSpPr>
          <p:cNvPr id="28" name="Text 23"/>
          <p:cNvSpPr txBox="1"/>
          <p:nvPr/>
        </p:nvSpPr>
        <p:spPr>
          <a:xfrm>
            <a:off x="5876849" y="2264969"/>
            <a:ext cx="27916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Raw 데이터를 Matched/Mismatched로 분류 및 필터링</a:t>
            </a:r>
            <a:endParaRPr lang="en-US" sz="900" dirty="0"/>
          </a:p>
        </p:txBody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-2725" b="-2725"/>
          <a:stretch/>
        </p:blipFill>
        <p:spPr>
          <a:xfrm>
            <a:off x="11334902" y="2147011"/>
            <a:ext cx="142646" cy="171907"/>
          </a:xfrm>
          <a:prstGeom prst="rect">
            <a:avLst/>
          </a:prstGeom>
        </p:spPr>
      </p:pic>
      <p:sp>
        <p:nvSpPr>
          <p:cNvPr id="30" name="Shape 24"/>
          <p:cNvSpPr/>
          <p:nvPr/>
        </p:nvSpPr>
        <p:spPr>
          <a:xfrm>
            <a:off x="5352898" y="2636215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1" name="Text 25"/>
          <p:cNvSpPr txBox="1"/>
          <p:nvPr/>
        </p:nvSpPr>
        <p:spPr>
          <a:xfrm>
            <a:off x="5876849" y="2741371"/>
            <a:ext cx="14045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Mapping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5876849" y="2977286"/>
            <a:ext cx="28959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Category ID와 YOLO Class ID 간 매핑 테이블 생성</a:t>
            </a:r>
            <a:endParaRPr lang="en-US" sz="900" dirty="0"/>
          </a:p>
        </p:txBody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306556" y="2859329"/>
            <a:ext cx="171907" cy="171907"/>
          </a:xfrm>
          <a:prstGeom prst="rect">
            <a:avLst/>
          </a:prstGeom>
        </p:spPr>
      </p:pic>
      <p:sp>
        <p:nvSpPr>
          <p:cNvPr id="34" name="Shape 27"/>
          <p:cNvSpPr/>
          <p:nvPr/>
        </p:nvSpPr>
        <p:spPr>
          <a:xfrm>
            <a:off x="5352898" y="3348533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5" name="Text 28"/>
          <p:cNvSpPr txBox="1"/>
          <p:nvPr/>
        </p:nvSpPr>
        <p:spPr>
          <a:xfrm>
            <a:off x="5876849" y="3453689"/>
            <a:ext cx="14904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Dataset Build</a:t>
            </a:r>
            <a:endParaRPr lang="en-US" sz="1100" dirty="0"/>
          </a:p>
        </p:txBody>
      </p:sp>
      <p:sp>
        <p:nvSpPr>
          <p:cNvPr id="36" name="Text 29"/>
          <p:cNvSpPr txBox="1"/>
          <p:nvPr/>
        </p:nvSpPr>
        <p:spPr>
          <a:xfrm>
            <a:off x="5876849" y="3689604"/>
            <a:ext cx="29151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COCO 포맷을 YOLO 포맷(txt)으로 변환 및 디렉토리 구조화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-842" b="-842"/>
          <a:stretch/>
        </p:blipFill>
        <p:spPr>
          <a:xfrm>
            <a:off x="11287354" y="3571646"/>
            <a:ext cx="190195" cy="171907"/>
          </a:xfrm>
          <a:prstGeom prst="rect">
            <a:avLst/>
          </a:prstGeom>
        </p:spPr>
      </p:pic>
      <p:sp>
        <p:nvSpPr>
          <p:cNvPr id="38" name="Shape 30"/>
          <p:cNvSpPr/>
          <p:nvPr/>
        </p:nvSpPr>
        <p:spPr>
          <a:xfrm>
            <a:off x="5352898" y="4061765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39" name="Text 31"/>
          <p:cNvSpPr txBox="1"/>
          <p:nvPr/>
        </p:nvSpPr>
        <p:spPr>
          <a:xfrm>
            <a:off x="5876849" y="4166006"/>
            <a:ext cx="11183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Training</a:t>
            </a:r>
            <a:endParaRPr lang="en-US" sz="1100" dirty="0"/>
          </a:p>
        </p:txBody>
      </p:sp>
      <p:sp>
        <p:nvSpPr>
          <p:cNvPr id="40" name="Text 32"/>
          <p:cNvSpPr txBox="1"/>
          <p:nvPr/>
        </p:nvSpPr>
        <p:spPr>
          <a:xfrm>
            <a:off x="5876849" y="4401922"/>
            <a:ext cx="24862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Config에 정의된 하이퍼파라미터로 모델 학습 시작</a:t>
            </a:r>
            <a:endParaRPr lang="en-US" sz="900" dirty="0"/>
          </a:p>
        </p:txBody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306556" y="4283964"/>
            <a:ext cx="171907" cy="171907"/>
          </a:xfrm>
          <a:prstGeom prst="rect">
            <a:avLst/>
          </a:prstGeom>
        </p:spPr>
      </p:pic>
      <p:sp>
        <p:nvSpPr>
          <p:cNvPr id="42" name="Shape 33"/>
          <p:cNvSpPr/>
          <p:nvPr/>
        </p:nvSpPr>
        <p:spPr>
          <a:xfrm>
            <a:off x="5352898" y="4774082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3" name="Text 34"/>
          <p:cNvSpPr txBox="1"/>
          <p:nvPr/>
        </p:nvSpPr>
        <p:spPr>
          <a:xfrm>
            <a:off x="5876849" y="4878324"/>
            <a:ext cx="78547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1100" dirty="0"/>
          </a:p>
        </p:txBody>
      </p:sp>
      <p:sp>
        <p:nvSpPr>
          <p:cNvPr id="44" name="Text 35"/>
          <p:cNvSpPr txBox="1"/>
          <p:nvPr/>
        </p:nvSpPr>
        <p:spPr>
          <a:xfrm>
            <a:off x="5876849" y="5115154"/>
            <a:ext cx="27249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학습된 Best 모델 로드 및 Test 데이터에 대한 추론 수행</a:t>
            </a:r>
            <a:endParaRPr lang="en-US" sz="900" dirty="0"/>
          </a:p>
        </p:txBody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-842" b="-842"/>
          <a:stretch/>
        </p:blipFill>
        <p:spPr>
          <a:xfrm>
            <a:off x="11287354" y="4996282"/>
            <a:ext cx="190195" cy="171907"/>
          </a:xfrm>
          <a:prstGeom prst="rect">
            <a:avLst/>
          </a:prstGeom>
        </p:spPr>
      </p:pic>
      <p:sp>
        <p:nvSpPr>
          <p:cNvPr id="46" name="Shape 36"/>
          <p:cNvSpPr/>
          <p:nvPr/>
        </p:nvSpPr>
        <p:spPr>
          <a:xfrm>
            <a:off x="5352898" y="5486400"/>
            <a:ext cx="6267298" cy="619049"/>
          </a:xfrm>
          <a:prstGeom prst="roundRect">
            <a:avLst>
              <a:gd name="adj" fmla="val 2272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3000"/>
              </a:srgbClr>
            </a:outerShdw>
          </a:effectLst>
        </p:spPr>
      </p:sp>
      <p:sp>
        <p:nvSpPr>
          <p:cNvPr id="47" name="Text 37"/>
          <p:cNvSpPr txBox="1"/>
          <p:nvPr/>
        </p:nvSpPr>
        <p:spPr>
          <a:xfrm>
            <a:off x="5876849" y="5590642"/>
            <a:ext cx="125181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Submission CSV</a:t>
            </a:r>
            <a:endParaRPr lang="en-US" sz="1100" dirty="0"/>
          </a:p>
        </p:txBody>
      </p:sp>
      <p:sp>
        <p:nvSpPr>
          <p:cNvPr id="48" name="Text 38"/>
          <p:cNvSpPr txBox="1"/>
          <p:nvPr/>
        </p:nvSpPr>
        <p:spPr>
          <a:xfrm>
            <a:off x="5876849" y="5827471"/>
            <a:ext cx="2924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추론 결과를 대회 제출 양식에 맞게 CSV 파일로 변환 및 저장</a:t>
            </a:r>
            <a:endParaRPr lang="en-US" sz="900" dirty="0"/>
          </a:p>
        </p:txBody>
      </p:sp>
      <p:pic>
        <p:nvPicPr>
          <p:cNvPr id="49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1306556" y="5708599"/>
            <a:ext cx="171907" cy="171907"/>
          </a:xfrm>
          <a:prstGeom prst="rect">
            <a:avLst/>
          </a:prstGeom>
        </p:spPr>
      </p:pic>
      <p:sp>
        <p:nvSpPr>
          <p:cNvPr id="50" name="Text 39"/>
          <p:cNvSpPr txBox="1"/>
          <p:nvPr/>
        </p:nvSpPr>
        <p:spPr>
          <a:xfrm>
            <a:off x="5962802" y="6569964"/>
            <a:ext cx="3458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복잡한 중간 과정을 수동 개입 없이 자동화하여 실험 결과의 신뢰성 보장</a:t>
            </a:r>
            <a:endParaRPr lang="en-US" sz="900" dirty="0"/>
          </a:p>
        </p:txBody>
      </p:sp>
      <p:sp>
        <p:nvSpPr>
          <p:cNvPr id="51" name="Shape 40"/>
          <p:cNvSpPr/>
          <p:nvPr/>
        </p:nvSpPr>
        <p:spPr>
          <a:xfrm>
            <a:off x="5591556" y="2295144"/>
            <a:ext cx="19202" cy="3520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2" name="Shape 41"/>
          <p:cNvSpPr/>
          <p:nvPr/>
        </p:nvSpPr>
        <p:spPr>
          <a:xfrm>
            <a:off x="5591556" y="3008376"/>
            <a:ext cx="19202" cy="3520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3" name="Shape 42"/>
          <p:cNvSpPr/>
          <p:nvPr/>
        </p:nvSpPr>
        <p:spPr>
          <a:xfrm>
            <a:off x="5591556" y="3720694"/>
            <a:ext cx="19202" cy="3520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4" name="Shape 43"/>
          <p:cNvSpPr/>
          <p:nvPr/>
        </p:nvSpPr>
        <p:spPr>
          <a:xfrm>
            <a:off x="5591556" y="4433011"/>
            <a:ext cx="19202" cy="3520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5" name="Shape 44"/>
          <p:cNvSpPr/>
          <p:nvPr/>
        </p:nvSpPr>
        <p:spPr>
          <a:xfrm>
            <a:off x="5591556" y="5145329"/>
            <a:ext cx="19202" cy="352044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56" name="Shape 45"/>
          <p:cNvSpPr/>
          <p:nvPr/>
        </p:nvSpPr>
        <p:spPr>
          <a:xfrm>
            <a:off x="5495544" y="2099462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7" name="Text 46"/>
          <p:cNvSpPr txBox="1"/>
          <p:nvPr/>
        </p:nvSpPr>
        <p:spPr>
          <a:xfrm>
            <a:off x="5593385" y="2140610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58" name="Shape 47"/>
          <p:cNvSpPr/>
          <p:nvPr/>
        </p:nvSpPr>
        <p:spPr>
          <a:xfrm>
            <a:off x="5495544" y="2811780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9" name="Text 48"/>
          <p:cNvSpPr txBox="1"/>
          <p:nvPr/>
        </p:nvSpPr>
        <p:spPr>
          <a:xfrm>
            <a:off x="5593385" y="2853842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60" name="Shape 49"/>
          <p:cNvSpPr/>
          <p:nvPr/>
        </p:nvSpPr>
        <p:spPr>
          <a:xfrm>
            <a:off x="5495544" y="3524098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1" name="Text 50"/>
          <p:cNvSpPr txBox="1"/>
          <p:nvPr/>
        </p:nvSpPr>
        <p:spPr>
          <a:xfrm>
            <a:off x="5593385" y="3566160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62" name="Shape 51"/>
          <p:cNvSpPr/>
          <p:nvPr/>
        </p:nvSpPr>
        <p:spPr>
          <a:xfrm>
            <a:off x="5495544" y="4236415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3" name="Text 52"/>
          <p:cNvSpPr txBox="1"/>
          <p:nvPr/>
        </p:nvSpPr>
        <p:spPr>
          <a:xfrm>
            <a:off x="5593385" y="4278478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64" name="Shape 53"/>
          <p:cNvSpPr/>
          <p:nvPr/>
        </p:nvSpPr>
        <p:spPr>
          <a:xfrm>
            <a:off x="5495544" y="4948733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5" name="Text 54"/>
          <p:cNvSpPr txBox="1"/>
          <p:nvPr/>
        </p:nvSpPr>
        <p:spPr>
          <a:xfrm>
            <a:off x="5593385" y="4990795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en-US" sz="900" dirty="0"/>
          </a:p>
        </p:txBody>
      </p:sp>
      <p:sp>
        <p:nvSpPr>
          <p:cNvPr id="66" name="Shape 55"/>
          <p:cNvSpPr/>
          <p:nvPr/>
        </p:nvSpPr>
        <p:spPr>
          <a:xfrm>
            <a:off x="5495544" y="5661050"/>
            <a:ext cx="267005" cy="267005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7" name="Text 56"/>
          <p:cNvSpPr txBox="1"/>
          <p:nvPr/>
        </p:nvSpPr>
        <p:spPr>
          <a:xfrm>
            <a:off x="5593385" y="5703113"/>
            <a:ext cx="16825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414577"/>
            <a:ext cx="11048695" cy="2447849"/>
          </a:xfrm>
          <a:prstGeom prst="roundRect">
            <a:avLst>
              <a:gd name="adj" fmla="val 1744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80644" y="1423721"/>
            <a:ext cx="2762402" cy="48554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5"/>
          <p:cNvSpPr/>
          <p:nvPr/>
        </p:nvSpPr>
        <p:spPr>
          <a:xfrm>
            <a:off x="3338474" y="1423721"/>
            <a:ext cx="1657807" cy="48554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" name="Shape 6"/>
          <p:cNvSpPr/>
          <p:nvPr/>
        </p:nvSpPr>
        <p:spPr>
          <a:xfrm>
            <a:off x="4992624" y="1423721"/>
            <a:ext cx="1657807" cy="48554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6647688" y="1423721"/>
            <a:ext cx="4972507" cy="485546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Shape 8"/>
          <p:cNvSpPr/>
          <p:nvPr/>
        </p:nvSpPr>
        <p:spPr>
          <a:xfrm>
            <a:off x="580644" y="1907438"/>
            <a:ext cx="2762402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580644" y="2383841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2" name="Shape 10"/>
          <p:cNvSpPr/>
          <p:nvPr/>
        </p:nvSpPr>
        <p:spPr>
          <a:xfrm>
            <a:off x="3338474" y="1907438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338474" y="2383841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992624" y="1907438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4992624" y="2383841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16" name="Shape 14"/>
          <p:cNvSpPr/>
          <p:nvPr/>
        </p:nvSpPr>
        <p:spPr>
          <a:xfrm>
            <a:off x="6647688" y="1907438"/>
            <a:ext cx="49725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47688" y="2383841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99478" y="2077517"/>
            <a:ext cx="133502" cy="133502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7008876" y="2049170"/>
            <a:ext cx="27486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학습/추론 속도가 느리고, 알약 각인 구분이 약함</a:t>
            </a:r>
            <a:endParaRPr lang="en-US" sz="1000" dirty="0"/>
          </a:p>
        </p:txBody>
      </p:sp>
      <p:sp>
        <p:nvSpPr>
          <p:cNvPr id="20" name="Shape 17"/>
          <p:cNvSpPr/>
          <p:nvPr/>
        </p:nvSpPr>
        <p:spPr>
          <a:xfrm>
            <a:off x="580644" y="2390242"/>
            <a:ext cx="2762402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8"/>
          <p:cNvSpPr/>
          <p:nvPr/>
        </p:nvSpPr>
        <p:spPr>
          <a:xfrm>
            <a:off x="580644" y="2866644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2" name="Shape 19"/>
          <p:cNvSpPr/>
          <p:nvPr/>
        </p:nvSpPr>
        <p:spPr>
          <a:xfrm>
            <a:off x="3338474" y="2390242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20"/>
          <p:cNvSpPr/>
          <p:nvPr/>
        </p:nvSpPr>
        <p:spPr>
          <a:xfrm>
            <a:off x="3338474" y="2866644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4" name="Shape 21"/>
          <p:cNvSpPr/>
          <p:nvPr/>
        </p:nvSpPr>
        <p:spPr>
          <a:xfrm>
            <a:off x="4992624" y="2390242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2"/>
          <p:cNvSpPr/>
          <p:nvPr/>
        </p:nvSpPr>
        <p:spPr>
          <a:xfrm>
            <a:off x="4992624" y="2866644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6" name="Shape 23"/>
          <p:cNvSpPr/>
          <p:nvPr/>
        </p:nvSpPr>
        <p:spPr>
          <a:xfrm>
            <a:off x="6647688" y="2390242"/>
            <a:ext cx="49725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Shape 24"/>
          <p:cNvSpPr/>
          <p:nvPr/>
        </p:nvSpPr>
        <p:spPr>
          <a:xfrm>
            <a:off x="6647688" y="2866644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799478" y="2559406"/>
            <a:ext cx="133502" cy="133502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7008876" y="2531059"/>
            <a:ext cx="3148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mAP는 양호하나 BBox가 불규칙하여 후처리 튜닝 필요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580644" y="2872130"/>
            <a:ext cx="2762402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1" name="Shape 27"/>
          <p:cNvSpPr/>
          <p:nvPr/>
        </p:nvSpPr>
        <p:spPr>
          <a:xfrm>
            <a:off x="580644" y="3348533"/>
            <a:ext cx="2762402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Shape 28"/>
          <p:cNvSpPr/>
          <p:nvPr/>
        </p:nvSpPr>
        <p:spPr>
          <a:xfrm>
            <a:off x="3338474" y="2872130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9"/>
          <p:cNvSpPr/>
          <p:nvPr/>
        </p:nvSpPr>
        <p:spPr>
          <a:xfrm>
            <a:off x="3338474" y="3348533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4" name="Shape 30"/>
          <p:cNvSpPr/>
          <p:nvPr/>
        </p:nvSpPr>
        <p:spPr>
          <a:xfrm>
            <a:off x="4992624" y="2872130"/>
            <a:ext cx="16578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1"/>
          <p:cNvSpPr/>
          <p:nvPr/>
        </p:nvSpPr>
        <p:spPr>
          <a:xfrm>
            <a:off x="4992624" y="3348533"/>
            <a:ext cx="1657807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6" name="Shape 32"/>
          <p:cNvSpPr/>
          <p:nvPr/>
        </p:nvSpPr>
        <p:spPr>
          <a:xfrm>
            <a:off x="6647688" y="2872130"/>
            <a:ext cx="4972507" cy="48554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3"/>
          <p:cNvSpPr/>
          <p:nvPr/>
        </p:nvSpPr>
        <p:spPr>
          <a:xfrm>
            <a:off x="6647688" y="3348533"/>
            <a:ext cx="4972507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3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-1100" b="-1100"/>
          <a:stretch/>
        </p:blipFill>
        <p:spPr>
          <a:xfrm>
            <a:off x="6799478" y="3041294"/>
            <a:ext cx="114300" cy="133502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990588" y="3012948"/>
            <a:ext cx="2891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속도는 최고지만, 노이즈 라벨에도 '과잉 확신' 경향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80644" y="3354019"/>
            <a:ext cx="2762402" cy="495605"/>
          </a:xfrm>
          <a:prstGeom prst="rect">
            <a:avLst/>
          </a:prstGeom>
          <a:solidFill>
            <a:srgbClr val="ECFDF5"/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4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71754" y="3523183"/>
            <a:ext cx="133502" cy="133502"/>
          </a:xfrm>
          <a:prstGeom prst="rect">
            <a:avLst/>
          </a:prstGeom>
        </p:spPr>
      </p:pic>
      <p:sp>
        <p:nvSpPr>
          <p:cNvPr id="42" name="Text 36"/>
          <p:cNvSpPr txBox="1"/>
          <p:nvPr/>
        </p:nvSpPr>
        <p:spPr>
          <a:xfrm>
            <a:off x="981151" y="3487522"/>
            <a:ext cx="161757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(Final Selection)</a:t>
            </a:r>
            <a:endParaRPr lang="en-US" sz="1000" dirty="0"/>
          </a:p>
        </p:txBody>
      </p:sp>
      <p:sp>
        <p:nvSpPr>
          <p:cNvPr id="43" name="Shape 37"/>
          <p:cNvSpPr/>
          <p:nvPr/>
        </p:nvSpPr>
        <p:spPr>
          <a:xfrm>
            <a:off x="3338474" y="3354019"/>
            <a:ext cx="1657807" cy="49560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4" name="Shape 38"/>
          <p:cNvSpPr/>
          <p:nvPr/>
        </p:nvSpPr>
        <p:spPr>
          <a:xfrm>
            <a:off x="3338474" y="3830422"/>
            <a:ext cx="1657807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5" name="Shape 39"/>
          <p:cNvSpPr/>
          <p:nvPr/>
        </p:nvSpPr>
        <p:spPr>
          <a:xfrm>
            <a:off x="4992624" y="3354019"/>
            <a:ext cx="1657807" cy="49560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6" name="Shape 40"/>
          <p:cNvSpPr/>
          <p:nvPr/>
        </p:nvSpPr>
        <p:spPr>
          <a:xfrm>
            <a:off x="4992624" y="3830422"/>
            <a:ext cx="1657807" cy="1920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47" name="Shape 41"/>
          <p:cNvSpPr/>
          <p:nvPr/>
        </p:nvSpPr>
        <p:spPr>
          <a:xfrm>
            <a:off x="6647688" y="3354019"/>
            <a:ext cx="4972507" cy="495605"/>
          </a:xfrm>
          <a:prstGeom prst="rect">
            <a:avLst/>
          </a:prstGeom>
          <a:solidFill>
            <a:srgbClr val="ECFDF5"/>
          </a:solidFill>
          <a:ln/>
        </p:spPr>
      </p:sp>
      <p:sp>
        <p:nvSpPr>
          <p:cNvPr id="48" name="Shape 42"/>
          <p:cNvSpPr/>
          <p:nvPr/>
        </p:nvSpPr>
        <p:spPr>
          <a:xfrm>
            <a:off x="6647688" y="3830422"/>
            <a:ext cx="4972507" cy="192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49" name="Image 4" descr="preencoded.png">    </p:cNvPr>
          <p:cNvPicPr>
            <a:picLocks noChangeAspect="1"/>
          </p:cNvPicPr>
          <p:nvPr/>
        </p:nvPicPr>
        <p:blipFill>
          <a:blip r:embed="rId5"/>
          <a:srcRect l="-837" r="-837" t="0" b="0"/>
          <a:stretch/>
        </p:blipFill>
        <p:spPr>
          <a:xfrm>
            <a:off x="6799478" y="3523183"/>
            <a:ext cx="152705" cy="133502"/>
          </a:xfrm>
          <a:prstGeom prst="rect">
            <a:avLst/>
          </a:prstGeom>
        </p:spPr>
      </p:pic>
      <p:sp>
        <p:nvSpPr>
          <p:cNvPr id="50" name="Text 43"/>
          <p:cNvSpPr txBox="1"/>
          <p:nvPr/>
        </p:nvSpPr>
        <p:spPr>
          <a:xfrm>
            <a:off x="7028078" y="3494837"/>
            <a:ext cx="29580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실시간·경량·서빙 제약에 가장 부합하는 최적의 균형</a:t>
            </a:r>
            <a:endParaRPr lang="en-US" sz="1000" dirty="0"/>
          </a:p>
        </p:txBody>
      </p:sp>
      <p:sp>
        <p:nvSpPr>
          <p:cNvPr id="51" name="Shape 44"/>
          <p:cNvSpPr/>
          <p:nvPr/>
        </p:nvSpPr>
        <p:spPr>
          <a:xfrm>
            <a:off x="571500" y="4045306"/>
            <a:ext cx="5410505" cy="182880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52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09244" y="4512564"/>
            <a:ext cx="171907" cy="171907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1057046" y="4465015"/>
            <a:ext cx="2281428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 모델의 한계점 (Trade-off)</a:t>
            </a:r>
            <a:endParaRPr lang="en-US" sz="1300" dirty="0"/>
          </a:p>
        </p:txBody>
      </p:sp>
      <p:sp>
        <p:nvSpPr>
          <p:cNvPr id="54" name="Shape 46"/>
          <p:cNvSpPr/>
          <p:nvPr/>
        </p:nvSpPr>
        <p:spPr>
          <a:xfrm>
            <a:off x="809244" y="4864608"/>
            <a:ext cx="819302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55" name="Shape 47"/>
          <p:cNvSpPr/>
          <p:nvPr/>
        </p:nvSpPr>
        <p:spPr>
          <a:xfrm>
            <a:off x="809244" y="5226710"/>
            <a:ext cx="790956" cy="228600"/>
          </a:xfrm>
          <a:prstGeom prst="roundRect">
            <a:avLst>
              <a:gd name="adj" fmla="val 66667"/>
            </a:avLst>
          </a:prstGeom>
          <a:solidFill>
            <a:srgbClr val="F3F4F6"/>
          </a:solidFill>
          <a:ln/>
        </p:spPr>
      </p:sp>
      <p:sp>
        <p:nvSpPr>
          <p:cNvPr id="56" name="Shape 48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7" name="Text 49"/>
          <p:cNvSpPr txBox="1"/>
          <p:nvPr/>
        </p:nvSpPr>
        <p:spPr>
          <a:xfrm>
            <a:off x="733349" y="1557223"/>
            <a:ext cx="546811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</a:t>
            </a:r>
            <a:endParaRPr lang="en-US" sz="1100" dirty="0"/>
          </a:p>
        </p:txBody>
      </p:sp>
      <p:sp>
        <p:nvSpPr>
          <p:cNvPr id="58" name="Text 50"/>
          <p:cNvSpPr txBox="1"/>
          <p:nvPr/>
        </p:nvSpPr>
        <p:spPr>
          <a:xfrm>
            <a:off x="3491179" y="1557223"/>
            <a:ext cx="83301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mAP50-95</a:t>
            </a:r>
            <a:endParaRPr lang="en-US" sz="1100" dirty="0"/>
          </a:p>
        </p:txBody>
      </p:sp>
      <p:sp>
        <p:nvSpPr>
          <p:cNvPr id="59" name="Text 51"/>
          <p:cNvSpPr txBox="1"/>
          <p:nvPr/>
        </p:nvSpPr>
        <p:spPr>
          <a:xfrm>
            <a:off x="5145329" y="1557223"/>
            <a:ext cx="975665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FPS (Speed)</a:t>
            </a:r>
            <a:endParaRPr lang="en-US" sz="1100" dirty="0"/>
          </a:p>
        </p:txBody>
      </p:sp>
      <p:sp>
        <p:nvSpPr>
          <p:cNvPr id="60" name="Text 52"/>
          <p:cNvSpPr txBox="1"/>
          <p:nvPr/>
        </p:nvSpPr>
        <p:spPr>
          <a:xfrm>
            <a:off x="6799478" y="1557223"/>
            <a:ext cx="1557223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비고 (실패 모드 &amp; 특징)</a:t>
            </a:r>
            <a:endParaRPr lang="en-US" sz="1100" dirty="0"/>
          </a:p>
        </p:txBody>
      </p:sp>
      <p:sp>
        <p:nvSpPr>
          <p:cNvPr id="61" name="Text 53"/>
          <p:cNvSpPr txBox="1"/>
          <p:nvPr/>
        </p:nvSpPr>
        <p:spPr>
          <a:xfrm>
            <a:off x="733349" y="2040941"/>
            <a:ext cx="1826971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(ResNet-50)</a:t>
            </a:r>
            <a:endParaRPr lang="en-US" sz="1000" dirty="0"/>
          </a:p>
        </p:txBody>
      </p:sp>
      <p:sp>
        <p:nvSpPr>
          <p:cNvPr id="62" name="Text 54"/>
          <p:cNvSpPr txBox="1"/>
          <p:nvPr/>
        </p:nvSpPr>
        <p:spPr>
          <a:xfrm>
            <a:off x="3491179" y="2040941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0.57</a:t>
            </a:r>
            <a:endParaRPr lang="en-US" sz="1000" dirty="0"/>
          </a:p>
        </p:txBody>
      </p:sp>
      <p:sp>
        <p:nvSpPr>
          <p:cNvPr id="63" name="Text 55"/>
          <p:cNvSpPr txBox="1"/>
          <p:nvPr/>
        </p:nvSpPr>
        <p:spPr>
          <a:xfrm>
            <a:off x="5145329" y="2040941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12.9</a:t>
            </a:r>
            <a:endParaRPr lang="en-US" sz="1000" dirty="0"/>
          </a:p>
        </p:txBody>
      </p:sp>
      <p:sp>
        <p:nvSpPr>
          <p:cNvPr id="64" name="Text 56"/>
          <p:cNvSpPr txBox="1"/>
          <p:nvPr/>
        </p:nvSpPr>
        <p:spPr>
          <a:xfrm>
            <a:off x="733349" y="2522830"/>
            <a:ext cx="11320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EfficientDet-D0</a:t>
            </a:r>
            <a:endParaRPr lang="en-US" sz="1000" dirty="0"/>
          </a:p>
        </p:txBody>
      </p:sp>
      <p:sp>
        <p:nvSpPr>
          <p:cNvPr id="65" name="Text 57"/>
          <p:cNvSpPr txBox="1"/>
          <p:nvPr/>
        </p:nvSpPr>
        <p:spPr>
          <a:xfrm>
            <a:off x="3491179" y="2522830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0.67</a:t>
            </a:r>
            <a:endParaRPr lang="en-US" sz="1000" dirty="0"/>
          </a:p>
        </p:txBody>
      </p:sp>
      <p:sp>
        <p:nvSpPr>
          <p:cNvPr id="66" name="Text 58"/>
          <p:cNvSpPr txBox="1"/>
          <p:nvPr/>
        </p:nvSpPr>
        <p:spPr>
          <a:xfrm>
            <a:off x="5145329" y="2522830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30.66</a:t>
            </a:r>
            <a:endParaRPr lang="en-US" sz="1000" dirty="0"/>
          </a:p>
        </p:txBody>
      </p:sp>
      <p:sp>
        <p:nvSpPr>
          <p:cNvPr id="67" name="Text 59"/>
          <p:cNvSpPr txBox="1"/>
          <p:nvPr/>
        </p:nvSpPr>
        <p:spPr>
          <a:xfrm>
            <a:off x="733349" y="3005633"/>
            <a:ext cx="1608430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(Swin-T)</a:t>
            </a:r>
            <a:endParaRPr lang="en-US" sz="1000" dirty="0"/>
          </a:p>
        </p:txBody>
      </p:sp>
      <p:sp>
        <p:nvSpPr>
          <p:cNvPr id="68" name="Text 60"/>
          <p:cNvSpPr txBox="1"/>
          <p:nvPr/>
        </p:nvSpPr>
        <p:spPr>
          <a:xfrm>
            <a:off x="3491179" y="3005633"/>
            <a:ext cx="3703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</a:t>
            </a:r>
            <a:endParaRPr lang="en-US" sz="1000" dirty="0"/>
          </a:p>
        </p:txBody>
      </p:sp>
      <p:sp>
        <p:nvSpPr>
          <p:cNvPr id="69" name="Text 61"/>
          <p:cNvSpPr txBox="1"/>
          <p:nvPr/>
        </p:nvSpPr>
        <p:spPr>
          <a:xfrm>
            <a:off x="5145329" y="3005633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41.98</a:t>
            </a:r>
            <a:endParaRPr lang="en-US" sz="1000" dirty="0"/>
          </a:p>
        </p:txBody>
      </p:sp>
      <p:sp>
        <p:nvSpPr>
          <p:cNvPr id="70" name="Text 62"/>
          <p:cNvSpPr txBox="1"/>
          <p:nvPr/>
        </p:nvSpPr>
        <p:spPr>
          <a:xfrm>
            <a:off x="3491179" y="3487522"/>
            <a:ext cx="446227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1000" dirty="0"/>
          </a:p>
        </p:txBody>
      </p:sp>
      <p:sp>
        <p:nvSpPr>
          <p:cNvPr id="71" name="Text 63"/>
          <p:cNvSpPr txBox="1"/>
          <p:nvPr/>
        </p:nvSpPr>
        <p:spPr>
          <a:xfrm>
            <a:off x="5145329" y="3487522"/>
            <a:ext cx="722376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</a:t>
            </a:r>
            <a:endParaRPr lang="en-US" sz="1000" dirty="0"/>
          </a:p>
        </p:txBody>
      </p:sp>
      <p:sp>
        <p:nvSpPr>
          <p:cNvPr id="72" name="Text 64"/>
          <p:cNvSpPr txBox="1"/>
          <p:nvPr/>
        </p:nvSpPr>
        <p:spPr>
          <a:xfrm>
            <a:off x="886054" y="4892954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</a:t>
            </a:r>
            <a:endParaRPr lang="en-US" sz="900" dirty="0"/>
          </a:p>
        </p:txBody>
      </p:sp>
      <p:sp>
        <p:nvSpPr>
          <p:cNvPr id="73" name="Text 65"/>
          <p:cNvSpPr txBox="1"/>
          <p:nvPr/>
        </p:nvSpPr>
        <p:spPr>
          <a:xfrm>
            <a:off x="1741018" y="4845406"/>
            <a:ext cx="3519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점수는 높지만 BBox 불안정성으로 사용자 경험(UX) 저하 우려</a:t>
            </a:r>
            <a:endParaRPr lang="en-US" sz="1000" dirty="0"/>
          </a:p>
        </p:txBody>
      </p:sp>
      <p:sp>
        <p:nvSpPr>
          <p:cNvPr id="74" name="Text 66"/>
          <p:cNvSpPr txBox="1"/>
          <p:nvPr/>
        </p:nvSpPr>
        <p:spPr>
          <a:xfrm>
            <a:off x="886054" y="5255057"/>
            <a:ext cx="724205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Swin-Trans</a:t>
            </a:r>
            <a:endParaRPr lang="en-US" sz="900" dirty="0"/>
          </a:p>
        </p:txBody>
      </p:sp>
      <p:sp>
        <p:nvSpPr>
          <p:cNvPr id="75" name="Text 67"/>
          <p:cNvSpPr txBox="1"/>
          <p:nvPr/>
        </p:nvSpPr>
        <p:spPr>
          <a:xfrm>
            <a:off x="1705356" y="5207508"/>
            <a:ext cx="37965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빠르지만 '과잉 확신(Overconfidence)'으로 오탐 리스크 존재</a:t>
            </a:r>
            <a:endParaRPr lang="en-US" sz="1000" dirty="0"/>
          </a:p>
        </p:txBody>
      </p:sp>
      <p:sp>
        <p:nvSpPr>
          <p:cNvPr id="76" name="Text 68"/>
          <p:cNvSpPr txBox="1"/>
          <p:nvPr/>
        </p:nvSpPr>
        <p:spPr>
          <a:xfrm>
            <a:off x="571500" y="6409944"/>
            <a:ext cx="1791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Model Selection</a:t>
            </a:r>
            <a:endParaRPr lang="en-US" sz="900" dirty="0"/>
          </a:p>
        </p:txBody>
      </p:sp>
      <p:sp>
        <p:nvSpPr>
          <p:cNvPr id="77" name="Text 6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20/33</a:t>
            </a:r>
            <a:endParaRPr lang="en-US" sz="900" dirty="0"/>
          </a:p>
        </p:txBody>
      </p:sp>
      <p:sp>
        <p:nvSpPr>
          <p:cNvPr id="78" name="Shape 70"/>
          <p:cNvSpPr/>
          <p:nvPr/>
        </p:nvSpPr>
        <p:spPr>
          <a:xfrm>
            <a:off x="6210605" y="4045306"/>
            <a:ext cx="5410505" cy="1828800"/>
          </a:xfrm>
          <a:prstGeom prst="roundRect">
            <a:avLst>
              <a:gd name="adj" fmla="val 3125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79" name="Shape 71"/>
          <p:cNvSpPr/>
          <p:nvPr/>
        </p:nvSpPr>
        <p:spPr>
          <a:xfrm>
            <a:off x="6210605" y="4045306"/>
            <a:ext cx="57607" cy="1828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80" name="Text 72"/>
          <p:cNvSpPr txBox="1"/>
          <p:nvPr/>
        </p:nvSpPr>
        <p:spPr>
          <a:xfrm>
            <a:off x="571500" y="514807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3. MODEL</a:t>
            </a:r>
            <a:endParaRPr lang="en-US" sz="900" dirty="0"/>
          </a:p>
        </p:txBody>
      </p:sp>
      <p:sp>
        <p:nvSpPr>
          <p:cNvPr id="81" name="Text 73"/>
          <p:cNvSpPr txBox="1"/>
          <p:nvPr/>
        </p:nvSpPr>
        <p:spPr>
          <a:xfrm>
            <a:off x="571500" y="676656"/>
            <a:ext cx="4825289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베이스라인 비교: 정확도 + 속도 + 배포</a:t>
            </a:r>
            <a:endParaRPr lang="en-US" sz="2200" dirty="0"/>
          </a:p>
        </p:txBody>
      </p:sp>
      <p:sp>
        <p:nvSpPr>
          <p:cNvPr id="82" name="Text 74"/>
          <p:cNvSpPr txBox="1"/>
          <p:nvPr/>
        </p:nvSpPr>
        <p:spPr>
          <a:xfrm>
            <a:off x="8539582" y="776326"/>
            <a:ext cx="32150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mAP (@50:95) &amp; FPS Analysis</a:t>
            </a:r>
            <a:endParaRPr lang="en-US" sz="1300" dirty="0"/>
          </a:p>
        </p:txBody>
      </p:sp>
      <p:pic>
        <p:nvPicPr>
          <p:cNvPr id="83" name="Image 6" descr="preencoded.png">    </p:cNvPr>
          <p:cNvPicPr>
            <a:picLocks noChangeAspect="1"/>
          </p:cNvPicPr>
          <p:nvPr/>
        </p:nvPicPr>
        <p:blipFill>
          <a:blip r:embed="rId7"/>
          <a:srcRect l="-1648" r="-1648" t="0" b="0"/>
          <a:stretch/>
        </p:blipFill>
        <p:spPr>
          <a:xfrm>
            <a:off x="6601054" y="4529023"/>
            <a:ext cx="171907" cy="190195"/>
          </a:xfrm>
          <a:prstGeom prst="rect">
            <a:avLst/>
          </a:prstGeom>
        </p:spPr>
      </p:pic>
      <p:sp>
        <p:nvSpPr>
          <p:cNvPr id="84" name="Text 75"/>
          <p:cNvSpPr txBox="1"/>
          <p:nvPr/>
        </p:nvSpPr>
        <p:spPr>
          <a:xfrm>
            <a:off x="6991502" y="4481474"/>
            <a:ext cx="9052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결론</a:t>
            </a:r>
            <a:endParaRPr lang="en-US" sz="1500" dirty="0"/>
          </a:p>
        </p:txBody>
      </p:sp>
      <p:sp>
        <p:nvSpPr>
          <p:cNvPr id="85" name="Text 76"/>
          <p:cNvSpPr txBox="1"/>
          <p:nvPr/>
        </p:nvSpPr>
        <p:spPr>
          <a:xfrm>
            <a:off x="6495898" y="4938674"/>
            <a:ext cx="4977079" cy="5340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"최종 모델"은 점수 1개가 아니라, 서비스 목적(속도/배포)에 맞는 균형으로 결정했습니다.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657454" y="1352398"/>
            <a:ext cx="133502" cy="15270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80644" y="2009851"/>
            <a:ext cx="2210105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7" name="Shape 4"/>
          <p:cNvSpPr/>
          <p:nvPr/>
        </p:nvSpPr>
        <p:spPr>
          <a:xfrm>
            <a:off x="2781605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2787091" y="2009851"/>
            <a:ext cx="1324051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Shape 6"/>
          <p:cNvSpPr/>
          <p:nvPr/>
        </p:nvSpPr>
        <p:spPr>
          <a:xfrm>
            <a:off x="4101998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0" name="Shape 7"/>
          <p:cNvSpPr/>
          <p:nvPr/>
        </p:nvSpPr>
        <p:spPr>
          <a:xfrm>
            <a:off x="4110228" y="2009851"/>
            <a:ext cx="886054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Shape 8"/>
          <p:cNvSpPr/>
          <p:nvPr/>
        </p:nvSpPr>
        <p:spPr>
          <a:xfrm>
            <a:off x="4987138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4992624" y="2009851"/>
            <a:ext cx="1104595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Shape 10"/>
          <p:cNvSpPr/>
          <p:nvPr/>
        </p:nvSpPr>
        <p:spPr>
          <a:xfrm>
            <a:off x="6088075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6095390" y="2009851"/>
            <a:ext cx="1657807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Shape 12"/>
          <p:cNvSpPr/>
          <p:nvPr/>
        </p:nvSpPr>
        <p:spPr>
          <a:xfrm>
            <a:off x="7744054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6" name="Shape 13"/>
          <p:cNvSpPr/>
          <p:nvPr/>
        </p:nvSpPr>
        <p:spPr>
          <a:xfrm>
            <a:off x="7750454" y="2009851"/>
            <a:ext cx="1657807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Shape 14"/>
          <p:cNvSpPr/>
          <p:nvPr/>
        </p:nvSpPr>
        <p:spPr>
          <a:xfrm>
            <a:off x="9399118" y="2009851"/>
            <a:ext cx="9144" cy="647395"/>
          </a:xfrm>
          <a:prstGeom prst="rect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5"/>
          <p:cNvSpPr/>
          <p:nvPr/>
        </p:nvSpPr>
        <p:spPr>
          <a:xfrm>
            <a:off x="9404604" y="2009851"/>
            <a:ext cx="2210105" cy="6473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9" name="Shape 16"/>
          <p:cNvSpPr/>
          <p:nvPr/>
        </p:nvSpPr>
        <p:spPr>
          <a:xfrm>
            <a:off x="580644" y="2649931"/>
            <a:ext cx="2210105" cy="629107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787091" y="2649931"/>
            <a:ext cx="1324051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10228" y="2649931"/>
            <a:ext cx="886054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992624" y="2649931"/>
            <a:ext cx="1104595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95390" y="2649931"/>
            <a:ext cx="16578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7750454" y="2649931"/>
            <a:ext cx="16578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7883042" y="3073298"/>
            <a:ext cx="1380744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/>
        </p:spPr>
      </p:sp>
      <p:sp>
        <p:nvSpPr>
          <p:cNvPr id="26" name="Shape 23"/>
          <p:cNvSpPr/>
          <p:nvPr/>
        </p:nvSpPr>
        <p:spPr>
          <a:xfrm>
            <a:off x="7883042" y="3073298"/>
            <a:ext cx="418795" cy="57607"/>
          </a:xfrm>
          <a:prstGeom prst="roundRect">
            <a:avLst>
              <a:gd name="adj" fmla="val 793654"/>
            </a:avLst>
          </a:prstGeom>
          <a:solidFill>
            <a:srgbClr val="F87171"/>
          </a:solidFill>
          <a:ln/>
        </p:spPr>
      </p:sp>
      <p:sp>
        <p:nvSpPr>
          <p:cNvPr id="27" name="Shape 24"/>
          <p:cNvSpPr/>
          <p:nvPr/>
        </p:nvSpPr>
        <p:spPr>
          <a:xfrm>
            <a:off x="9404604" y="2649931"/>
            <a:ext cx="2210105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8" name="Shape 25"/>
          <p:cNvSpPr/>
          <p:nvPr/>
        </p:nvSpPr>
        <p:spPr>
          <a:xfrm>
            <a:off x="9404604" y="3269894"/>
            <a:ext cx="22101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29" name="Shape 26"/>
          <p:cNvSpPr/>
          <p:nvPr/>
        </p:nvSpPr>
        <p:spPr>
          <a:xfrm>
            <a:off x="580644" y="3277210"/>
            <a:ext cx="2210105" cy="629107"/>
          </a:xfrm>
          <a:prstGeom prst="rect">
            <a:avLst/>
          </a:prstGeom>
          <a:solidFill>
            <a:srgbClr val="F8FAFC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2787091" y="3277210"/>
            <a:ext cx="1324051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4110228" y="3277210"/>
            <a:ext cx="886054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4992624" y="3277210"/>
            <a:ext cx="1104595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095390" y="3277210"/>
            <a:ext cx="16578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750454" y="3277210"/>
            <a:ext cx="1657807" cy="629107"/>
          </a:xfrm>
          <a:prstGeom prst="rect">
            <a:avLst/>
          </a:prstGeom>
          <a:solidFill>
            <a:srgbClr val="FFFFFF"/>
          </a:solidFill>
          <a:ln w="12700">
            <a:solidFill>
              <a:srgbClr val="F1F5F9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7883042" y="3699662"/>
            <a:ext cx="1380744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/>
        </p:spPr>
      </p:sp>
      <p:sp>
        <p:nvSpPr>
          <p:cNvPr id="36" name="Shape 33"/>
          <p:cNvSpPr/>
          <p:nvPr/>
        </p:nvSpPr>
        <p:spPr>
          <a:xfrm>
            <a:off x="9404604" y="3277210"/>
            <a:ext cx="2210105" cy="62910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Shape 34"/>
          <p:cNvSpPr/>
          <p:nvPr/>
        </p:nvSpPr>
        <p:spPr>
          <a:xfrm>
            <a:off x="9404604" y="3897173"/>
            <a:ext cx="221010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8" name="Shape 35"/>
          <p:cNvSpPr/>
          <p:nvPr/>
        </p:nvSpPr>
        <p:spPr>
          <a:xfrm>
            <a:off x="580644" y="3903574"/>
            <a:ext cx="2210105" cy="619049"/>
          </a:xfrm>
          <a:prstGeom prst="rect">
            <a:avLst/>
          </a:prstGeom>
          <a:solidFill>
            <a:srgbClr val="F8FAFC"/>
          </a:solidFill>
          <a:ln/>
        </p:spPr>
      </p:sp>
      <p:sp>
        <p:nvSpPr>
          <p:cNvPr id="39" name="Shape 36"/>
          <p:cNvSpPr/>
          <p:nvPr/>
        </p:nvSpPr>
        <p:spPr>
          <a:xfrm>
            <a:off x="2781605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0" name="Shape 37"/>
          <p:cNvSpPr/>
          <p:nvPr/>
        </p:nvSpPr>
        <p:spPr>
          <a:xfrm>
            <a:off x="2787091" y="3903574"/>
            <a:ext cx="1324051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1" name="Shape 38"/>
          <p:cNvSpPr/>
          <p:nvPr/>
        </p:nvSpPr>
        <p:spPr>
          <a:xfrm>
            <a:off x="4101998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2" name="Shape 39"/>
          <p:cNvSpPr/>
          <p:nvPr/>
        </p:nvSpPr>
        <p:spPr>
          <a:xfrm>
            <a:off x="4110228" y="3903574"/>
            <a:ext cx="886054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3" name="Shape 40"/>
          <p:cNvSpPr/>
          <p:nvPr/>
        </p:nvSpPr>
        <p:spPr>
          <a:xfrm>
            <a:off x="4987138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4" name="Shape 41"/>
          <p:cNvSpPr/>
          <p:nvPr/>
        </p:nvSpPr>
        <p:spPr>
          <a:xfrm>
            <a:off x="4992624" y="3903574"/>
            <a:ext cx="110459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5" name="Shape 42"/>
          <p:cNvSpPr/>
          <p:nvPr/>
        </p:nvSpPr>
        <p:spPr>
          <a:xfrm>
            <a:off x="6088075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6" name="Shape 43"/>
          <p:cNvSpPr/>
          <p:nvPr/>
        </p:nvSpPr>
        <p:spPr>
          <a:xfrm>
            <a:off x="6095390" y="3903574"/>
            <a:ext cx="1657807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44"/>
          <p:cNvSpPr/>
          <p:nvPr/>
        </p:nvSpPr>
        <p:spPr>
          <a:xfrm>
            <a:off x="7744054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48" name="Shape 45"/>
          <p:cNvSpPr/>
          <p:nvPr/>
        </p:nvSpPr>
        <p:spPr>
          <a:xfrm>
            <a:off x="7750454" y="3903574"/>
            <a:ext cx="1657807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Shape 46"/>
          <p:cNvSpPr/>
          <p:nvPr/>
        </p:nvSpPr>
        <p:spPr>
          <a:xfrm>
            <a:off x="9399118" y="3903574"/>
            <a:ext cx="9144" cy="619049"/>
          </a:xfrm>
          <a:prstGeom prst="rect">
            <a:avLst/>
          </a:prstGeom>
          <a:solidFill>
            <a:srgbClr val="F1F5F9"/>
          </a:solidFill>
          <a:ln/>
        </p:spPr>
      </p:sp>
      <p:sp>
        <p:nvSpPr>
          <p:cNvPr id="50" name="Shape 47"/>
          <p:cNvSpPr/>
          <p:nvPr/>
        </p:nvSpPr>
        <p:spPr>
          <a:xfrm>
            <a:off x="7883042" y="4326941"/>
            <a:ext cx="1380744" cy="57607"/>
          </a:xfrm>
          <a:prstGeom prst="roundRect">
            <a:avLst>
              <a:gd name="adj" fmla="val 793654"/>
            </a:avLst>
          </a:prstGeom>
          <a:solidFill>
            <a:srgbClr val="E5E7EB"/>
          </a:solidFill>
          <a:ln/>
        </p:spPr>
      </p:sp>
      <p:sp>
        <p:nvSpPr>
          <p:cNvPr id="51" name="Shape 48"/>
          <p:cNvSpPr/>
          <p:nvPr/>
        </p:nvSpPr>
        <p:spPr>
          <a:xfrm>
            <a:off x="7883042" y="4326941"/>
            <a:ext cx="1380744" cy="57607"/>
          </a:xfrm>
          <a:prstGeom prst="roundRect">
            <a:avLst>
              <a:gd name="adj" fmla="val 793654"/>
            </a:avLst>
          </a:prstGeom>
          <a:solidFill>
            <a:srgbClr val="10B981"/>
          </a:solidFill>
          <a:ln/>
        </p:spPr>
      </p:sp>
      <p:sp>
        <p:nvSpPr>
          <p:cNvPr id="52" name="Shape 49"/>
          <p:cNvSpPr/>
          <p:nvPr/>
        </p:nvSpPr>
        <p:spPr>
          <a:xfrm>
            <a:off x="9404604" y="3903574"/>
            <a:ext cx="2210105" cy="61904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3" name="Shape 50"/>
          <p:cNvSpPr/>
          <p:nvPr/>
        </p:nvSpPr>
        <p:spPr>
          <a:xfrm>
            <a:off x="571500" y="5257800"/>
            <a:ext cx="5447995" cy="923544"/>
          </a:xfrm>
          <a:prstGeom prst="roundRect">
            <a:avLst>
              <a:gd name="adj" fmla="val 12249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4" name="Shape 51"/>
          <p:cNvSpPr/>
          <p:nvPr/>
        </p:nvSpPr>
        <p:spPr>
          <a:xfrm>
            <a:off x="733349" y="5419649"/>
            <a:ext cx="304495" cy="304495"/>
          </a:xfrm>
          <a:prstGeom prst="roundRect">
            <a:avLst>
              <a:gd name="adj" fmla="val 300300"/>
            </a:avLst>
          </a:prstGeom>
          <a:solidFill>
            <a:srgbClr val="DBEAFE"/>
          </a:solidFill>
          <a:ln/>
        </p:spPr>
      </p:sp>
      <p:pic>
        <p:nvPicPr>
          <p:cNvPr id="55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5495544"/>
            <a:ext cx="152705" cy="152705"/>
          </a:xfrm>
          <a:prstGeom prst="rect">
            <a:avLst/>
          </a:prstGeom>
        </p:spPr>
      </p:pic>
      <p:sp>
        <p:nvSpPr>
          <p:cNvPr id="56" name="Shape 52"/>
          <p:cNvSpPr/>
          <p:nvPr/>
        </p:nvSpPr>
        <p:spPr>
          <a:xfrm>
            <a:off x="6172200" y="5257800"/>
            <a:ext cx="5447995" cy="923544"/>
          </a:xfrm>
          <a:prstGeom prst="roundRect">
            <a:avLst>
              <a:gd name="adj" fmla="val 12249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5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409944" y="5495544"/>
            <a:ext cx="152705" cy="152705"/>
          </a:xfrm>
          <a:prstGeom prst="rect">
            <a:avLst/>
          </a:prstGeom>
        </p:spPr>
      </p:pic>
      <p:sp>
        <p:nvSpPr>
          <p:cNvPr id="58" name="Shape 53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59" name="Text 54"/>
          <p:cNvSpPr txBox="1"/>
          <p:nvPr/>
        </p:nvSpPr>
        <p:spPr>
          <a:xfrm>
            <a:off x="571500" y="504749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3. MODEL</a:t>
            </a:r>
            <a:endParaRPr lang="en-US" sz="900" dirty="0"/>
          </a:p>
        </p:txBody>
      </p:sp>
      <p:sp>
        <p:nvSpPr>
          <p:cNvPr id="60" name="Text 55"/>
          <p:cNvSpPr txBox="1"/>
          <p:nvPr/>
        </p:nvSpPr>
        <p:spPr>
          <a:xfrm>
            <a:off x="571500" y="629107"/>
            <a:ext cx="27624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비교 상세 표</a:t>
            </a:r>
            <a:endParaRPr lang="en-US" sz="2700" dirty="0"/>
          </a:p>
        </p:txBody>
      </p:sp>
      <p:sp>
        <p:nvSpPr>
          <p:cNvPr id="61" name="Text 56"/>
          <p:cNvSpPr txBox="1"/>
          <p:nvPr/>
        </p:nvSpPr>
        <p:spPr>
          <a:xfrm>
            <a:off x="990295" y="1285646"/>
            <a:ext cx="32104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환경 및 3종 베이스라인 모델 비교</a:t>
            </a:r>
            <a:endParaRPr lang="en-US" sz="1500" dirty="0"/>
          </a:p>
        </p:txBody>
      </p:sp>
      <p:sp>
        <p:nvSpPr>
          <p:cNvPr id="62" name="Text 57"/>
          <p:cNvSpPr txBox="1"/>
          <p:nvPr/>
        </p:nvSpPr>
        <p:spPr>
          <a:xfrm>
            <a:off x="990295" y="1657807"/>
            <a:ext cx="62535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성격이 서로 다른 3종의 모델(Two-stage, One-stage, Transformer)을 동일 조건 하에서 비교 실험하였습니다.</a:t>
            </a:r>
            <a:endParaRPr lang="en-US" sz="1000" dirty="0"/>
          </a:p>
        </p:txBody>
      </p:sp>
      <p:sp>
        <p:nvSpPr>
          <p:cNvPr id="63" name="Text 58"/>
          <p:cNvSpPr txBox="1"/>
          <p:nvPr/>
        </p:nvSpPr>
        <p:spPr>
          <a:xfrm>
            <a:off x="1490472" y="2226564"/>
            <a:ext cx="484632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모델명</a:t>
            </a:r>
            <a:endParaRPr lang="en-US" sz="1000" dirty="0"/>
          </a:p>
        </p:txBody>
      </p:sp>
      <p:sp>
        <p:nvSpPr>
          <p:cNvPr id="64" name="Text 59"/>
          <p:cNvSpPr txBox="1"/>
          <p:nvPr/>
        </p:nvSpPr>
        <p:spPr>
          <a:xfrm>
            <a:off x="3108046" y="2226564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Backbone</a:t>
            </a:r>
            <a:endParaRPr lang="en-US" sz="1000" dirty="0"/>
          </a:p>
        </p:txBody>
      </p:sp>
      <p:sp>
        <p:nvSpPr>
          <p:cNvPr id="65" name="Text 60"/>
          <p:cNvSpPr txBox="1"/>
          <p:nvPr/>
        </p:nvSpPr>
        <p:spPr>
          <a:xfrm>
            <a:off x="4354373" y="2124151"/>
            <a:ext cx="493776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LR / Batch</a:t>
            </a:r>
            <a:endParaRPr lang="en-US" sz="1000" dirty="0"/>
          </a:p>
        </p:txBody>
      </p:sp>
      <p:sp>
        <p:nvSpPr>
          <p:cNvPr id="66" name="Text 61"/>
          <p:cNvSpPr txBox="1"/>
          <p:nvPr/>
        </p:nvSpPr>
        <p:spPr>
          <a:xfrm>
            <a:off x="5204765" y="2226564"/>
            <a:ext cx="7799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Optimizer</a:t>
            </a:r>
            <a:endParaRPr lang="en-US" sz="1000" dirty="0"/>
          </a:p>
        </p:txBody>
      </p:sp>
      <p:sp>
        <p:nvSpPr>
          <p:cNvPr id="67" name="Text 62"/>
          <p:cNvSpPr txBox="1"/>
          <p:nvPr/>
        </p:nvSpPr>
        <p:spPr>
          <a:xfrm>
            <a:off x="6374282" y="2226564"/>
            <a:ext cx="11987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Epoch당 소요시간</a:t>
            </a:r>
            <a:endParaRPr lang="en-US" sz="1000" dirty="0"/>
          </a:p>
        </p:txBody>
      </p:sp>
      <p:sp>
        <p:nvSpPr>
          <p:cNvPr id="68" name="Text 63"/>
          <p:cNvSpPr txBox="1"/>
          <p:nvPr/>
        </p:nvSpPr>
        <p:spPr>
          <a:xfrm>
            <a:off x="8121701" y="2226564"/>
            <a:ext cx="1008583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연산속도 (FPS)</a:t>
            </a:r>
            <a:endParaRPr lang="en-US" sz="1000" dirty="0"/>
          </a:p>
        </p:txBody>
      </p:sp>
      <p:sp>
        <p:nvSpPr>
          <p:cNvPr id="69" name="Text 64"/>
          <p:cNvSpPr txBox="1"/>
          <p:nvPr/>
        </p:nvSpPr>
        <p:spPr>
          <a:xfrm>
            <a:off x="9906610" y="2226564"/>
            <a:ext cx="1313078" cy="2002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 mAP (@50:95)</a:t>
            </a:r>
            <a:endParaRPr lang="en-US" sz="1000" dirty="0"/>
          </a:p>
        </p:txBody>
      </p:sp>
      <p:sp>
        <p:nvSpPr>
          <p:cNvPr id="70" name="Text 65"/>
          <p:cNvSpPr txBox="1"/>
          <p:nvPr/>
        </p:nvSpPr>
        <p:spPr>
          <a:xfrm>
            <a:off x="714146" y="2764231"/>
            <a:ext cx="1631290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Two-stage Detector</a:t>
            </a:r>
            <a:endParaRPr lang="en-US" sz="1000" dirty="0"/>
          </a:p>
        </p:txBody>
      </p:sp>
      <p:sp>
        <p:nvSpPr>
          <p:cNvPr id="71" name="Text 66"/>
          <p:cNvSpPr txBox="1"/>
          <p:nvPr/>
        </p:nvSpPr>
        <p:spPr>
          <a:xfrm>
            <a:off x="3137306" y="2861158"/>
            <a:ext cx="71689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ResNet-50</a:t>
            </a:r>
            <a:endParaRPr lang="en-US" sz="1000" dirty="0"/>
          </a:p>
        </p:txBody>
      </p:sp>
      <p:sp>
        <p:nvSpPr>
          <p:cNvPr id="72" name="Text 67"/>
          <p:cNvSpPr txBox="1"/>
          <p:nvPr/>
        </p:nvSpPr>
        <p:spPr>
          <a:xfrm>
            <a:off x="4384548" y="2785262"/>
            <a:ext cx="4215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0.005</a:t>
            </a:r>
            <a:endParaRPr lang="en-US" sz="1000" dirty="0"/>
          </a:p>
        </p:txBody>
      </p:sp>
      <p:sp>
        <p:nvSpPr>
          <p:cNvPr id="73" name="Text 68"/>
          <p:cNvSpPr txBox="1"/>
          <p:nvPr/>
        </p:nvSpPr>
        <p:spPr>
          <a:xfrm>
            <a:off x="4329684" y="2969971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Batch: 2</a:t>
            </a:r>
            <a:endParaRPr lang="en-US" sz="900" dirty="0"/>
          </a:p>
        </p:txBody>
      </p:sp>
      <p:sp>
        <p:nvSpPr>
          <p:cNvPr id="74" name="Text 69"/>
          <p:cNvSpPr txBox="1"/>
          <p:nvPr/>
        </p:nvSpPr>
        <p:spPr>
          <a:xfrm>
            <a:off x="5411419" y="2861158"/>
            <a:ext cx="3547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SGD</a:t>
            </a:r>
            <a:endParaRPr lang="en-US" sz="1000" dirty="0"/>
          </a:p>
        </p:txBody>
      </p:sp>
      <p:sp>
        <p:nvSpPr>
          <p:cNvPr id="75" name="Text 70"/>
          <p:cNvSpPr txBox="1"/>
          <p:nvPr/>
        </p:nvSpPr>
        <p:spPr>
          <a:xfrm>
            <a:off x="6698894" y="2785262"/>
            <a:ext cx="5449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100s</a:t>
            </a:r>
            <a:endParaRPr lang="en-US" sz="1000" dirty="0"/>
          </a:p>
        </p:txBody>
      </p:sp>
      <p:sp>
        <p:nvSpPr>
          <p:cNvPr id="76" name="Text 71"/>
          <p:cNvSpPr txBox="1"/>
          <p:nvPr/>
        </p:nvSpPr>
        <p:spPr>
          <a:xfrm>
            <a:off x="6813194" y="2969971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느림</a:t>
            </a:r>
            <a:endParaRPr lang="en-US" sz="900" dirty="0"/>
          </a:p>
        </p:txBody>
      </p:sp>
      <p:sp>
        <p:nvSpPr>
          <p:cNvPr id="77" name="Text 72"/>
          <p:cNvSpPr txBox="1"/>
          <p:nvPr/>
        </p:nvSpPr>
        <p:spPr>
          <a:xfrm>
            <a:off x="8239658" y="2787091"/>
            <a:ext cx="7818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12.9 FPS</a:t>
            </a:r>
            <a:endParaRPr lang="en-US" sz="1200" dirty="0"/>
          </a:p>
        </p:txBody>
      </p:sp>
      <p:sp>
        <p:nvSpPr>
          <p:cNvPr id="78" name="Text 73"/>
          <p:cNvSpPr txBox="1"/>
          <p:nvPr/>
        </p:nvSpPr>
        <p:spPr>
          <a:xfrm>
            <a:off x="10341864" y="2767889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0.57</a:t>
            </a:r>
            <a:endParaRPr lang="en-US" sz="1200" dirty="0"/>
          </a:p>
        </p:txBody>
      </p:sp>
      <p:sp>
        <p:nvSpPr>
          <p:cNvPr id="79" name="Text 74"/>
          <p:cNvSpPr txBox="1"/>
          <p:nvPr/>
        </p:nvSpPr>
        <p:spPr>
          <a:xfrm>
            <a:off x="10159898" y="2987345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각인 구분 약함</a:t>
            </a:r>
            <a:endParaRPr lang="en-US" sz="900" dirty="0"/>
          </a:p>
        </p:txBody>
      </p:sp>
      <p:sp>
        <p:nvSpPr>
          <p:cNvPr id="80" name="Text 75"/>
          <p:cNvSpPr txBox="1"/>
          <p:nvPr/>
        </p:nvSpPr>
        <p:spPr>
          <a:xfrm>
            <a:off x="714146" y="3391510"/>
            <a:ext cx="1754734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EfficientDet-D0 One-stage Detector</a:t>
            </a:r>
            <a:endParaRPr lang="en-US" sz="1000" dirty="0"/>
          </a:p>
        </p:txBody>
      </p:sp>
      <p:sp>
        <p:nvSpPr>
          <p:cNvPr id="81" name="Text 76"/>
          <p:cNvSpPr txBox="1"/>
          <p:nvPr/>
        </p:nvSpPr>
        <p:spPr>
          <a:xfrm>
            <a:off x="2988259" y="3488436"/>
            <a:ext cx="1012241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EfficientNet-B0</a:t>
            </a:r>
            <a:endParaRPr lang="en-US" sz="1000" dirty="0"/>
          </a:p>
        </p:txBody>
      </p:sp>
      <p:sp>
        <p:nvSpPr>
          <p:cNvPr id="82" name="Text 77"/>
          <p:cNvSpPr txBox="1"/>
          <p:nvPr/>
        </p:nvSpPr>
        <p:spPr>
          <a:xfrm>
            <a:off x="4348886" y="3412541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0.0001</a:t>
            </a:r>
            <a:endParaRPr lang="en-US" sz="1000" dirty="0"/>
          </a:p>
        </p:txBody>
      </p:sp>
      <p:sp>
        <p:nvSpPr>
          <p:cNvPr id="83" name="Text 78"/>
          <p:cNvSpPr txBox="1"/>
          <p:nvPr/>
        </p:nvSpPr>
        <p:spPr>
          <a:xfrm>
            <a:off x="4329684" y="3597250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Batch: 4</a:t>
            </a:r>
            <a:endParaRPr lang="en-US" sz="900" dirty="0"/>
          </a:p>
        </p:txBody>
      </p:sp>
      <p:sp>
        <p:nvSpPr>
          <p:cNvPr id="84" name="Text 79"/>
          <p:cNvSpPr txBox="1"/>
          <p:nvPr/>
        </p:nvSpPr>
        <p:spPr>
          <a:xfrm>
            <a:off x="5306263" y="3488436"/>
            <a:ext cx="564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AdamW</a:t>
            </a:r>
            <a:endParaRPr lang="en-US" sz="1000" dirty="0"/>
          </a:p>
        </p:txBody>
      </p:sp>
      <p:sp>
        <p:nvSpPr>
          <p:cNvPr id="85" name="Text 80"/>
          <p:cNvSpPr txBox="1"/>
          <p:nvPr/>
        </p:nvSpPr>
        <p:spPr>
          <a:xfrm>
            <a:off x="6735470" y="3412541"/>
            <a:ext cx="4690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70s</a:t>
            </a:r>
            <a:endParaRPr lang="en-US" sz="1000" dirty="0"/>
          </a:p>
        </p:txBody>
      </p:sp>
      <p:sp>
        <p:nvSpPr>
          <p:cNvPr id="86" name="Text 81"/>
          <p:cNvSpPr txBox="1"/>
          <p:nvPr/>
        </p:nvSpPr>
        <p:spPr>
          <a:xfrm>
            <a:off x="6813194" y="3597250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보통</a:t>
            </a:r>
            <a:endParaRPr lang="en-US" sz="900" dirty="0"/>
          </a:p>
        </p:txBody>
      </p:sp>
      <p:sp>
        <p:nvSpPr>
          <p:cNvPr id="87" name="Text 82"/>
          <p:cNvSpPr txBox="1"/>
          <p:nvPr/>
        </p:nvSpPr>
        <p:spPr>
          <a:xfrm>
            <a:off x="8193024" y="3414370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30.66 FPS</a:t>
            </a:r>
            <a:endParaRPr lang="en-US" sz="1200" dirty="0"/>
          </a:p>
        </p:txBody>
      </p:sp>
      <p:sp>
        <p:nvSpPr>
          <p:cNvPr id="88" name="Text 83"/>
          <p:cNvSpPr txBox="1"/>
          <p:nvPr/>
        </p:nvSpPr>
        <p:spPr>
          <a:xfrm>
            <a:off x="10341864" y="3395167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0.67</a:t>
            </a:r>
            <a:endParaRPr lang="en-US" sz="1200" dirty="0"/>
          </a:p>
        </p:txBody>
      </p:sp>
      <p:sp>
        <p:nvSpPr>
          <p:cNvPr id="89" name="Text 84"/>
          <p:cNvSpPr txBox="1"/>
          <p:nvPr/>
        </p:nvSpPr>
        <p:spPr>
          <a:xfrm>
            <a:off x="10197389" y="3613709"/>
            <a:ext cx="7150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BBox 불규칙</a:t>
            </a:r>
            <a:endParaRPr lang="en-US" sz="900" dirty="0"/>
          </a:p>
        </p:txBody>
      </p:sp>
      <p:sp>
        <p:nvSpPr>
          <p:cNvPr id="90" name="Text 85"/>
          <p:cNvSpPr txBox="1"/>
          <p:nvPr/>
        </p:nvSpPr>
        <p:spPr>
          <a:xfrm>
            <a:off x="714146" y="4017874"/>
            <a:ext cx="1773936" cy="3913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Transformer Hybrid</a:t>
            </a:r>
            <a:endParaRPr lang="en-US" sz="1000" dirty="0"/>
          </a:p>
        </p:txBody>
      </p:sp>
      <p:sp>
        <p:nvSpPr>
          <p:cNvPr id="91" name="Text 86"/>
          <p:cNvSpPr txBox="1"/>
          <p:nvPr/>
        </p:nvSpPr>
        <p:spPr>
          <a:xfrm>
            <a:off x="3235147" y="4114800"/>
            <a:ext cx="51663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Swin-T</a:t>
            </a:r>
            <a:endParaRPr lang="en-US" sz="1000" dirty="0"/>
          </a:p>
        </p:txBody>
      </p:sp>
      <p:sp>
        <p:nvSpPr>
          <p:cNvPr id="92" name="Text 87"/>
          <p:cNvSpPr txBox="1"/>
          <p:nvPr/>
        </p:nvSpPr>
        <p:spPr>
          <a:xfrm>
            <a:off x="4348886" y="4038905"/>
            <a:ext cx="49743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0.0001</a:t>
            </a:r>
            <a:endParaRPr lang="en-US" sz="1000" dirty="0"/>
          </a:p>
        </p:txBody>
      </p:sp>
      <p:sp>
        <p:nvSpPr>
          <p:cNvPr id="93" name="Text 88"/>
          <p:cNvSpPr txBox="1"/>
          <p:nvPr/>
        </p:nvSpPr>
        <p:spPr>
          <a:xfrm>
            <a:off x="4329684" y="4223614"/>
            <a:ext cx="523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Batch: 2</a:t>
            </a:r>
            <a:endParaRPr lang="en-US" sz="900" dirty="0"/>
          </a:p>
        </p:txBody>
      </p:sp>
      <p:sp>
        <p:nvSpPr>
          <p:cNvPr id="94" name="Text 89"/>
          <p:cNvSpPr txBox="1"/>
          <p:nvPr/>
        </p:nvSpPr>
        <p:spPr>
          <a:xfrm>
            <a:off x="5306263" y="4114800"/>
            <a:ext cx="56418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AdamW</a:t>
            </a:r>
            <a:endParaRPr lang="en-US" sz="1000" dirty="0"/>
          </a:p>
        </p:txBody>
      </p:sp>
      <p:sp>
        <p:nvSpPr>
          <p:cNvPr id="95" name="Text 90"/>
          <p:cNvSpPr txBox="1"/>
          <p:nvPr/>
        </p:nvSpPr>
        <p:spPr>
          <a:xfrm>
            <a:off x="6735470" y="4038905"/>
            <a:ext cx="46908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약 50s</a:t>
            </a:r>
            <a:endParaRPr lang="en-US" sz="1000" dirty="0"/>
          </a:p>
        </p:txBody>
      </p:sp>
      <p:sp>
        <p:nvSpPr>
          <p:cNvPr id="96" name="Text 91"/>
          <p:cNvSpPr txBox="1"/>
          <p:nvPr/>
        </p:nvSpPr>
        <p:spPr>
          <a:xfrm>
            <a:off x="6813194" y="422361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빠름</a:t>
            </a:r>
            <a:endParaRPr lang="en-US" sz="900" dirty="0"/>
          </a:p>
        </p:txBody>
      </p:sp>
      <p:sp>
        <p:nvSpPr>
          <p:cNvPr id="97" name="Text 92"/>
          <p:cNvSpPr txBox="1"/>
          <p:nvPr/>
        </p:nvSpPr>
        <p:spPr>
          <a:xfrm>
            <a:off x="8193024" y="4040734"/>
            <a:ext cx="8769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41.98 FPS</a:t>
            </a:r>
            <a:endParaRPr lang="en-US" sz="1200" dirty="0"/>
          </a:p>
        </p:txBody>
      </p:sp>
      <p:sp>
        <p:nvSpPr>
          <p:cNvPr id="98" name="Text 93"/>
          <p:cNvSpPr txBox="1"/>
          <p:nvPr/>
        </p:nvSpPr>
        <p:spPr>
          <a:xfrm>
            <a:off x="10341864" y="4021531"/>
            <a:ext cx="448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9770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0.64</a:t>
            </a:r>
            <a:endParaRPr lang="en-US" sz="1200" dirty="0"/>
          </a:p>
        </p:txBody>
      </p:sp>
      <p:sp>
        <p:nvSpPr>
          <p:cNvPr id="99" name="Text 94"/>
          <p:cNvSpPr txBox="1"/>
          <p:nvPr/>
        </p:nvSpPr>
        <p:spPr>
          <a:xfrm>
            <a:off x="10159898" y="4240987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과잉 확신 경향</a:t>
            </a:r>
            <a:endParaRPr lang="en-US" sz="900" dirty="0"/>
          </a:p>
        </p:txBody>
      </p:sp>
      <p:sp>
        <p:nvSpPr>
          <p:cNvPr id="100" name="Text 95"/>
          <p:cNvSpPr txBox="1"/>
          <p:nvPr/>
        </p:nvSpPr>
        <p:spPr>
          <a:xfrm>
            <a:off x="1152144" y="5419649"/>
            <a:ext cx="18534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vs 속도 Trade-off 확인</a:t>
            </a:r>
            <a:endParaRPr lang="en-US" sz="1000" dirty="0"/>
          </a:p>
        </p:txBody>
      </p:sp>
      <p:sp>
        <p:nvSpPr>
          <p:cNvPr id="101" name="Text 96"/>
          <p:cNvSpPr txBox="1"/>
          <p:nvPr/>
        </p:nvSpPr>
        <p:spPr>
          <a:xfrm>
            <a:off x="1152144" y="5658307"/>
            <a:ext cx="4724705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EfficientDet은 정확도가 높지만 속도가 중간 수준이며, Swin-Transformer는 속도는 가장 빠르지만 정확도가 다소 낮고 과잉 확신 경향이 있습니다.</a:t>
            </a:r>
            <a:endParaRPr lang="en-US" sz="900" dirty="0"/>
          </a:p>
        </p:txBody>
      </p:sp>
      <p:sp>
        <p:nvSpPr>
          <p:cNvPr id="102" name="Text 97"/>
          <p:cNvSpPr txBox="1"/>
          <p:nvPr/>
        </p:nvSpPr>
        <p:spPr>
          <a:xfrm>
            <a:off x="6752844" y="5419649"/>
            <a:ext cx="15672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서비스 적합성 판단</a:t>
            </a:r>
            <a:endParaRPr lang="en-US" sz="1000" dirty="0"/>
          </a:p>
        </p:txBody>
      </p:sp>
      <p:sp>
        <p:nvSpPr>
          <p:cNvPr id="103" name="Text 98"/>
          <p:cNvSpPr txBox="1"/>
          <p:nvPr/>
        </p:nvSpPr>
        <p:spPr>
          <a:xfrm>
            <a:off x="6752844" y="5658307"/>
            <a:ext cx="4772254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3종 모델 모두 "정확도+속도+배포 용이성"을 동시에 만족하기에는 한계가 있어, 이들의 장점을 결합한 YOLO 모델 도입을 결정했습니다.</a:t>
            </a:r>
            <a:endParaRPr lang="en-US" sz="900" dirty="0"/>
          </a:p>
        </p:txBody>
      </p:sp>
      <p:sp>
        <p:nvSpPr>
          <p:cNvPr id="104" name="Text 99"/>
          <p:cNvSpPr txBox="1"/>
          <p:nvPr/>
        </p:nvSpPr>
        <p:spPr>
          <a:xfrm>
            <a:off x="571500" y="6409944"/>
            <a:ext cx="15718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Detailed Model Comparison</a:t>
            </a:r>
            <a:endParaRPr lang="en-US" sz="900" dirty="0"/>
          </a:p>
        </p:txBody>
      </p:sp>
      <p:sp>
        <p:nvSpPr>
          <p:cNvPr id="105" name="Text 100"/>
          <p:cNvSpPr txBox="1"/>
          <p:nvPr/>
        </p:nvSpPr>
        <p:spPr>
          <a:xfrm>
            <a:off x="11042675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13/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6" name="Text 101"/>
          <p:cNvSpPr txBox="1"/>
          <p:nvPr/>
        </p:nvSpPr>
        <p:spPr>
          <a:xfrm>
            <a:off x="9281160" y="790956"/>
            <a:ext cx="2472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Detailed Baseline Comparison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1500" y="504749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3. MODEL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629107"/>
            <a:ext cx="60487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 분석 1: Two-stage &amp; 경량화 모델</a:t>
            </a:r>
            <a:endParaRPr lang="en-US" sz="27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409944"/>
            <a:ext cx="17812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Detailed Analysis - Part 1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14/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769096" y="790956"/>
            <a:ext cx="29864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&amp; EfficientDet 상세 분석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71500" y="1352398"/>
            <a:ext cx="5372100" cy="4828946"/>
          </a:xfrm>
          <a:prstGeom prst="roundRect">
            <a:avLst>
              <a:gd name="adj" fmla="val 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3">
            <a:alphaModFix amt="3000"/>
          </a:blip>
          <a:srcRect l="0" r="0" t="-10" b="-10"/>
          <a:stretch/>
        </p:blipFill>
        <p:spPr>
          <a:xfrm>
            <a:off x="4410151" y="1171346"/>
            <a:ext cx="1714500" cy="1524305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248095" y="1352398"/>
            <a:ext cx="5372100" cy="4828946"/>
          </a:xfrm>
          <a:prstGeom prst="roundRect">
            <a:avLst>
              <a:gd name="adj" fmla="val 44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4">
            <a:alphaModFix amt="3000"/>
          </a:blip>
          <a:srcRect l="0" r="0" t="-10" b="-10"/>
          <a:stretch/>
        </p:blipFill>
        <p:spPr>
          <a:xfrm>
            <a:off x="10658246" y="1171346"/>
            <a:ext cx="1143000" cy="1524305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09244" y="1609344"/>
            <a:ext cx="457200" cy="457200"/>
          </a:xfrm>
          <a:prstGeom prst="roundRect">
            <a:avLst>
              <a:gd name="adj" fmla="val 33333"/>
            </a:avLst>
          </a:prstGeom>
          <a:solidFill>
            <a:srgbClr val="DBEAF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42746" y="1742846"/>
            <a:ext cx="190195" cy="190195"/>
          </a:xfrm>
          <a:prstGeom prst="rect">
            <a:avLst/>
          </a:prstGeom>
        </p:spPr>
      </p:pic>
      <p:sp>
        <p:nvSpPr>
          <p:cNvPr id="17" name="Shape 12"/>
          <p:cNvSpPr/>
          <p:nvPr/>
        </p:nvSpPr>
        <p:spPr>
          <a:xfrm>
            <a:off x="4866437" y="1591056"/>
            <a:ext cx="847649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951476" y="1647749"/>
            <a:ext cx="114300" cy="114300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5104181" y="1619402"/>
            <a:ext cx="609905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Standard</a:t>
            </a:r>
            <a:endParaRPr lang="en-US" sz="900" dirty="0"/>
          </a:p>
        </p:txBody>
      </p:sp>
      <p:sp>
        <p:nvSpPr>
          <p:cNvPr id="20" name="Text 14"/>
          <p:cNvSpPr txBox="1"/>
          <p:nvPr/>
        </p:nvSpPr>
        <p:spPr>
          <a:xfrm>
            <a:off x="1419149" y="1571854"/>
            <a:ext cx="16578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</a:t>
            </a:r>
            <a:endParaRPr lang="en-US" sz="1800" dirty="0"/>
          </a:p>
        </p:txBody>
      </p:sp>
      <p:sp>
        <p:nvSpPr>
          <p:cNvPr id="21" name="Text 15"/>
          <p:cNvSpPr txBox="1"/>
          <p:nvPr/>
        </p:nvSpPr>
        <p:spPr>
          <a:xfrm>
            <a:off x="1419149" y="1895551"/>
            <a:ext cx="14621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Backbone: ResNet-50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809244" y="2238451"/>
            <a:ext cx="4895698" cy="875995"/>
          </a:xfrm>
          <a:prstGeom prst="roundRect">
            <a:avLst>
              <a:gd name="adj" fmla="val 9077"/>
            </a:avLst>
          </a:prstGeom>
          <a:solidFill>
            <a:srgbClr val="EFF6FF"/>
          </a:solidFill>
          <a:ln/>
        </p:spPr>
      </p:sp>
      <p:sp>
        <p:nvSpPr>
          <p:cNvPr id="23" name="Shape 17"/>
          <p:cNvSpPr/>
          <p:nvPr/>
        </p:nvSpPr>
        <p:spPr>
          <a:xfrm>
            <a:off x="809244" y="2238451"/>
            <a:ext cx="38405" cy="8759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4" name="Text 18"/>
          <p:cNvSpPr txBox="1"/>
          <p:nvPr/>
        </p:nvSpPr>
        <p:spPr>
          <a:xfrm>
            <a:off x="1000354" y="2381098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이유</a:t>
            </a:r>
            <a:endParaRPr lang="en-US" sz="900" dirty="0"/>
          </a:p>
        </p:txBody>
      </p:sp>
      <p:sp>
        <p:nvSpPr>
          <p:cNvPr id="25" name="Text 19"/>
          <p:cNvSpPr txBox="1"/>
          <p:nvPr/>
        </p:nvSpPr>
        <p:spPr>
          <a:xfrm>
            <a:off x="1000354" y="2581351"/>
            <a:ext cx="4605833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"객체 인식 분야의 가장 대표적인 Two-stage Detector로서, 성능 비교를 위한 표준 기준점으로 설정"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09244" y="3267151"/>
            <a:ext cx="2371954" cy="2676449"/>
          </a:xfrm>
          <a:prstGeom prst="roundRect">
            <a:avLst>
              <a:gd name="adj" fmla="val 123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933602" y="3409798"/>
            <a:ext cx="152705" cy="152705"/>
          </a:xfrm>
          <a:prstGeom prst="rect">
            <a:avLst/>
          </a:prstGeom>
        </p:spPr>
      </p:pic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8"/>
          <a:srcRect l="-2571" r="-2571" t="0" b="0"/>
          <a:stretch/>
        </p:blipFill>
        <p:spPr>
          <a:xfrm>
            <a:off x="933602" y="3696005"/>
            <a:ext cx="105156" cy="114300"/>
          </a:xfrm>
          <a:prstGeom prst="rect">
            <a:avLst/>
          </a:prstGeom>
        </p:spPr>
      </p:pic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9"/>
          <a:srcRect l="-2571" r="-2571" t="0" b="0"/>
          <a:stretch/>
        </p:blipFill>
        <p:spPr>
          <a:xfrm>
            <a:off x="933602" y="3929177"/>
            <a:ext cx="105156" cy="114300"/>
          </a:xfrm>
          <a:prstGeom prst="rect">
            <a:avLst/>
          </a:prstGeom>
        </p:spPr>
      </p:pic>
      <p:sp>
        <p:nvSpPr>
          <p:cNvPr id="30" name="Shape 21"/>
          <p:cNvSpPr/>
          <p:nvPr/>
        </p:nvSpPr>
        <p:spPr>
          <a:xfrm>
            <a:off x="3333902" y="3267151"/>
            <a:ext cx="2371954" cy="2676449"/>
          </a:xfrm>
          <a:prstGeom prst="roundRect">
            <a:avLst>
              <a:gd name="adj" fmla="val 123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31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3457346" y="3409798"/>
            <a:ext cx="152705" cy="152705"/>
          </a:xfrm>
          <a:prstGeom prst="rect">
            <a:avLst/>
          </a:prstGeom>
        </p:spPr>
      </p:pic>
      <p:pic>
        <p:nvPicPr>
          <p:cNvPr id="32" name="Image 8" descr="preencoded.png">    </p:cNvPr>
          <p:cNvPicPr>
            <a:picLocks noChangeAspect="1"/>
          </p:cNvPicPr>
          <p:nvPr/>
        </p:nvPicPr>
        <p:blipFill>
          <a:blip r:embed="rId11"/>
          <a:srcRect l="-133" r="-133" t="0" b="0"/>
          <a:stretch/>
        </p:blipFill>
        <p:spPr>
          <a:xfrm>
            <a:off x="3457346" y="3696005"/>
            <a:ext cx="85954" cy="114300"/>
          </a:xfrm>
          <a:prstGeom prst="rect">
            <a:avLst/>
          </a:prstGeom>
        </p:spPr>
      </p:pic>
      <p:sp>
        <p:nvSpPr>
          <p:cNvPr id="33" name="Text 22"/>
          <p:cNvSpPr txBox="1"/>
          <p:nvPr/>
        </p:nvSpPr>
        <p:spPr>
          <a:xfrm>
            <a:off x="3457346" y="3890772"/>
            <a:ext cx="2238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외형이 비슷한 알약의 각인 구분 능력 부족</a:t>
            </a:r>
            <a:endParaRPr lang="en-US" sz="1200" dirty="0"/>
          </a:p>
        </p:txBody>
      </p:sp>
      <p:sp>
        <p:nvSpPr>
          <p:cNvPr id="34" name="Text 23"/>
          <p:cNvSpPr txBox="1"/>
          <p:nvPr/>
        </p:nvSpPr>
        <p:spPr>
          <a:xfrm>
            <a:off x="1162202" y="3390595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 (Pros)</a:t>
            </a:r>
            <a:endParaRPr lang="en-US" sz="1000" dirty="0"/>
          </a:p>
        </p:txBody>
      </p:sp>
      <p:sp>
        <p:nvSpPr>
          <p:cNvPr id="35" name="Text 24"/>
          <p:cNvSpPr txBox="1"/>
          <p:nvPr/>
        </p:nvSpPr>
        <p:spPr>
          <a:xfrm>
            <a:off x="1114654" y="3648456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평범하고 안정적인 학습 흐름</a:t>
            </a:r>
            <a:endParaRPr lang="en-US" sz="900" dirty="0"/>
          </a:p>
        </p:txBody>
      </p:sp>
      <p:sp>
        <p:nvSpPr>
          <p:cNvPr id="36" name="Text 25"/>
          <p:cNvSpPr txBox="1"/>
          <p:nvPr/>
        </p:nvSpPr>
        <p:spPr>
          <a:xfrm>
            <a:off x="1114654" y="3881628"/>
            <a:ext cx="1448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검증된 아키텍처로 구현 용이</a:t>
            </a:r>
            <a:endParaRPr lang="en-US" sz="900" dirty="0"/>
          </a:p>
        </p:txBody>
      </p:sp>
      <p:sp>
        <p:nvSpPr>
          <p:cNvPr id="37" name="Text 26"/>
          <p:cNvSpPr txBox="1"/>
          <p:nvPr/>
        </p:nvSpPr>
        <p:spPr>
          <a:xfrm>
            <a:off x="3685946" y="3390595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 (Cons)</a:t>
            </a:r>
            <a:endParaRPr lang="en-US" sz="1000" dirty="0"/>
          </a:p>
        </p:txBody>
      </p:sp>
      <p:sp>
        <p:nvSpPr>
          <p:cNvPr id="38" name="Text 27"/>
          <p:cNvSpPr txBox="1"/>
          <p:nvPr/>
        </p:nvSpPr>
        <p:spPr>
          <a:xfrm>
            <a:off x="3619195" y="3648456"/>
            <a:ext cx="1848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학습/추론 시간이 가장 김 (12.9 FPS)</a:t>
            </a:r>
            <a:endParaRPr lang="en-US" sz="900" dirty="0"/>
          </a:p>
        </p:txBody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6620256" y="1742846"/>
            <a:ext cx="190195" cy="190195"/>
          </a:xfrm>
          <a:prstGeom prst="rect">
            <a:avLst/>
          </a:prstGeom>
        </p:spPr>
      </p:pic>
      <p:sp>
        <p:nvSpPr>
          <p:cNvPr id="40" name="Shape 28"/>
          <p:cNvSpPr/>
          <p:nvPr/>
        </p:nvSpPr>
        <p:spPr>
          <a:xfrm>
            <a:off x="10380269" y="1591056"/>
            <a:ext cx="1009498" cy="228600"/>
          </a:xfrm>
          <a:prstGeom prst="roundRect">
            <a:avLst>
              <a:gd name="adj" fmla="val 400000"/>
            </a:avLst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41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466222" y="1647749"/>
            <a:ext cx="114300" cy="114300"/>
          </a:xfrm>
          <a:prstGeom prst="rect">
            <a:avLst/>
          </a:prstGeom>
        </p:spPr>
      </p:pic>
      <p:sp>
        <p:nvSpPr>
          <p:cNvPr id="42" name="Text 29"/>
          <p:cNvSpPr txBox="1"/>
          <p:nvPr/>
        </p:nvSpPr>
        <p:spPr>
          <a:xfrm>
            <a:off x="10618927" y="1619402"/>
            <a:ext cx="771754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Lightweight</a:t>
            </a:r>
            <a:endParaRPr lang="en-US" sz="900" dirty="0"/>
          </a:p>
        </p:txBody>
      </p:sp>
      <p:sp>
        <p:nvSpPr>
          <p:cNvPr id="43" name="Text 30"/>
          <p:cNvSpPr txBox="1"/>
          <p:nvPr/>
        </p:nvSpPr>
        <p:spPr>
          <a:xfrm>
            <a:off x="7095744" y="1571854"/>
            <a:ext cx="18864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EfficientDet-D0</a:t>
            </a:r>
            <a:endParaRPr lang="en-US" sz="1800" dirty="0"/>
          </a:p>
        </p:txBody>
      </p:sp>
      <p:sp>
        <p:nvSpPr>
          <p:cNvPr id="44" name="Text 31"/>
          <p:cNvSpPr txBox="1"/>
          <p:nvPr/>
        </p:nvSpPr>
        <p:spPr>
          <a:xfrm>
            <a:off x="7095744" y="1895551"/>
            <a:ext cx="17867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Backbone: EfficientNet-B0</a:t>
            </a:r>
            <a:endParaRPr lang="en-US" sz="1000" dirty="0"/>
          </a:p>
        </p:txBody>
      </p:sp>
      <p:sp>
        <p:nvSpPr>
          <p:cNvPr id="45" name="Shape 32"/>
          <p:cNvSpPr/>
          <p:nvPr/>
        </p:nvSpPr>
        <p:spPr>
          <a:xfrm>
            <a:off x="6486754" y="2238451"/>
            <a:ext cx="38405" cy="8759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46" name="Text 33"/>
          <p:cNvSpPr txBox="1"/>
          <p:nvPr/>
        </p:nvSpPr>
        <p:spPr>
          <a:xfrm>
            <a:off x="6676949" y="2381098"/>
            <a:ext cx="5623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이유</a:t>
            </a:r>
            <a:endParaRPr lang="en-US" sz="900" dirty="0"/>
          </a:p>
        </p:txBody>
      </p:sp>
      <p:sp>
        <p:nvSpPr>
          <p:cNvPr id="47" name="Text 34"/>
          <p:cNvSpPr txBox="1"/>
          <p:nvPr/>
        </p:nvSpPr>
        <p:spPr>
          <a:xfrm>
            <a:off x="6676949" y="2581351"/>
            <a:ext cx="4586630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"안드로이드/iOS 등 모바일 배포를 고려한 최적화된 경량 모델의 성능을 검증하기 위함"</a:t>
            </a:r>
            <a:endParaRPr lang="en-US" sz="1000" dirty="0"/>
          </a:p>
        </p:txBody>
      </p:sp>
      <p:sp>
        <p:nvSpPr>
          <p:cNvPr id="48" name="Shape 35"/>
          <p:cNvSpPr/>
          <p:nvPr/>
        </p:nvSpPr>
        <p:spPr>
          <a:xfrm>
            <a:off x="6486754" y="3267151"/>
            <a:ext cx="2371954" cy="2676449"/>
          </a:xfrm>
          <a:prstGeom prst="roundRect">
            <a:avLst>
              <a:gd name="adj" fmla="val 1239"/>
            </a:avLst>
          </a:prstGeom>
          <a:solidFill>
            <a:srgbClr val="F0FDF4"/>
          </a:solidFill>
          <a:ln w="12700">
            <a:solidFill>
              <a:srgbClr val="BBF7D0"/>
            </a:solidFill>
            <a:prstDash val="solid"/>
          </a:ln>
        </p:spPr>
      </p:sp>
      <p:pic>
        <p:nvPicPr>
          <p:cNvPr id="49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0" b="0"/>
          <a:stretch/>
        </p:blipFill>
        <p:spPr>
          <a:xfrm>
            <a:off x="6610198" y="3409798"/>
            <a:ext cx="152705" cy="152705"/>
          </a:xfrm>
          <a:prstGeom prst="rect">
            <a:avLst/>
          </a:prstGeom>
        </p:spPr>
      </p:pic>
      <p:sp>
        <p:nvSpPr>
          <p:cNvPr id="50" name="Text 36"/>
          <p:cNvSpPr txBox="1"/>
          <p:nvPr/>
        </p:nvSpPr>
        <p:spPr>
          <a:xfrm>
            <a:off x="6610198" y="3657600"/>
            <a:ext cx="223845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3개 모델 중 mAP 점수(0.67) 가장 높음</a:t>
            </a:r>
            <a:endParaRPr lang="en-US" sz="1200" dirty="0"/>
          </a:p>
        </p:txBody>
      </p:sp>
      <p:pic>
        <p:nvPicPr>
          <p:cNvPr id="51" name="Image 12" descr="preencoded.png">    </p:cNvPr>
          <p:cNvPicPr>
            <a:picLocks noChangeAspect="1"/>
          </p:cNvPicPr>
          <p:nvPr/>
        </p:nvPicPr>
        <p:blipFill>
          <a:blip r:embed="rId15"/>
          <a:srcRect l="-2571" r="-2571" t="0" b="0"/>
          <a:stretch/>
        </p:blipFill>
        <p:spPr>
          <a:xfrm>
            <a:off x="6610198" y="4229100"/>
            <a:ext cx="105156" cy="114300"/>
          </a:xfrm>
          <a:prstGeom prst="rect">
            <a:avLst/>
          </a:prstGeom>
        </p:spPr>
      </p:pic>
      <p:sp>
        <p:nvSpPr>
          <p:cNvPr id="52" name="Shape 37"/>
          <p:cNvSpPr/>
          <p:nvPr/>
        </p:nvSpPr>
        <p:spPr>
          <a:xfrm>
            <a:off x="9010498" y="3267151"/>
            <a:ext cx="2371954" cy="2676449"/>
          </a:xfrm>
          <a:prstGeom prst="roundRect">
            <a:avLst>
              <a:gd name="adj" fmla="val 1239"/>
            </a:avLst>
          </a:prstGeom>
          <a:solidFill>
            <a:srgbClr val="FEF2F2"/>
          </a:solidFill>
          <a:ln w="12700">
            <a:solidFill>
              <a:srgbClr val="FECACA"/>
            </a:solidFill>
            <a:prstDash val="solid"/>
          </a:ln>
        </p:spPr>
      </p:sp>
      <p:pic>
        <p:nvPicPr>
          <p:cNvPr id="53" name="Image 13" descr="preencoded.png">    </p:cNvPr>
          <p:cNvPicPr>
            <a:picLocks noChangeAspect="1"/>
          </p:cNvPicPr>
          <p:nvPr/>
        </p:nvPicPr>
        <p:blipFill>
          <a:blip r:embed="rId16"/>
          <a:srcRect l="0" r="0" t="0" b="0"/>
          <a:stretch/>
        </p:blipFill>
        <p:spPr>
          <a:xfrm>
            <a:off x="9134856" y="3409798"/>
            <a:ext cx="152705" cy="152705"/>
          </a:xfrm>
          <a:prstGeom prst="rect">
            <a:avLst/>
          </a:prstGeom>
        </p:spPr>
      </p:pic>
      <p:sp>
        <p:nvSpPr>
          <p:cNvPr id="54" name="Text 38"/>
          <p:cNvSpPr txBox="1"/>
          <p:nvPr/>
        </p:nvSpPr>
        <p:spPr>
          <a:xfrm>
            <a:off x="9134856" y="3657600"/>
            <a:ext cx="21534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BBox 불규칙하게 생성되는 경향</a:t>
            </a:r>
            <a:endParaRPr lang="en-US" sz="1200" dirty="0"/>
          </a:p>
        </p:txBody>
      </p:sp>
      <p:pic>
        <p:nvPicPr>
          <p:cNvPr id="55" name="Image 14" descr="preencoded.png">    </p:cNvPr>
          <p:cNvPicPr>
            <a:picLocks noChangeAspect="1"/>
          </p:cNvPicPr>
          <p:nvPr/>
        </p:nvPicPr>
        <p:blipFill>
          <a:blip r:embed="rId17"/>
          <a:srcRect l="-133" r="-133" t="0" b="0"/>
          <a:stretch/>
        </p:blipFill>
        <p:spPr>
          <a:xfrm>
            <a:off x="9134856" y="4000500"/>
            <a:ext cx="85954" cy="114300"/>
          </a:xfrm>
          <a:prstGeom prst="rect">
            <a:avLst/>
          </a:prstGeom>
        </p:spPr>
      </p:pic>
      <p:sp>
        <p:nvSpPr>
          <p:cNvPr id="56" name="Text 39"/>
          <p:cNvSpPr txBox="1"/>
          <p:nvPr/>
        </p:nvSpPr>
        <p:spPr>
          <a:xfrm>
            <a:off x="6838798" y="3390595"/>
            <a:ext cx="786384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장점 (Pros)</a:t>
            </a:r>
            <a:endParaRPr lang="en-US" sz="1000" dirty="0"/>
          </a:p>
        </p:txBody>
      </p:sp>
      <p:sp>
        <p:nvSpPr>
          <p:cNvPr id="57" name="Text 40"/>
          <p:cNvSpPr txBox="1"/>
          <p:nvPr/>
        </p:nvSpPr>
        <p:spPr>
          <a:xfrm>
            <a:off x="6791249" y="4181551"/>
            <a:ext cx="20007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동일 외형 내 미세한 각인 차이 포착 우수</a:t>
            </a:r>
            <a:endParaRPr lang="en-US" sz="900" dirty="0"/>
          </a:p>
        </p:txBody>
      </p:sp>
      <p:sp>
        <p:nvSpPr>
          <p:cNvPr id="58" name="Text 41"/>
          <p:cNvSpPr txBox="1"/>
          <p:nvPr/>
        </p:nvSpPr>
        <p:spPr>
          <a:xfrm>
            <a:off x="9363456" y="3390595"/>
            <a:ext cx="8147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991B1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단점 (Cons)</a:t>
            </a:r>
            <a:endParaRPr lang="en-US" sz="1000" dirty="0"/>
          </a:p>
        </p:txBody>
      </p:sp>
      <p:sp>
        <p:nvSpPr>
          <p:cNvPr id="59" name="Text 42"/>
          <p:cNvSpPr txBox="1"/>
          <p:nvPr/>
        </p:nvSpPr>
        <p:spPr>
          <a:xfrm>
            <a:off x="9296705" y="3952951"/>
            <a:ext cx="16669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추가적인 후처리(NMS) 튜닝 필요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47572"/>
            <a:ext cx="5410505" cy="4190695"/>
          </a:xfrm>
          <a:prstGeom prst="roundRect">
            <a:avLst>
              <a:gd name="adj" fmla="val 595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80644" y="1157630"/>
            <a:ext cx="5391302" cy="590702"/>
          </a:xfrm>
          <a:prstGeom prst="rect">
            <a:avLst/>
          </a:prstGeom>
          <a:solidFill>
            <a:srgbClr val="FEF3C7"/>
          </a:solidFill>
          <a:ln/>
        </p:spPr>
      </p:sp>
      <p:sp>
        <p:nvSpPr>
          <p:cNvPr id="7" name="Shape 5"/>
          <p:cNvSpPr/>
          <p:nvPr/>
        </p:nvSpPr>
        <p:spPr>
          <a:xfrm>
            <a:off x="580644" y="1729130"/>
            <a:ext cx="5391302" cy="1920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rcRect l="-1648" r="-1648" t="0" b="0"/>
          <a:stretch/>
        </p:blipFill>
        <p:spPr>
          <a:xfrm>
            <a:off x="771754" y="1347826"/>
            <a:ext cx="171907" cy="19019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19556" y="1309421"/>
            <a:ext cx="2238451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92400E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Faster R-CNN (Swin-T)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4609490" y="1328623"/>
            <a:ext cx="1181405" cy="228600"/>
          </a:xfrm>
          <a:prstGeom prst="roundRect">
            <a:avLst>
              <a:gd name="adj" fmla="val 66667"/>
            </a:avLst>
          </a:prstGeom>
          <a:solidFill>
            <a:srgbClr val="F59E0B"/>
          </a:solidFill>
          <a:ln/>
        </p:spPr>
      </p:sp>
      <p:sp>
        <p:nvSpPr>
          <p:cNvPr id="11" name="Shape 8"/>
          <p:cNvSpPr/>
          <p:nvPr/>
        </p:nvSpPr>
        <p:spPr>
          <a:xfrm>
            <a:off x="580644" y="1747418"/>
            <a:ext cx="5391302" cy="3581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9"/>
          <p:cNvSpPr/>
          <p:nvPr/>
        </p:nvSpPr>
        <p:spPr>
          <a:xfrm>
            <a:off x="771754" y="1938528"/>
            <a:ext cx="5009998" cy="609905"/>
          </a:xfrm>
          <a:prstGeom prst="roundRect">
            <a:avLst>
              <a:gd name="adj" fmla="val 18741"/>
            </a:avLst>
          </a:prstGeom>
          <a:solidFill>
            <a:srgbClr val="F8FAFC"/>
          </a:solidFill>
          <a:ln/>
        </p:spPr>
      </p:sp>
      <p:sp>
        <p:nvSpPr>
          <p:cNvPr id="13" name="Shape 10"/>
          <p:cNvSpPr/>
          <p:nvPr/>
        </p:nvSpPr>
        <p:spPr>
          <a:xfrm>
            <a:off x="771754" y="1938528"/>
            <a:ext cx="38405" cy="609905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4" name="Shape 11"/>
          <p:cNvSpPr/>
          <p:nvPr/>
        </p:nvSpPr>
        <p:spPr>
          <a:xfrm>
            <a:off x="771754" y="2700223"/>
            <a:ext cx="5009998" cy="1209751"/>
          </a:xfrm>
          <a:prstGeom prst="roundRect">
            <a:avLst>
              <a:gd name="adj" fmla="val 4761"/>
            </a:avLst>
          </a:prstGeom>
          <a:solidFill>
            <a:srgbClr val="F0FDFA"/>
          </a:solidFill>
          <a:ln/>
        </p:spPr>
      </p:sp>
      <p:sp>
        <p:nvSpPr>
          <p:cNvPr id="15" name="Shape 12"/>
          <p:cNvSpPr/>
          <p:nvPr/>
        </p:nvSpPr>
        <p:spPr>
          <a:xfrm>
            <a:off x="771754" y="2700223"/>
            <a:ext cx="38405" cy="1209751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Shape 13"/>
          <p:cNvSpPr/>
          <p:nvPr/>
        </p:nvSpPr>
        <p:spPr>
          <a:xfrm>
            <a:off x="923544" y="2814523"/>
            <a:ext cx="342900" cy="342900"/>
          </a:xfrm>
          <a:prstGeom prst="ellipse">
            <a:avLst/>
          </a:prstGeom>
          <a:solidFill>
            <a:srgbClr val="D1FAE5"/>
          </a:solidFill>
          <a:ln/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1028700" y="2919679"/>
            <a:ext cx="133502" cy="133502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000354" y="3233318"/>
            <a:ext cx="24908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및 연산 속도가 실험 모델 중 가장 빠름</a:t>
            </a:r>
            <a:endParaRPr lang="en-US" sz="1000" dirty="0"/>
          </a:p>
        </p:txBody>
      </p:sp>
      <p:sp>
        <p:nvSpPr>
          <p:cNvPr id="19" name="Text 15"/>
          <p:cNvSpPr txBox="1"/>
          <p:nvPr/>
        </p:nvSpPr>
        <p:spPr>
          <a:xfrm>
            <a:off x="1000354" y="3500323"/>
            <a:ext cx="14438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실험 과정이 매우 안정적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771754" y="4058107"/>
            <a:ext cx="5009998" cy="1086307"/>
          </a:xfrm>
          <a:prstGeom prst="roundRect">
            <a:avLst>
              <a:gd name="adj" fmla="val 5907"/>
            </a:avLst>
          </a:prstGeom>
          <a:solidFill>
            <a:srgbClr val="FEF2F2"/>
          </a:solidFill>
          <a:ln/>
        </p:spPr>
      </p:sp>
      <p:sp>
        <p:nvSpPr>
          <p:cNvPr id="21" name="Shape 17"/>
          <p:cNvSpPr/>
          <p:nvPr/>
        </p:nvSpPr>
        <p:spPr>
          <a:xfrm>
            <a:off x="771754" y="4058107"/>
            <a:ext cx="38405" cy="1086307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Shape 18"/>
          <p:cNvSpPr/>
          <p:nvPr/>
        </p:nvSpPr>
        <p:spPr>
          <a:xfrm>
            <a:off x="923544" y="4172407"/>
            <a:ext cx="342900" cy="342900"/>
          </a:xfrm>
          <a:prstGeom prst="ellipse">
            <a:avLst/>
          </a:prstGeom>
          <a:solidFill>
            <a:srgbClr val="FEE2E2"/>
          </a:solidFill>
          <a:ln/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028700" y="4276649"/>
            <a:ext cx="133502" cy="133502"/>
          </a:xfrm>
          <a:prstGeom prst="rect">
            <a:avLst/>
          </a:prstGeom>
        </p:spPr>
      </p:pic>
      <p:sp>
        <p:nvSpPr>
          <p:cNvPr id="24" name="Shape 19"/>
          <p:cNvSpPr/>
          <p:nvPr/>
        </p:nvSpPr>
        <p:spPr>
          <a:xfrm>
            <a:off x="6210605" y="1147572"/>
            <a:ext cx="5410505" cy="4190695"/>
          </a:xfrm>
          <a:prstGeom prst="roundRect">
            <a:avLst>
              <a:gd name="adj" fmla="val 595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6219749" y="1157630"/>
            <a:ext cx="5391302" cy="590702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26" name="Shape 21"/>
          <p:cNvSpPr/>
          <p:nvPr/>
        </p:nvSpPr>
        <p:spPr>
          <a:xfrm>
            <a:off x="6219749" y="1729130"/>
            <a:ext cx="5391302" cy="1920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27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409944" y="1347826"/>
            <a:ext cx="190195" cy="190195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676949" y="1309421"/>
            <a:ext cx="1991563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(Final Choice)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219749" y="1747418"/>
            <a:ext cx="5391302" cy="35817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Shape 24"/>
          <p:cNvSpPr/>
          <p:nvPr/>
        </p:nvSpPr>
        <p:spPr>
          <a:xfrm>
            <a:off x="6409944" y="1938528"/>
            <a:ext cx="5009998" cy="629107"/>
          </a:xfrm>
          <a:prstGeom prst="roundRect">
            <a:avLst>
              <a:gd name="adj" fmla="val 17618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6409944" y="2719426"/>
            <a:ext cx="2447849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7539228" y="2842870"/>
            <a:ext cx="190195" cy="190195"/>
          </a:xfrm>
          <a:prstGeom prst="rect">
            <a:avLst/>
          </a:prstGeom>
        </p:spPr>
      </p:pic>
      <p:sp>
        <p:nvSpPr>
          <p:cNvPr id="33" name="Shape 26"/>
          <p:cNvSpPr/>
          <p:nvPr/>
        </p:nvSpPr>
        <p:spPr>
          <a:xfrm>
            <a:off x="8973007" y="2719426"/>
            <a:ext cx="2447849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8"/>
          <a:srcRect l="-1648" r="-1648" t="0" b="0"/>
          <a:stretch/>
        </p:blipFill>
        <p:spPr>
          <a:xfrm>
            <a:off x="10110521" y="2842870"/>
            <a:ext cx="171907" cy="190195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6409944" y="3690518"/>
            <a:ext cx="2447849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7563002" y="3814877"/>
            <a:ext cx="142646" cy="190195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973007" y="3690518"/>
            <a:ext cx="2447849" cy="857707"/>
          </a:xfrm>
          <a:prstGeom prst="roundRect">
            <a:avLst>
              <a:gd name="adj" fmla="val 94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10101377" y="3814877"/>
            <a:ext cx="190195" cy="190195"/>
          </a:xfrm>
          <a:prstGeom prst="rect">
            <a:avLst/>
          </a:prstGeom>
        </p:spPr>
      </p:pic>
      <p:sp>
        <p:nvSpPr>
          <p:cNvPr id="39" name="Shape 29"/>
          <p:cNvSpPr/>
          <p:nvPr/>
        </p:nvSpPr>
        <p:spPr>
          <a:xfrm>
            <a:off x="6409944" y="4700930"/>
            <a:ext cx="5009998" cy="437998"/>
          </a:xfrm>
          <a:prstGeom prst="roundRect">
            <a:avLst>
              <a:gd name="adj" fmla="val 36307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40" name="Shape 30"/>
          <p:cNvSpPr/>
          <p:nvPr/>
        </p:nvSpPr>
        <p:spPr>
          <a:xfrm>
            <a:off x="571500" y="6939382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1"/>
          <p:cNvSpPr txBox="1"/>
          <p:nvPr/>
        </p:nvSpPr>
        <p:spPr>
          <a:xfrm>
            <a:off x="4686300" y="1356970"/>
            <a:ext cx="11146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High Performance</a:t>
            </a:r>
            <a:endParaRPr lang="en-US" sz="900" dirty="0"/>
          </a:p>
        </p:txBody>
      </p:sp>
      <p:sp>
        <p:nvSpPr>
          <p:cNvPr id="42" name="Text 32"/>
          <p:cNvSpPr txBox="1"/>
          <p:nvPr/>
        </p:nvSpPr>
        <p:spPr>
          <a:xfrm>
            <a:off x="923544" y="204277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선정 이유</a:t>
            </a:r>
            <a:endParaRPr lang="en-US" sz="900" dirty="0"/>
          </a:p>
        </p:txBody>
      </p:sp>
      <p:sp>
        <p:nvSpPr>
          <p:cNvPr id="43" name="Text 33"/>
          <p:cNvSpPr txBox="1"/>
          <p:nvPr/>
        </p:nvSpPr>
        <p:spPr>
          <a:xfrm>
            <a:off x="923544" y="2243023"/>
            <a:ext cx="30623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CNN + Transformer 하이브리드 구조의 효율성 검증</a:t>
            </a:r>
            <a:endParaRPr lang="en-US" sz="1000" dirty="0"/>
          </a:p>
        </p:txBody>
      </p:sp>
      <p:sp>
        <p:nvSpPr>
          <p:cNvPr id="44" name="Text 34"/>
          <p:cNvSpPr txBox="1"/>
          <p:nvPr/>
        </p:nvSpPr>
        <p:spPr>
          <a:xfrm>
            <a:off x="1380744" y="2890418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장점</a:t>
            </a:r>
            <a:endParaRPr lang="en-US" sz="1000" dirty="0"/>
          </a:p>
        </p:txBody>
      </p:sp>
      <p:sp>
        <p:nvSpPr>
          <p:cNvPr id="45" name="Text 35"/>
          <p:cNvSpPr txBox="1"/>
          <p:nvPr/>
        </p:nvSpPr>
        <p:spPr>
          <a:xfrm>
            <a:off x="1380744" y="4248302"/>
            <a:ext cx="75803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결정적 단점</a:t>
            </a:r>
            <a:endParaRPr lang="en-US" sz="1000" dirty="0"/>
          </a:p>
        </p:txBody>
      </p:sp>
      <p:sp>
        <p:nvSpPr>
          <p:cNvPr id="46" name="Text 36"/>
          <p:cNvSpPr txBox="1"/>
          <p:nvPr/>
        </p:nvSpPr>
        <p:spPr>
          <a:xfrm>
            <a:off x="1000354" y="4600346"/>
            <a:ext cx="4653382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잘못된 Annotation(노이즈)에 대해서도 90% 이상의 과잉 확신(Overconfidence) 경향을 보여 오탐 리스크 큼</a:t>
            </a:r>
            <a:endParaRPr lang="en-US" sz="1000" dirty="0"/>
          </a:p>
        </p:txBody>
      </p:sp>
      <p:sp>
        <p:nvSpPr>
          <p:cNvPr id="47" name="Text 37"/>
          <p:cNvSpPr txBox="1"/>
          <p:nvPr/>
        </p:nvSpPr>
        <p:spPr>
          <a:xfrm>
            <a:off x="10860329" y="1356970"/>
            <a:ext cx="5715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Selected</a:t>
            </a:r>
            <a:endParaRPr lang="en-US" sz="900" dirty="0"/>
          </a:p>
        </p:txBody>
      </p:sp>
      <p:sp>
        <p:nvSpPr>
          <p:cNvPr id="48" name="Text 38"/>
          <p:cNvSpPr txBox="1"/>
          <p:nvPr/>
        </p:nvSpPr>
        <p:spPr>
          <a:xfrm>
            <a:off x="6534302" y="2052828"/>
            <a:ext cx="781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선정 논리</a:t>
            </a:r>
            <a:endParaRPr lang="en-US" sz="900" dirty="0"/>
          </a:p>
        </p:txBody>
      </p:sp>
      <p:sp>
        <p:nvSpPr>
          <p:cNvPr id="49" name="Text 39"/>
          <p:cNvSpPr txBox="1"/>
          <p:nvPr/>
        </p:nvSpPr>
        <p:spPr>
          <a:xfrm>
            <a:off x="6534302" y="2253082"/>
            <a:ext cx="35195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Swin의 구조적 장점을 공유하면서 모바일 배포/경량화에 유리</a:t>
            </a:r>
            <a:endParaRPr lang="en-US" sz="1000" dirty="0"/>
          </a:p>
        </p:txBody>
      </p:sp>
      <p:sp>
        <p:nvSpPr>
          <p:cNvPr id="50" name="Text 40"/>
          <p:cNvSpPr txBox="1"/>
          <p:nvPr/>
        </p:nvSpPr>
        <p:spPr>
          <a:xfrm>
            <a:off x="7355434" y="3100730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안정적 성능</a:t>
            </a:r>
            <a:endParaRPr lang="en-US" sz="900" dirty="0"/>
          </a:p>
        </p:txBody>
      </p:sp>
      <p:sp>
        <p:nvSpPr>
          <p:cNvPr id="51" name="Text 41"/>
          <p:cNvSpPr txBox="1"/>
          <p:nvPr/>
        </p:nvSpPr>
        <p:spPr>
          <a:xfrm>
            <a:off x="7335317" y="3290926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Confirmed</a:t>
            </a:r>
            <a:endParaRPr lang="en-US" sz="900" dirty="0"/>
          </a:p>
        </p:txBody>
      </p:sp>
      <p:sp>
        <p:nvSpPr>
          <p:cNvPr id="52" name="Text 42"/>
          <p:cNvSpPr txBox="1"/>
          <p:nvPr/>
        </p:nvSpPr>
        <p:spPr>
          <a:xfrm>
            <a:off x="9969703" y="3100730"/>
            <a:ext cx="543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빠른 속도</a:t>
            </a:r>
            <a:endParaRPr lang="en-US" sz="900" dirty="0"/>
          </a:p>
        </p:txBody>
      </p:sp>
      <p:sp>
        <p:nvSpPr>
          <p:cNvPr id="53" name="Text 43"/>
          <p:cNvSpPr txBox="1"/>
          <p:nvPr/>
        </p:nvSpPr>
        <p:spPr>
          <a:xfrm>
            <a:off x="9897466" y="3290926"/>
            <a:ext cx="6858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Confirmed</a:t>
            </a:r>
            <a:endParaRPr lang="en-US" sz="900" dirty="0"/>
          </a:p>
        </p:txBody>
      </p:sp>
      <p:sp>
        <p:nvSpPr>
          <p:cNvPr id="54" name="Text 44"/>
          <p:cNvSpPr txBox="1"/>
          <p:nvPr/>
        </p:nvSpPr>
        <p:spPr>
          <a:xfrm>
            <a:off x="7355434" y="4071823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배포</a:t>
            </a:r>
            <a:endParaRPr lang="en-US" sz="900" dirty="0"/>
          </a:p>
        </p:txBody>
      </p:sp>
      <p:sp>
        <p:nvSpPr>
          <p:cNvPr id="55" name="Text 45"/>
          <p:cNvSpPr txBox="1"/>
          <p:nvPr/>
        </p:nvSpPr>
        <p:spPr>
          <a:xfrm>
            <a:off x="7343546" y="4262018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Optimized</a:t>
            </a:r>
            <a:endParaRPr lang="en-US" sz="900" dirty="0"/>
          </a:p>
        </p:txBody>
      </p:sp>
      <p:sp>
        <p:nvSpPr>
          <p:cNvPr id="56" name="Text 46"/>
          <p:cNvSpPr txBox="1"/>
          <p:nvPr/>
        </p:nvSpPr>
        <p:spPr>
          <a:xfrm>
            <a:off x="10039198" y="4071823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</a:t>
            </a:r>
            <a:endParaRPr lang="en-US" sz="900" dirty="0"/>
          </a:p>
        </p:txBody>
      </p:sp>
      <p:sp>
        <p:nvSpPr>
          <p:cNvPr id="57" name="Text 47"/>
          <p:cNvSpPr txBox="1"/>
          <p:nvPr/>
        </p:nvSpPr>
        <p:spPr>
          <a:xfrm>
            <a:off x="9905695" y="4262018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Optimized</a:t>
            </a:r>
            <a:endParaRPr lang="en-US" sz="900" dirty="0"/>
          </a:p>
        </p:txBody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-1100" b="-1100"/>
          <a:stretch/>
        </p:blipFill>
        <p:spPr>
          <a:xfrm>
            <a:off x="8013802" y="4860036"/>
            <a:ext cx="114300" cy="133502"/>
          </a:xfrm>
          <a:prstGeom prst="rect">
            <a:avLst/>
          </a:prstGeom>
        </p:spPr>
      </p:pic>
      <p:sp>
        <p:nvSpPr>
          <p:cNvPr id="59" name="Text 48"/>
          <p:cNvSpPr txBox="1"/>
          <p:nvPr/>
        </p:nvSpPr>
        <p:spPr>
          <a:xfrm>
            <a:off x="8203997" y="4824374"/>
            <a:ext cx="17199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모든 기준(All Criteria) 충족</a:t>
            </a:r>
            <a:endParaRPr lang="en-US" sz="1000" dirty="0"/>
          </a:p>
        </p:txBody>
      </p:sp>
      <p:sp>
        <p:nvSpPr>
          <p:cNvPr id="60" name="Text 49"/>
          <p:cNvSpPr txBox="1"/>
          <p:nvPr/>
        </p:nvSpPr>
        <p:spPr>
          <a:xfrm>
            <a:off x="571500" y="7015277"/>
            <a:ext cx="2115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Model Selection Logic</a:t>
            </a:r>
            <a:endParaRPr lang="en-US" sz="900" dirty="0"/>
          </a:p>
        </p:txBody>
      </p:sp>
      <p:sp>
        <p:nvSpPr>
          <p:cNvPr id="61" name="Text 50"/>
          <p:cNvSpPr txBox="1"/>
          <p:nvPr/>
        </p:nvSpPr>
        <p:spPr>
          <a:xfrm>
            <a:off x="11408968" y="662391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15/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2" name="Shape 51"/>
          <p:cNvSpPr/>
          <p:nvPr/>
        </p:nvSpPr>
        <p:spPr>
          <a:xfrm>
            <a:off x="571500" y="5567782"/>
            <a:ext cx="11048695" cy="1218895"/>
          </a:xfrm>
          <a:prstGeom prst="roundRect">
            <a:avLst>
              <a:gd name="adj" fmla="val 7033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39700" dist="101600" dir="5400000">
              <a:srgbClr val="0f766e">
                <a:alpha val="20000"/>
              </a:srgbClr>
            </a:outerShdw>
          </a:effectLst>
        </p:spPr>
      </p:sp>
      <p:sp>
        <p:nvSpPr>
          <p:cNvPr id="63" name="Shape 52"/>
          <p:cNvSpPr/>
          <p:nvPr/>
        </p:nvSpPr>
        <p:spPr>
          <a:xfrm>
            <a:off x="10269626" y="5567782"/>
            <a:ext cx="1162202" cy="304495"/>
          </a:xfrm>
          <a:prstGeom prst="rect">
            <a:avLst/>
          </a:prstGeom>
          <a:solidFill>
            <a:srgbClr val="FBBF24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4" name="Text 53"/>
          <p:cNvSpPr txBox="1"/>
          <p:nvPr/>
        </p:nvSpPr>
        <p:spPr>
          <a:xfrm>
            <a:off x="10383926" y="5624474"/>
            <a:ext cx="1025042" cy="1810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78350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900" dirty="0"/>
          </a:p>
        </p:txBody>
      </p:sp>
      <p:sp>
        <p:nvSpPr>
          <p:cNvPr id="65" name="Shape 54"/>
          <p:cNvSpPr/>
          <p:nvPr/>
        </p:nvSpPr>
        <p:spPr>
          <a:xfrm>
            <a:off x="761695" y="5948172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66" name="Image 9" descr="preencoded.png">    </p:cNvPr>
          <p:cNvPicPr>
            <a:picLocks noChangeAspect="1"/>
          </p:cNvPicPr>
          <p:nvPr/>
        </p:nvPicPr>
        <p:blipFill>
          <a:blip r:embed="rId12"/>
          <a:srcRect l="-57" r="-57" t="0" b="0"/>
          <a:stretch/>
        </p:blipFill>
        <p:spPr>
          <a:xfrm>
            <a:off x="890626" y="6062472"/>
            <a:ext cx="200254" cy="228600"/>
          </a:xfrm>
          <a:prstGeom prst="rect">
            <a:avLst/>
          </a:prstGeom>
        </p:spPr>
      </p:pic>
      <p:sp>
        <p:nvSpPr>
          <p:cNvPr id="67" name="Text 55"/>
          <p:cNvSpPr txBox="1"/>
          <p:nvPr/>
        </p:nvSpPr>
        <p:spPr>
          <a:xfrm>
            <a:off x="1371600" y="5747918"/>
            <a:ext cx="23436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소결론 (Sub-Conclusion)</a:t>
            </a:r>
            <a:endParaRPr lang="en-US" sz="1500" dirty="0"/>
          </a:p>
        </p:txBody>
      </p:sp>
      <p:sp>
        <p:nvSpPr>
          <p:cNvPr id="68" name="Text 56"/>
          <p:cNvSpPr txBox="1"/>
          <p:nvPr/>
        </p:nvSpPr>
        <p:spPr>
          <a:xfrm>
            <a:off x="1371600" y="6072530"/>
            <a:ext cx="9977933" cy="5148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"Swin 계열의 성능적 장점은 유지하되, 배포 제약을 완벽히 해결하여 실시간 알약 식별 서비스에 가장 부합하는 모델로 YOLO를 확정했습니다."</a:t>
            </a:r>
            <a:endParaRPr lang="en-US" sz="1300" dirty="0"/>
          </a:p>
        </p:txBody>
      </p:sp>
      <p:sp>
        <p:nvSpPr>
          <p:cNvPr id="69" name="Text 57"/>
          <p:cNvSpPr txBox="1"/>
          <p:nvPr/>
        </p:nvSpPr>
        <p:spPr>
          <a:xfrm>
            <a:off x="571500" y="323698"/>
            <a:ext cx="12481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3. MODEL</a:t>
            </a:r>
            <a:endParaRPr lang="en-US" sz="900" dirty="0"/>
          </a:p>
        </p:txBody>
      </p:sp>
      <p:sp>
        <p:nvSpPr>
          <p:cNvPr id="70" name="Text 58"/>
          <p:cNvSpPr txBox="1"/>
          <p:nvPr/>
        </p:nvSpPr>
        <p:spPr>
          <a:xfrm>
            <a:off x="571500" y="485546"/>
            <a:ext cx="5215738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Swin-Transformer &amp; YOLO 선정 근거</a:t>
            </a:r>
            <a:endParaRPr lang="en-US" sz="2200" dirty="0"/>
          </a:p>
        </p:txBody>
      </p:sp>
      <p:sp>
        <p:nvSpPr>
          <p:cNvPr id="71" name="Text 59"/>
          <p:cNvSpPr txBox="1"/>
          <p:nvPr/>
        </p:nvSpPr>
        <p:spPr>
          <a:xfrm>
            <a:off x="8855964" y="586130"/>
            <a:ext cx="29004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Comparison &amp; Final Decision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276502"/>
            <a:ext cx="5372100" cy="4895698"/>
          </a:xfrm>
          <a:prstGeom prst="roundRect">
            <a:avLst>
              <a:gd name="adj" fmla="val 436"/>
            </a:avLst>
          </a:prstGeom>
          <a:solidFill>
            <a:srgbClr val="EFF6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276502"/>
            <a:ext cx="57607" cy="4895698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933602" y="204551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47902" y="2159813"/>
            <a:ext cx="228600" cy="228600"/>
          </a:xfrm>
          <a:prstGeom prst="rect">
            <a:avLst/>
          </a:prstGeom>
        </p:spPr>
      </p:pic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933602" y="2769718"/>
            <a:ext cx="190195" cy="190195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33602" y="3493008"/>
            <a:ext cx="190195" cy="190195"/>
          </a:xfrm>
          <a:prstGeom prst="rect">
            <a:avLst/>
          </a:prstGeom>
        </p:spPr>
      </p:pic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33602" y="4217213"/>
            <a:ext cx="190195" cy="190195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33602" y="4941418"/>
            <a:ext cx="190195" cy="19019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571500" y="6396228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4" name="Text 7"/>
          <p:cNvSpPr txBox="1"/>
          <p:nvPr/>
        </p:nvSpPr>
        <p:spPr>
          <a:xfrm>
            <a:off x="571500" y="276149"/>
            <a:ext cx="12865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3 · MODEL</a:t>
            </a:r>
            <a:endParaRPr lang="en-US" sz="900" dirty="0"/>
          </a:p>
        </p:txBody>
      </p:sp>
      <p:sp>
        <p:nvSpPr>
          <p:cNvPr id="15" name="Text 8"/>
          <p:cNvSpPr txBox="1"/>
          <p:nvPr/>
        </p:nvSpPr>
        <p:spPr>
          <a:xfrm>
            <a:off x="571500" y="400507"/>
            <a:ext cx="584850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최종 선택: YOLO (실시간 서비스 구조)</a:t>
            </a:r>
            <a:endParaRPr lang="en-US" sz="2700" dirty="0"/>
          </a:p>
        </p:txBody>
      </p:sp>
      <p:sp>
        <p:nvSpPr>
          <p:cNvPr id="16" name="Text 9"/>
          <p:cNvSpPr txBox="1"/>
          <p:nvPr/>
        </p:nvSpPr>
        <p:spPr>
          <a:xfrm>
            <a:off x="1543507" y="2102206"/>
            <a:ext cx="363931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선택 기준을 "서비스 스펙"으로 번역</a:t>
            </a:r>
            <a:endParaRPr lang="en-US" sz="1800" dirty="0"/>
          </a:p>
        </p:txBody>
      </p:sp>
      <p:sp>
        <p:nvSpPr>
          <p:cNvPr id="17" name="Text 10"/>
          <p:cNvSpPr txBox="1"/>
          <p:nvPr/>
        </p:nvSpPr>
        <p:spPr>
          <a:xfrm>
            <a:off x="1276502" y="2740457"/>
            <a:ext cx="15389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정확도 (Accuracy)</a:t>
            </a:r>
            <a:endParaRPr lang="en-US" sz="1300" dirty="0"/>
          </a:p>
        </p:txBody>
      </p:sp>
      <p:sp>
        <p:nvSpPr>
          <p:cNvPr id="18" name="Text 11"/>
          <p:cNvSpPr txBox="1"/>
          <p:nvPr/>
        </p:nvSpPr>
        <p:spPr>
          <a:xfrm>
            <a:off x="1276502" y="2998318"/>
            <a:ext cx="34866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제한된 데이터 환경에서 충분한 mAP/PR 확보 가능성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276502" y="3464662"/>
            <a:ext cx="11576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속도 (Speed)</a:t>
            </a:r>
            <a:endParaRPr lang="en-US" sz="1300" dirty="0"/>
          </a:p>
        </p:txBody>
      </p:sp>
      <p:sp>
        <p:nvSpPr>
          <p:cNvPr id="20" name="Text 13"/>
          <p:cNvSpPr txBox="1"/>
          <p:nvPr/>
        </p:nvSpPr>
        <p:spPr>
          <a:xfrm>
            <a:off x="1276502" y="3721608"/>
            <a:ext cx="38770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모바일/웹 환경에서 지연(Latency)이 사용자 경험(UX) 결정</a:t>
            </a:r>
            <a:endParaRPr lang="en-US" sz="1200" dirty="0"/>
          </a:p>
        </p:txBody>
      </p:sp>
      <p:sp>
        <p:nvSpPr>
          <p:cNvPr id="21" name="Text 14"/>
          <p:cNvSpPr txBox="1"/>
          <p:nvPr/>
        </p:nvSpPr>
        <p:spPr>
          <a:xfrm>
            <a:off x="1276502" y="4188866"/>
            <a:ext cx="16623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배포 (Deployment)</a:t>
            </a:r>
            <a:endParaRPr lang="en-US" sz="1300" dirty="0"/>
          </a:p>
        </p:txBody>
      </p:sp>
      <p:sp>
        <p:nvSpPr>
          <p:cNvPr id="22" name="Text 15"/>
          <p:cNvSpPr txBox="1"/>
          <p:nvPr/>
        </p:nvSpPr>
        <p:spPr>
          <a:xfrm>
            <a:off x="1276502" y="4445813"/>
            <a:ext cx="388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 모델 및 서빙 용이성 (표준화된 인퍼런스 파이프라인)</a:t>
            </a:r>
            <a:endParaRPr lang="en-US" sz="1200" dirty="0"/>
          </a:p>
        </p:txBody>
      </p:sp>
      <p:sp>
        <p:nvSpPr>
          <p:cNvPr id="23" name="Text 16"/>
          <p:cNvSpPr txBox="1"/>
          <p:nvPr/>
        </p:nvSpPr>
        <p:spPr>
          <a:xfrm>
            <a:off x="1276502" y="4912157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 (Stability)</a:t>
            </a:r>
            <a:endParaRPr lang="en-US" sz="1300" dirty="0"/>
          </a:p>
        </p:txBody>
      </p:sp>
      <p:sp>
        <p:nvSpPr>
          <p:cNvPr id="24" name="Text 17"/>
          <p:cNvSpPr txBox="1"/>
          <p:nvPr/>
        </p:nvSpPr>
        <p:spPr>
          <a:xfrm>
            <a:off x="1276502" y="5170018"/>
            <a:ext cx="36009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노이즈/잘못된 라벨에 대한 과잉 확신 등 실패 모드 진단</a:t>
            </a:r>
            <a:endParaRPr lang="en-US" sz="1200" dirty="0"/>
          </a:p>
        </p:txBody>
      </p:sp>
      <p:sp>
        <p:nvSpPr>
          <p:cNvPr id="25" name="Text 18"/>
          <p:cNvSpPr txBox="1"/>
          <p:nvPr/>
        </p:nvSpPr>
        <p:spPr>
          <a:xfrm>
            <a:off x="571500" y="6472123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Model Selection Criteria</a:t>
            </a:r>
            <a:endParaRPr lang="en-US" sz="900" dirty="0"/>
          </a:p>
        </p:txBody>
      </p:sp>
      <p:sp>
        <p:nvSpPr>
          <p:cNvPr id="26" name="Text 19"/>
          <p:cNvSpPr txBox="1"/>
          <p:nvPr/>
        </p:nvSpPr>
        <p:spPr>
          <a:xfrm>
            <a:off x="11033150" y="6472123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24/33</a:t>
            </a:r>
            <a:endParaRPr lang="en-US" sz="900" dirty="0"/>
          </a:p>
        </p:txBody>
      </p:sp>
      <p:sp>
        <p:nvSpPr>
          <p:cNvPr id="27" name="Text 20"/>
          <p:cNvSpPr txBox="1"/>
          <p:nvPr/>
        </p:nvSpPr>
        <p:spPr>
          <a:xfrm>
            <a:off x="10550347" y="562356"/>
            <a:ext cx="1205179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</a:t>
            </a:r>
            <a:endParaRPr lang="en-US" sz="1300" dirty="0"/>
          </a:p>
        </p:txBody>
      </p:sp>
      <p:sp>
        <p:nvSpPr>
          <p:cNvPr id="28" name="Shape 21"/>
          <p:cNvSpPr/>
          <p:nvPr/>
        </p:nvSpPr>
        <p:spPr>
          <a:xfrm>
            <a:off x="6248095" y="1276502"/>
            <a:ext cx="5372100" cy="3438144"/>
          </a:xfrm>
          <a:prstGeom prst="roundRect">
            <a:avLst>
              <a:gd name="adj" fmla="val 884"/>
            </a:avLst>
          </a:prstGeom>
          <a:solidFill>
            <a:srgbClr val="F0FDFA"/>
          </a:solidFill>
          <a:ln w="12700">
            <a:solidFill>
              <a:srgbClr val="CCFBF1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248095" y="4938674"/>
            <a:ext cx="5372100" cy="1228954"/>
          </a:xfrm>
          <a:prstGeom prst="roundRect">
            <a:avLst>
              <a:gd name="adj" fmla="val 6921"/>
            </a:avLst>
          </a:prstGeom>
          <a:solidFill>
            <a:srgbClr val="111827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0" name="Text 23"/>
          <p:cNvSpPr txBox="1"/>
          <p:nvPr/>
        </p:nvSpPr>
        <p:spPr>
          <a:xfrm>
            <a:off x="6553505" y="5138928"/>
            <a:ext cx="9720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KEY TAKEAWAY</a:t>
            </a:r>
            <a:endParaRPr lang="en-US" sz="900" dirty="0"/>
          </a:p>
        </p:txBody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rcRect l="-743" r="-743" t="0" b="0"/>
          <a:stretch/>
        </p:blipFill>
        <p:spPr>
          <a:xfrm>
            <a:off x="11087100" y="5672023"/>
            <a:ext cx="304495" cy="342900"/>
          </a:xfrm>
          <a:prstGeom prst="rect">
            <a:avLst/>
          </a:prstGeom>
        </p:spPr>
      </p:pic>
      <p:sp>
        <p:nvSpPr>
          <p:cNvPr id="32" name="Text 24"/>
          <p:cNvSpPr txBox="1"/>
          <p:nvPr/>
        </p:nvSpPr>
        <p:spPr>
          <a:xfrm>
            <a:off x="6580022" y="5253228"/>
            <a:ext cx="4858207" cy="5907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"Swin 계열의 강점(정확도)을 참고하되, 경량·실시간·서빙 생태계 측면에서 YOLO가 제약에 더 부합했습니다."</a:t>
            </a:r>
            <a:endParaRPr lang="en-US" sz="1500" dirty="0"/>
          </a:p>
        </p:txBody>
      </p:sp>
      <p:sp>
        <p:nvSpPr>
          <p:cNvPr id="33" name="Text 25"/>
          <p:cNvSpPr txBox="1"/>
          <p:nvPr/>
        </p:nvSpPr>
        <p:spPr>
          <a:xfrm>
            <a:off x="8405165" y="1505102"/>
            <a:ext cx="12097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 YOLO?</a:t>
            </a:r>
            <a:endParaRPr lang="en-US" sz="1500" dirty="0"/>
          </a:p>
        </p:txBody>
      </p:sp>
      <p:sp>
        <p:nvSpPr>
          <p:cNvPr id="34" name="Shape 26"/>
          <p:cNvSpPr/>
          <p:nvPr/>
        </p:nvSpPr>
        <p:spPr>
          <a:xfrm>
            <a:off x="6486754" y="2085746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9048902" y="2085746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6" name="Shape 28"/>
          <p:cNvSpPr/>
          <p:nvPr/>
        </p:nvSpPr>
        <p:spPr>
          <a:xfrm>
            <a:off x="6486754" y="3393338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37" name="Shape 29"/>
          <p:cNvSpPr/>
          <p:nvPr/>
        </p:nvSpPr>
        <p:spPr>
          <a:xfrm>
            <a:off x="9048902" y="3393338"/>
            <a:ext cx="2333549" cy="1086307"/>
          </a:xfrm>
          <a:prstGeom prst="roundRect">
            <a:avLst>
              <a:gd name="adj" fmla="val 5907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8" name="Image 6" descr="preencoded.png">    </p:cNvPr>
          <p:cNvPicPr>
            <a:picLocks noChangeAspect="1"/>
          </p:cNvPicPr>
          <p:nvPr/>
        </p:nvPicPr>
        <p:blipFill>
          <a:blip r:embed="rId7"/>
          <a:srcRect l="0" r="0" t="-530" b="-530"/>
          <a:stretch/>
        </p:blipFill>
        <p:spPr>
          <a:xfrm>
            <a:off x="7529170" y="2247595"/>
            <a:ext cx="247802" cy="286207"/>
          </a:xfrm>
          <a:prstGeom prst="rect">
            <a:avLst/>
          </a:prstGeom>
        </p:spPr>
      </p:pic>
      <p:sp>
        <p:nvSpPr>
          <p:cNvPr id="39" name="Text 30"/>
          <p:cNvSpPr txBox="1"/>
          <p:nvPr/>
        </p:nvSpPr>
        <p:spPr>
          <a:xfrm>
            <a:off x="7289597" y="2621585"/>
            <a:ext cx="8485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Real-time</a:t>
            </a:r>
            <a:endParaRPr lang="en-US" sz="1200" dirty="0"/>
          </a:p>
        </p:txBody>
      </p:sp>
      <p:sp>
        <p:nvSpPr>
          <p:cNvPr id="40" name="Text 31"/>
          <p:cNvSpPr txBox="1"/>
          <p:nvPr/>
        </p:nvSpPr>
        <p:spPr>
          <a:xfrm>
            <a:off x="7374636" y="2841041"/>
            <a:ext cx="6483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 처리</a:t>
            </a:r>
            <a:endParaRPr lang="en-US" sz="900" dirty="0"/>
          </a:p>
        </p:txBody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0073030" y="2247595"/>
            <a:ext cx="286207" cy="286207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9763049" y="2621585"/>
            <a:ext cx="10195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Lightweight</a:t>
            </a:r>
            <a:endParaRPr lang="en-US" sz="1200" dirty="0"/>
          </a:p>
        </p:txBody>
      </p:sp>
      <p:sp>
        <p:nvSpPr>
          <p:cNvPr id="43" name="Text 33"/>
          <p:cNvSpPr txBox="1"/>
          <p:nvPr/>
        </p:nvSpPr>
        <p:spPr>
          <a:xfrm>
            <a:off x="10057486" y="2841041"/>
            <a:ext cx="409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경량화</a:t>
            </a:r>
            <a:endParaRPr lang="en-US" sz="900" dirty="0"/>
          </a:p>
        </p:txBody>
      </p:sp>
      <p:pic>
        <p:nvPicPr>
          <p:cNvPr id="44" name="Image 8" descr="preencoded.png">    </p:cNvPr>
          <p:cNvPicPr>
            <a:picLocks noChangeAspect="1"/>
          </p:cNvPicPr>
          <p:nvPr/>
        </p:nvPicPr>
        <p:blipFill>
          <a:blip r:embed="rId9"/>
          <a:srcRect l="-266" r="-266" t="0" b="0"/>
          <a:stretch/>
        </p:blipFill>
        <p:spPr>
          <a:xfrm>
            <a:off x="7491679" y="3555187"/>
            <a:ext cx="323698" cy="286207"/>
          </a:xfrm>
          <a:prstGeom prst="rect">
            <a:avLst/>
          </a:prstGeom>
        </p:spPr>
      </p:pic>
      <p:sp>
        <p:nvSpPr>
          <p:cNvPr id="45" name="Text 34"/>
          <p:cNvSpPr txBox="1"/>
          <p:nvPr/>
        </p:nvSpPr>
        <p:spPr>
          <a:xfrm>
            <a:off x="7258507" y="3929177"/>
            <a:ext cx="9052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Ecosystem</a:t>
            </a:r>
            <a:endParaRPr lang="en-US" sz="1200" dirty="0"/>
          </a:p>
        </p:txBody>
      </p:sp>
      <p:sp>
        <p:nvSpPr>
          <p:cNvPr id="46" name="Text 35"/>
          <p:cNvSpPr txBox="1"/>
          <p:nvPr/>
        </p:nvSpPr>
        <p:spPr>
          <a:xfrm>
            <a:off x="7321601" y="4147718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풍부한 생태계</a:t>
            </a:r>
            <a:endParaRPr lang="en-US" sz="900" dirty="0"/>
          </a:p>
        </p:txBody>
      </p:sp>
      <p:pic>
        <p:nvPicPr>
          <p:cNvPr id="47" name="Image 9" descr="preencoded.png">    </p:cNvPr>
          <p:cNvPicPr>
            <a:picLocks noChangeAspect="1"/>
          </p:cNvPicPr>
          <p:nvPr/>
        </p:nvPicPr>
        <p:blipFill>
          <a:blip r:embed="rId10"/>
          <a:srcRect l="-1118" r="-1118" t="0" b="0"/>
          <a:stretch/>
        </p:blipFill>
        <p:spPr>
          <a:xfrm>
            <a:off x="10105949" y="3555187"/>
            <a:ext cx="219456" cy="286207"/>
          </a:xfrm>
          <a:prstGeom prst="rect">
            <a:avLst/>
          </a:prstGeom>
        </p:spPr>
      </p:pic>
      <p:sp>
        <p:nvSpPr>
          <p:cNvPr id="48" name="Text 36"/>
          <p:cNvSpPr txBox="1"/>
          <p:nvPr/>
        </p:nvSpPr>
        <p:spPr>
          <a:xfrm>
            <a:off x="9710014" y="3929177"/>
            <a:ext cx="11338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Mobile Ready</a:t>
            </a:r>
            <a:endParaRPr lang="en-US" sz="1200" dirty="0"/>
          </a:p>
        </p:txBody>
      </p:sp>
      <p:sp>
        <p:nvSpPr>
          <p:cNvPr id="49" name="Text 37"/>
          <p:cNvSpPr txBox="1"/>
          <p:nvPr/>
        </p:nvSpPr>
        <p:spPr>
          <a:xfrm>
            <a:off x="9883750" y="4147718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모바일 최적화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11048695" cy="590702"/>
          </a:xfrm>
          <a:prstGeom prst="roundRect">
            <a:avLst>
              <a:gd name="adj" fmla="val 29961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571500" y="50474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29107"/>
            <a:ext cx="2429561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프레임워크</a:t>
            </a:r>
            <a:endParaRPr lang="en-US" sz="2700" dirty="0"/>
          </a:p>
        </p:txBody>
      </p:sp>
      <p:sp>
        <p:nvSpPr>
          <p:cNvPr id="9" name="Text 7"/>
          <p:cNvSpPr txBox="1"/>
          <p:nvPr/>
        </p:nvSpPr>
        <p:spPr>
          <a:xfrm>
            <a:off x="3696005" y="1505102"/>
            <a:ext cx="49441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QA는 “점수 상승”보다 먼저, 결과 해석의 전제조건을 만든다.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71500" y="6409944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25/33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8714232" y="790956"/>
            <a:ext cx="30440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"비교 가능하고 신뢰 가능한 결론" 만들기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71500" y="2247595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71500" y="2247595"/>
            <a:ext cx="75895" cy="1857146"/>
          </a:xfrm>
          <a:prstGeom prst="rect">
            <a:avLst/>
          </a:prstGeom>
          <a:solidFill>
            <a:srgbClr val="EF4444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3">
            <a:alphaModFix amt="5000"/>
          </a:blip>
          <a:srcRect l="-13" r="-13" t="0" b="0"/>
          <a:stretch/>
        </p:blipFill>
        <p:spPr>
          <a:xfrm>
            <a:off x="4800600" y="3071470"/>
            <a:ext cx="1371600" cy="1218895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6210605" y="2247595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210605" y="2247595"/>
            <a:ext cx="75895" cy="1857146"/>
          </a:xfrm>
          <a:prstGeom prst="rect">
            <a:avLst/>
          </a:prstGeom>
          <a:solidFill>
            <a:srgbClr val="3B82F6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4">
            <a:alphaModFix amt="5000"/>
          </a:blip>
          <a:srcRect l="-27" r="-27" t="0" b="0"/>
          <a:stretch/>
        </p:blipFill>
        <p:spPr>
          <a:xfrm>
            <a:off x="10744200" y="3071470"/>
            <a:ext cx="1067105" cy="1218895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571500" y="4328770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571500" y="4328770"/>
            <a:ext cx="75895" cy="1857146"/>
          </a:xfrm>
          <a:prstGeom prst="rect">
            <a:avLst/>
          </a:prstGeom>
          <a:solidFill>
            <a:srgbClr val="8B5CF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5">
            <a:alphaModFix amt="5000"/>
          </a:blip>
          <a:srcRect l="0" r="0" t="0" b="0"/>
          <a:stretch/>
        </p:blipFill>
        <p:spPr>
          <a:xfrm>
            <a:off x="4953305" y="5152644"/>
            <a:ext cx="1218895" cy="1218895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10605" y="4328770"/>
            <a:ext cx="5410505" cy="1857146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6210605" y="4328770"/>
            <a:ext cx="75895" cy="1857146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6">
            <a:alphaModFix amt="5000"/>
          </a:blip>
          <a:srcRect l="0" r="0" t="0" b="0"/>
          <a:stretch/>
        </p:blipFill>
        <p:spPr>
          <a:xfrm>
            <a:off x="10591495" y="5152644"/>
            <a:ext cx="1218895" cy="1218895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875995" y="251734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EE2E2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009498" y="2649931"/>
            <a:ext cx="190195" cy="190195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485900" y="2574036"/>
            <a:ext cx="16770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</a:t>
            </a:r>
            <a:endParaRPr lang="en-US" sz="1800" dirty="0"/>
          </a:p>
        </p:txBody>
      </p:sp>
      <p:sp>
        <p:nvSpPr>
          <p:cNvPr id="28" name="Text 21"/>
          <p:cNvSpPr txBox="1"/>
          <p:nvPr/>
        </p:nvSpPr>
        <p:spPr>
          <a:xfrm>
            <a:off x="875995" y="3088843"/>
            <a:ext cx="1762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중복(가짜 개선) 사전 차단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875995" y="3393338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1000354" y="3552444"/>
            <a:ext cx="114300" cy="13350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1190549" y="3516782"/>
            <a:ext cx="22055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 / Val / Probe 데이터 교차 검증</a:t>
            </a:r>
            <a:endParaRPr lang="en-US" sz="1000" dirty="0"/>
          </a:p>
        </p:txBody>
      </p:sp>
      <p:sp>
        <p:nvSpPr>
          <p:cNvPr id="32" name="Shape 24"/>
          <p:cNvSpPr/>
          <p:nvPr/>
        </p:nvSpPr>
        <p:spPr>
          <a:xfrm>
            <a:off x="6515100" y="2517343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DBEAFE"/>
          </a:solidFill>
          <a:ln/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9"/>
          <a:srcRect l="-1282" r="-1282" t="0" b="0"/>
          <a:stretch/>
        </p:blipFill>
        <p:spPr>
          <a:xfrm>
            <a:off x="6633972" y="2649931"/>
            <a:ext cx="219456" cy="1901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7125005" y="2574036"/>
            <a:ext cx="25146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Measurement Freeze</a:t>
            </a:r>
            <a:endParaRPr lang="en-US" sz="1800" dirty="0"/>
          </a:p>
        </p:txBody>
      </p:sp>
      <p:sp>
        <p:nvSpPr>
          <p:cNvPr id="35" name="Text 26"/>
          <p:cNvSpPr txBox="1"/>
          <p:nvPr/>
        </p:nvSpPr>
        <p:spPr>
          <a:xfrm>
            <a:off x="6515100" y="3088843"/>
            <a:ext cx="14676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 파이프라인 고정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6515100" y="3393338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1100" b="-1100"/>
          <a:stretch/>
        </p:blipFill>
        <p:spPr>
          <a:xfrm>
            <a:off x="6638544" y="3552444"/>
            <a:ext cx="114300" cy="133502"/>
          </a:xfrm>
          <a:prstGeom prst="rect">
            <a:avLst/>
          </a:prstGeom>
        </p:spPr>
      </p:pic>
      <p:sp>
        <p:nvSpPr>
          <p:cNvPr id="38" name="Text 28"/>
          <p:cNvSpPr txBox="1"/>
          <p:nvPr/>
        </p:nvSpPr>
        <p:spPr>
          <a:xfrm>
            <a:off x="6829654" y="3516782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매칭/지표/후처리 고정 → 원인 분리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875995" y="4598518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DE9FE"/>
          </a:solidFill>
          <a:ln/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1009498" y="4731106"/>
            <a:ext cx="190195" cy="190195"/>
          </a:xfrm>
          <a:prstGeom prst="rect">
            <a:avLst/>
          </a:prstGeom>
        </p:spPr>
      </p:pic>
      <p:sp>
        <p:nvSpPr>
          <p:cNvPr id="41" name="Text 30"/>
          <p:cNvSpPr txBox="1"/>
          <p:nvPr/>
        </p:nvSpPr>
        <p:spPr>
          <a:xfrm>
            <a:off x="1485900" y="4655210"/>
            <a:ext cx="2876702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&amp; Threshold</a:t>
            </a:r>
            <a:endParaRPr lang="en-US" sz="1800" dirty="0"/>
          </a:p>
        </p:txBody>
      </p:sp>
      <p:sp>
        <p:nvSpPr>
          <p:cNvPr id="42" name="Text 31"/>
          <p:cNvSpPr txBox="1"/>
          <p:nvPr/>
        </p:nvSpPr>
        <p:spPr>
          <a:xfrm>
            <a:off x="875995" y="5170018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관점의 해석</a:t>
            </a:r>
            <a:endParaRPr lang="en-US" sz="1200" dirty="0"/>
          </a:p>
        </p:txBody>
      </p:sp>
      <p:sp>
        <p:nvSpPr>
          <p:cNvPr id="43" name="Shape 32"/>
          <p:cNvSpPr/>
          <p:nvPr/>
        </p:nvSpPr>
        <p:spPr>
          <a:xfrm>
            <a:off x="875995" y="5474513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44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-1100" b="-1100"/>
          <a:stretch/>
        </p:blipFill>
        <p:spPr>
          <a:xfrm>
            <a:off x="1000354" y="5633618"/>
            <a:ext cx="114300" cy="133502"/>
          </a:xfrm>
          <a:prstGeom prst="rect">
            <a:avLst/>
          </a:prstGeom>
        </p:spPr>
      </p:pic>
      <p:sp>
        <p:nvSpPr>
          <p:cNvPr id="45" name="Text 33"/>
          <p:cNvSpPr txBox="1"/>
          <p:nvPr/>
        </p:nvSpPr>
        <p:spPr>
          <a:xfrm>
            <a:off x="1190549" y="5597957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외 실패 모드(미탐/오탐) 진단</a:t>
            </a:r>
            <a:endParaRPr lang="en-US" sz="1000" dirty="0"/>
          </a:p>
        </p:txBody>
      </p:sp>
      <p:pic>
        <p:nvPicPr>
          <p:cNvPr id="46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6648602" y="4731106"/>
            <a:ext cx="190195" cy="190195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7125005" y="4655210"/>
            <a:ext cx="133411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 운영</a:t>
            </a:r>
            <a:endParaRPr lang="en-US" sz="1800" dirty="0"/>
          </a:p>
        </p:txBody>
      </p:sp>
      <p:sp>
        <p:nvSpPr>
          <p:cNvPr id="48" name="Text 35"/>
          <p:cNvSpPr txBox="1"/>
          <p:nvPr/>
        </p:nvSpPr>
        <p:spPr>
          <a:xfrm>
            <a:off x="6515100" y="5170018"/>
            <a:ext cx="14859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안정성/커버리지 확보</a:t>
            </a:r>
            <a:endParaRPr lang="en-US" sz="1200" dirty="0"/>
          </a:p>
        </p:txBody>
      </p:sp>
      <p:sp>
        <p:nvSpPr>
          <p:cNvPr id="49" name="Shape 36"/>
          <p:cNvSpPr/>
          <p:nvPr/>
        </p:nvSpPr>
        <p:spPr>
          <a:xfrm>
            <a:off x="6515100" y="5474513"/>
            <a:ext cx="4876495" cy="437998"/>
          </a:xfrm>
          <a:prstGeom prst="roundRect">
            <a:avLst>
              <a:gd name="adj" fmla="val 3630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50" name="Image 11" descr="preencoded.png">    </p:cNvPr>
          <p:cNvPicPr>
            <a:picLocks noChangeAspect="1"/>
          </p:cNvPicPr>
          <p:nvPr/>
        </p:nvPicPr>
        <p:blipFill>
          <a:blip r:embed="rId14"/>
          <a:srcRect l="0" r="0" t="-1100" b="-1100"/>
          <a:stretch/>
        </p:blipFill>
        <p:spPr>
          <a:xfrm>
            <a:off x="6638544" y="5633618"/>
            <a:ext cx="114300" cy="133502"/>
          </a:xfrm>
          <a:prstGeom prst="rect">
            <a:avLst/>
          </a:prstGeom>
        </p:spPr>
      </p:pic>
      <p:sp>
        <p:nvSpPr>
          <p:cNvPr id="51" name="Text 37"/>
          <p:cNvSpPr txBox="1"/>
          <p:nvPr/>
        </p:nvSpPr>
        <p:spPr>
          <a:xfrm>
            <a:off x="6829654" y="5597957"/>
            <a:ext cx="20912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Core(고정) + Ext(취약 조건) 테스트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52398"/>
            <a:ext cx="5372100" cy="1752905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352398"/>
            <a:ext cx="75895" cy="1752905"/>
          </a:xfrm>
          <a:prstGeom prst="rect">
            <a:avLst/>
          </a:prstGeom>
          <a:solidFill>
            <a:srgbClr val="F87171"/>
          </a:solidFill>
          <a:ln/>
        </p:spPr>
      </p:sp>
      <p:sp>
        <p:nvSpPr>
          <p:cNvPr id="7" name="Shape 5"/>
          <p:cNvSpPr/>
          <p:nvPr/>
        </p:nvSpPr>
        <p:spPr>
          <a:xfrm>
            <a:off x="838505" y="15435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FEE2E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-1087" b="-1087"/>
          <a:stretch/>
        </p:blipFill>
        <p:spPr>
          <a:xfrm>
            <a:off x="976579" y="1647749"/>
            <a:ext cx="105156" cy="171907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38505" y="2038198"/>
            <a:ext cx="2820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Train-Val 중복 시, 성능이 과대평가될 위험</a:t>
            </a:r>
            <a:endParaRPr lang="en-US" sz="12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8505" y="2381098"/>
            <a:ext cx="114300" cy="114300"/>
          </a:xfrm>
          <a:prstGeom prst="rect">
            <a:avLst/>
          </a:prstGeom>
        </p:spPr>
      </p:pic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8505" y="2686507"/>
            <a:ext cx="114300" cy="1143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1067105" y="2648102"/>
            <a:ext cx="2457907" cy="267005"/>
          </a:xfrm>
          <a:prstGeom prst="roundRect">
            <a:avLst>
              <a:gd name="adj" fmla="val 48924"/>
            </a:avLst>
          </a:prstGeom>
          <a:solidFill>
            <a:srgbClr val="FEF2F2"/>
          </a:solidFill>
          <a:ln/>
        </p:spPr>
      </p:sp>
      <p:sp>
        <p:nvSpPr>
          <p:cNvPr id="13" name="Shape 8"/>
          <p:cNvSpPr/>
          <p:nvPr/>
        </p:nvSpPr>
        <p:spPr>
          <a:xfrm>
            <a:off x="6248095" y="1352398"/>
            <a:ext cx="5372100" cy="1752905"/>
          </a:xfrm>
          <a:prstGeom prst="roundRect">
            <a:avLst>
              <a:gd name="adj" fmla="val 340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9"/>
          <p:cNvSpPr/>
          <p:nvPr/>
        </p:nvSpPr>
        <p:spPr>
          <a:xfrm>
            <a:off x="6248095" y="1352398"/>
            <a:ext cx="75895" cy="1752905"/>
          </a:xfrm>
          <a:prstGeom prst="rect">
            <a:avLst/>
          </a:prstGeom>
          <a:solidFill>
            <a:srgbClr val="60A5FA"/>
          </a:solidFill>
          <a:ln/>
        </p:spPr>
      </p:sp>
      <p:sp>
        <p:nvSpPr>
          <p:cNvPr id="15" name="Shape 10"/>
          <p:cNvSpPr/>
          <p:nvPr/>
        </p:nvSpPr>
        <p:spPr>
          <a:xfrm>
            <a:off x="6515100" y="1543507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rcRect l="-1064" r="-1064" t="0" b="0"/>
          <a:stretch/>
        </p:blipFill>
        <p:spPr>
          <a:xfrm>
            <a:off x="6596482" y="1647749"/>
            <a:ext cx="219456" cy="171907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6515100" y="2038198"/>
            <a:ext cx="246705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Hash 기반 중복 체크 (이미지 + 라벨)</a:t>
            </a:r>
            <a:endParaRPr lang="en-US" sz="1200" dirty="0"/>
          </a:p>
        </p:txBody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rcRect l="-133" r="-133" t="0" b="0"/>
          <a:stretch/>
        </p:blipFill>
        <p:spPr>
          <a:xfrm>
            <a:off x="6515100" y="2381098"/>
            <a:ext cx="85954" cy="114300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6515100" y="2686507"/>
            <a:ext cx="114300" cy="114300"/>
          </a:xfrm>
          <a:prstGeom prst="rect">
            <a:avLst/>
          </a:prstGeom>
        </p:spPr>
      </p:pic>
      <p:sp>
        <p:nvSpPr>
          <p:cNvPr id="20" name="Shape 12"/>
          <p:cNvSpPr/>
          <p:nvPr/>
        </p:nvSpPr>
        <p:spPr>
          <a:xfrm>
            <a:off x="571500" y="6381598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1" name="Text 13"/>
          <p:cNvSpPr txBox="1"/>
          <p:nvPr/>
        </p:nvSpPr>
        <p:spPr>
          <a:xfrm>
            <a:off x="571500" y="276149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22" name="Text 14"/>
          <p:cNvSpPr txBox="1"/>
          <p:nvPr/>
        </p:nvSpPr>
        <p:spPr>
          <a:xfrm>
            <a:off x="571500" y="400507"/>
            <a:ext cx="33055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 상세</a:t>
            </a:r>
            <a:endParaRPr lang="en-US" sz="2700" dirty="0"/>
          </a:p>
        </p:txBody>
      </p:sp>
      <p:sp>
        <p:nvSpPr>
          <p:cNvPr id="23" name="Text 15"/>
          <p:cNvSpPr txBox="1"/>
          <p:nvPr/>
        </p:nvSpPr>
        <p:spPr>
          <a:xfrm>
            <a:off x="1333195" y="1591056"/>
            <a:ext cx="10195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Why: 의도</a:t>
            </a:r>
            <a:endParaRPr lang="en-US" sz="1500" dirty="0"/>
          </a:p>
        </p:txBody>
      </p:sp>
      <p:sp>
        <p:nvSpPr>
          <p:cNvPr id="24" name="Text 16"/>
          <p:cNvSpPr txBox="1"/>
          <p:nvPr/>
        </p:nvSpPr>
        <p:spPr>
          <a:xfrm>
            <a:off x="1067105" y="2343607"/>
            <a:ext cx="39054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버전(D1/D2/VAL) 교차가 발생하면 일반화 성능 왜곡</a:t>
            </a:r>
            <a:endParaRPr lang="en-US" sz="1200" dirty="0"/>
          </a:p>
        </p:txBody>
      </p:sp>
      <p:sp>
        <p:nvSpPr>
          <p:cNvPr id="25" name="Text 17"/>
          <p:cNvSpPr txBox="1"/>
          <p:nvPr/>
        </p:nvSpPr>
        <p:spPr>
          <a:xfrm>
            <a:off x="1143000" y="2686507"/>
            <a:ext cx="2405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Gate Fail 결과는 성능으로 인정하지 않음</a:t>
            </a:r>
            <a:endParaRPr lang="en-US" sz="1000" dirty="0"/>
          </a:p>
        </p:txBody>
      </p:sp>
      <p:sp>
        <p:nvSpPr>
          <p:cNvPr id="26" name="Text 18"/>
          <p:cNvSpPr txBox="1"/>
          <p:nvPr/>
        </p:nvSpPr>
        <p:spPr>
          <a:xfrm>
            <a:off x="7010705" y="1591056"/>
            <a:ext cx="143835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How: 체크 방식</a:t>
            </a:r>
            <a:endParaRPr lang="en-US" sz="1500" dirty="0"/>
          </a:p>
        </p:txBody>
      </p:sp>
      <p:sp>
        <p:nvSpPr>
          <p:cNvPr id="27" name="Text 19"/>
          <p:cNvSpPr txBox="1"/>
          <p:nvPr/>
        </p:nvSpPr>
        <p:spPr>
          <a:xfrm>
            <a:off x="6715354" y="2343607"/>
            <a:ext cx="2543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Split Manifest(데이터셋 명세서) 고정</a:t>
            </a:r>
            <a:endParaRPr lang="en-US" sz="1200" dirty="0"/>
          </a:p>
        </p:txBody>
      </p:sp>
      <p:sp>
        <p:nvSpPr>
          <p:cNvPr id="28" name="Text 20"/>
          <p:cNvSpPr txBox="1"/>
          <p:nvPr/>
        </p:nvSpPr>
        <p:spPr>
          <a:xfrm>
            <a:off x="6743700" y="2648102"/>
            <a:ext cx="30486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file_name 해시 대조로 물리적 중복 원천 차단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571500" y="6458407"/>
            <a:ext cx="13624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Overview</a:t>
            </a:r>
            <a:endParaRPr lang="en-US" sz="900" dirty="0"/>
          </a:p>
        </p:txBody>
      </p:sp>
      <p:sp>
        <p:nvSpPr>
          <p:cNvPr id="30" name="Text 22"/>
          <p:cNvSpPr txBox="1"/>
          <p:nvPr/>
        </p:nvSpPr>
        <p:spPr>
          <a:xfrm>
            <a:off x="11033150" y="6458407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Page 26/33</a:t>
            </a:r>
            <a:endParaRPr lang="en-US" sz="900" dirty="0"/>
          </a:p>
        </p:txBody>
      </p:sp>
      <p:sp>
        <p:nvSpPr>
          <p:cNvPr id="31" name="Text 23"/>
          <p:cNvSpPr txBox="1"/>
          <p:nvPr/>
        </p:nvSpPr>
        <p:spPr>
          <a:xfrm>
            <a:off x="9756648" y="562356"/>
            <a:ext cx="1996135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"가짜 개선"을 먼저 막는다</a:t>
            </a:r>
            <a:endParaRPr lang="en-US" sz="1300" dirty="0"/>
          </a:p>
        </p:txBody>
      </p:sp>
      <p:sp>
        <p:nvSpPr>
          <p:cNvPr id="32" name="Shape 24"/>
          <p:cNvSpPr/>
          <p:nvPr/>
        </p:nvSpPr>
        <p:spPr>
          <a:xfrm>
            <a:off x="571500" y="3258007"/>
            <a:ext cx="11048695" cy="2971800"/>
          </a:xfrm>
          <a:prstGeom prst="roundRect">
            <a:avLst>
              <a:gd name="adj" fmla="val 1183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7">
            <a:alphaModFix amt="10000"/>
          </a:blip>
          <a:srcRect l="-27" r="-27" t="0" b="0"/>
          <a:stretch/>
        </p:blipFill>
        <p:spPr>
          <a:xfrm>
            <a:off x="10392156" y="3486607"/>
            <a:ext cx="1067105" cy="1218895"/>
          </a:xfrm>
          <a:prstGeom prst="rect">
            <a:avLst/>
          </a:prstGeom>
        </p:spPr>
      </p:pic>
      <p:sp>
        <p:nvSpPr>
          <p:cNvPr id="34" name="Text 25"/>
          <p:cNvSpPr txBox="1"/>
          <p:nvPr/>
        </p:nvSpPr>
        <p:spPr>
          <a:xfrm>
            <a:off x="4128516" y="3495751"/>
            <a:ext cx="4114800" cy="3054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FINAL RESULT 데이터 무결성 검증 결과</a:t>
            </a:r>
            <a:endParaRPr lang="en-US" sz="1800" dirty="0"/>
          </a:p>
        </p:txBody>
      </p:sp>
      <p:sp>
        <p:nvSpPr>
          <p:cNvPr id="35" name="Shape 26"/>
          <p:cNvSpPr/>
          <p:nvPr/>
        </p:nvSpPr>
        <p:spPr>
          <a:xfrm>
            <a:off x="2820924" y="5553151"/>
            <a:ext cx="6553505" cy="437998"/>
          </a:xfrm>
          <a:prstGeom prst="roundRect">
            <a:avLst>
              <a:gd name="adj" fmla="val 20876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Text 27"/>
          <p:cNvSpPr txBox="1"/>
          <p:nvPr/>
        </p:nvSpPr>
        <p:spPr>
          <a:xfrm>
            <a:off x="3058668" y="5648249"/>
            <a:ext cx="62060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→ 성능의 변화는 누수(Leakage)가 아니라, 온전히 모델과 데이터 처리의 변화입니다.</a:t>
            </a:r>
            <a:endParaRPr lang="en-US" sz="1300" dirty="0"/>
          </a:p>
        </p:txBody>
      </p:sp>
      <p:sp>
        <p:nvSpPr>
          <p:cNvPr id="37" name="Shape 28"/>
          <p:cNvSpPr/>
          <p:nvPr/>
        </p:nvSpPr>
        <p:spPr>
          <a:xfrm>
            <a:off x="809244" y="4028846"/>
            <a:ext cx="3372307" cy="1295705"/>
          </a:xfrm>
          <a:prstGeom prst="roundRect">
            <a:avLst>
              <a:gd name="adj" fmla="val 4151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sx="100000" sy="100000" kx="0" ky="0" algn="bl" rotWithShape="0" blurRad="139700" dist="101600" dir="5400000">
              <a:srgbClr val="0f766e">
                <a:alpha val="10000"/>
              </a:srgbClr>
            </a:outerShdw>
          </a:effectLst>
        </p:spPr>
      </p:sp>
      <p:sp>
        <p:nvSpPr>
          <p:cNvPr id="38" name="Text 29"/>
          <p:cNvSpPr txBox="1"/>
          <p:nvPr/>
        </p:nvSpPr>
        <p:spPr>
          <a:xfrm>
            <a:off x="2361895" y="4772254"/>
            <a:ext cx="4672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2700" dirty="0"/>
          </a:p>
        </p:txBody>
      </p:sp>
      <p:sp>
        <p:nvSpPr>
          <p:cNvPr id="39" name="Text 30"/>
          <p:cNvSpPr txBox="1"/>
          <p:nvPr/>
        </p:nvSpPr>
        <p:spPr>
          <a:xfrm>
            <a:off x="2120494" y="4200754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VS 검증</a:t>
            </a:r>
            <a:endParaRPr lang="en-US" sz="1000" dirty="0"/>
          </a:p>
        </p:txBody>
      </p:sp>
      <p:sp>
        <p:nvSpPr>
          <p:cNvPr id="40" name="Text 31"/>
          <p:cNvSpPr txBox="1"/>
          <p:nvPr/>
        </p:nvSpPr>
        <p:spPr>
          <a:xfrm>
            <a:off x="1909267" y="4410151"/>
            <a:ext cx="7717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800" dirty="0"/>
          </a:p>
        </p:txBody>
      </p:sp>
      <p:sp>
        <p:nvSpPr>
          <p:cNvPr id="41" name="Text 32"/>
          <p:cNvSpPr txBox="1"/>
          <p:nvPr/>
        </p:nvSpPr>
        <p:spPr>
          <a:xfrm>
            <a:off x="2502713" y="4410151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1800" dirty="0"/>
          </a:p>
        </p:txBody>
      </p:sp>
      <p:sp>
        <p:nvSpPr>
          <p:cNvPr id="42" name="Text 33"/>
          <p:cNvSpPr txBox="1"/>
          <p:nvPr/>
        </p:nvSpPr>
        <p:spPr>
          <a:xfrm>
            <a:off x="2731313" y="4410151"/>
            <a:ext cx="5239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</a:t>
            </a:r>
            <a:endParaRPr lang="en-US" sz="1800" dirty="0"/>
          </a:p>
        </p:txBody>
      </p:sp>
      <p:sp>
        <p:nvSpPr>
          <p:cNvPr id="43" name="Text 34"/>
          <p:cNvSpPr txBox="1"/>
          <p:nvPr/>
        </p:nvSpPr>
        <p:spPr>
          <a:xfrm>
            <a:off x="2076602" y="4714646"/>
            <a:ext cx="4672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700" dirty="0"/>
          </a:p>
        </p:txBody>
      </p:sp>
      <p:pic>
        <p:nvPicPr>
          <p:cNvPr id="44" name="Image 7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2685593" y="4848149"/>
            <a:ext cx="228600" cy="228600"/>
          </a:xfrm>
          <a:prstGeom prst="rect">
            <a:avLst/>
          </a:prstGeom>
        </p:spPr>
      </p:pic>
      <p:sp>
        <p:nvSpPr>
          <p:cNvPr id="45" name="Shape 35"/>
          <p:cNvSpPr/>
          <p:nvPr/>
        </p:nvSpPr>
        <p:spPr>
          <a:xfrm>
            <a:off x="4410151" y="4028846"/>
            <a:ext cx="3372307" cy="1295705"/>
          </a:xfrm>
          <a:prstGeom prst="roundRect">
            <a:avLst>
              <a:gd name="adj" fmla="val 4151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sx="100000" sy="100000" kx="0" ky="0" algn="bl" rotWithShape="0" blurRad="139700" dist="101600" dir="5400000">
              <a:srgbClr val="0f766e">
                <a:alpha val="10000"/>
              </a:srgbClr>
            </a:outerShdw>
          </a:effectLst>
        </p:spPr>
      </p:sp>
      <p:sp>
        <p:nvSpPr>
          <p:cNvPr id="46" name="Text 36"/>
          <p:cNvSpPr txBox="1"/>
          <p:nvPr/>
        </p:nvSpPr>
        <p:spPr>
          <a:xfrm>
            <a:off x="5962802" y="4772254"/>
            <a:ext cx="4672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2700" dirty="0"/>
          </a:p>
        </p:txBody>
      </p:sp>
      <p:sp>
        <p:nvSpPr>
          <p:cNvPr id="47" name="Text 37"/>
          <p:cNvSpPr txBox="1"/>
          <p:nvPr/>
        </p:nvSpPr>
        <p:spPr>
          <a:xfrm>
            <a:off x="5439766" y="4200754"/>
            <a:ext cx="1414577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운영(PROBE) VS 검증</a:t>
            </a:r>
            <a:endParaRPr lang="en-US" sz="1000" dirty="0"/>
          </a:p>
        </p:txBody>
      </p:sp>
      <p:sp>
        <p:nvSpPr>
          <p:cNvPr id="48" name="Text 38"/>
          <p:cNvSpPr txBox="1"/>
          <p:nvPr/>
        </p:nvSpPr>
        <p:spPr>
          <a:xfrm>
            <a:off x="5460797" y="4410151"/>
            <a:ext cx="866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</a:t>
            </a:r>
            <a:endParaRPr lang="en-US" sz="1800" dirty="0"/>
          </a:p>
        </p:txBody>
      </p:sp>
      <p:sp>
        <p:nvSpPr>
          <p:cNvPr id="49" name="Text 39"/>
          <p:cNvSpPr txBox="1"/>
          <p:nvPr/>
        </p:nvSpPr>
        <p:spPr>
          <a:xfrm>
            <a:off x="6152083" y="4410151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1800" dirty="0"/>
          </a:p>
        </p:txBody>
      </p:sp>
      <p:sp>
        <p:nvSpPr>
          <p:cNvPr id="50" name="Text 40"/>
          <p:cNvSpPr txBox="1"/>
          <p:nvPr/>
        </p:nvSpPr>
        <p:spPr>
          <a:xfrm>
            <a:off x="6380683" y="4410151"/>
            <a:ext cx="5239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</a:t>
            </a:r>
            <a:endParaRPr lang="en-US" sz="1800" dirty="0"/>
          </a:p>
        </p:txBody>
      </p:sp>
      <p:sp>
        <p:nvSpPr>
          <p:cNvPr id="51" name="Text 41"/>
          <p:cNvSpPr txBox="1"/>
          <p:nvPr/>
        </p:nvSpPr>
        <p:spPr>
          <a:xfrm>
            <a:off x="5677510" y="4714646"/>
            <a:ext cx="4672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700" dirty="0"/>
          </a:p>
        </p:txBody>
      </p:sp>
      <p:pic>
        <p:nvPicPr>
          <p:cNvPr id="52" name="Image 8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6285586" y="4848149"/>
            <a:ext cx="228600" cy="228600"/>
          </a:xfrm>
          <a:prstGeom prst="rect">
            <a:avLst/>
          </a:prstGeom>
        </p:spPr>
      </p:pic>
      <p:sp>
        <p:nvSpPr>
          <p:cNvPr id="53" name="Shape 42"/>
          <p:cNvSpPr/>
          <p:nvPr/>
        </p:nvSpPr>
        <p:spPr>
          <a:xfrm>
            <a:off x="8010144" y="4028846"/>
            <a:ext cx="3372307" cy="1295705"/>
          </a:xfrm>
          <a:prstGeom prst="roundRect">
            <a:avLst>
              <a:gd name="adj" fmla="val 4151"/>
            </a:avLst>
          </a:prstGeom>
          <a:solidFill>
            <a:srgbClr val="F0FDFA"/>
          </a:solidFill>
          <a:ln w="25400">
            <a:solidFill>
              <a:srgbClr val="CCFBF1"/>
            </a:solidFill>
            <a:prstDash val="solid"/>
          </a:ln>
          <a:effectLst>
            <a:outerShdw sx="100000" sy="100000" kx="0" ky="0" algn="bl" rotWithShape="0" blurRad="139700" dist="101600" dir="5400000">
              <a:srgbClr val="0f766e">
                <a:alpha val="10000"/>
              </a:srgbClr>
            </a:outerShdw>
          </a:effectLst>
        </p:spPr>
      </p:sp>
      <p:sp>
        <p:nvSpPr>
          <p:cNvPr id="54" name="Text 43"/>
          <p:cNvSpPr txBox="1"/>
          <p:nvPr/>
        </p:nvSpPr>
        <p:spPr>
          <a:xfrm>
            <a:off x="9562795" y="4772254"/>
            <a:ext cx="467258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en-US" sz="2700" dirty="0"/>
          </a:p>
        </p:txBody>
      </p:sp>
      <p:sp>
        <p:nvSpPr>
          <p:cNvPr id="55" name="Text 44"/>
          <p:cNvSpPr txBox="1"/>
          <p:nvPr/>
        </p:nvSpPr>
        <p:spPr>
          <a:xfrm>
            <a:off x="9321394" y="4200754"/>
            <a:ext cx="8531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VS 운영</a:t>
            </a:r>
            <a:endParaRPr lang="en-US" sz="1000" dirty="0"/>
          </a:p>
        </p:txBody>
      </p:sp>
      <p:sp>
        <p:nvSpPr>
          <p:cNvPr id="56" name="Text 45"/>
          <p:cNvSpPr txBox="1"/>
          <p:nvPr/>
        </p:nvSpPr>
        <p:spPr>
          <a:xfrm>
            <a:off x="8940089" y="4410151"/>
            <a:ext cx="771754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1800" dirty="0"/>
          </a:p>
        </p:txBody>
      </p:sp>
      <p:sp>
        <p:nvSpPr>
          <p:cNvPr id="57" name="Text 46"/>
          <p:cNvSpPr txBox="1"/>
          <p:nvPr/>
        </p:nvSpPr>
        <p:spPr>
          <a:xfrm>
            <a:off x="9533534" y="4410151"/>
            <a:ext cx="400507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∩</a:t>
            </a:r>
            <a:endParaRPr lang="en-US" sz="1800" dirty="0"/>
          </a:p>
        </p:txBody>
      </p:sp>
      <p:sp>
        <p:nvSpPr>
          <p:cNvPr id="58" name="Text 47"/>
          <p:cNvSpPr txBox="1"/>
          <p:nvPr/>
        </p:nvSpPr>
        <p:spPr>
          <a:xfrm>
            <a:off x="9762134" y="4410151"/>
            <a:ext cx="866851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Probe</a:t>
            </a:r>
            <a:endParaRPr lang="en-US" sz="1800" dirty="0"/>
          </a:p>
        </p:txBody>
      </p:sp>
      <p:sp>
        <p:nvSpPr>
          <p:cNvPr id="59" name="Text 48"/>
          <p:cNvSpPr txBox="1"/>
          <p:nvPr/>
        </p:nvSpPr>
        <p:spPr>
          <a:xfrm>
            <a:off x="9277502" y="4714646"/>
            <a:ext cx="467258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=</a:t>
            </a:r>
            <a:endParaRPr lang="en-US" sz="2700" dirty="0"/>
          </a:p>
        </p:txBody>
      </p:sp>
      <p:pic>
        <p:nvPicPr>
          <p:cNvPr id="60" name="Image 9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9886493" y="4848149"/>
            <a:ext cx="228600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314907"/>
            <a:ext cx="11048695" cy="857707"/>
          </a:xfrm>
          <a:prstGeom prst="roundRect">
            <a:avLst>
              <a:gd name="adj" fmla="val 14215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71500" y="2400300"/>
            <a:ext cx="5372100" cy="3781044"/>
          </a:xfrm>
          <a:prstGeom prst="roundRect">
            <a:avLst>
              <a:gd name="adj" fmla="val 731"/>
            </a:avLst>
          </a:prstGeom>
          <a:solidFill>
            <a:srgbClr val="FFFFFF"/>
          </a:solidFill>
          <a:ln w="12700">
            <a:solidFill>
              <a:srgbClr val="F3F4F6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9244" y="2686507"/>
            <a:ext cx="171907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57046" y="2638044"/>
            <a:ext cx="1871777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민감도 분석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48095" y="2400300"/>
            <a:ext cx="2609698" cy="1238098"/>
          </a:xfrm>
          <a:prstGeom prst="roundRect">
            <a:avLst>
              <a:gd name="adj" fmla="val 6817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467344" y="2600554"/>
            <a:ext cx="190195" cy="190195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010498" y="2400300"/>
            <a:ext cx="2609698" cy="1238098"/>
          </a:xfrm>
          <a:prstGeom prst="roundRect">
            <a:avLst>
              <a:gd name="adj" fmla="val 6817"/>
            </a:avLst>
          </a:prstGeom>
          <a:solidFill>
            <a:srgbClr val="FEF2F2"/>
          </a:solidFill>
          <a:ln w="12700">
            <a:solidFill>
              <a:srgbClr val="FEE2E2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11229746" y="2600554"/>
            <a:ext cx="190195" cy="190195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6248095" y="3791102"/>
            <a:ext cx="5372100" cy="2391156"/>
          </a:xfrm>
          <a:prstGeom prst="roundRect">
            <a:avLst>
              <a:gd name="adj" fmla="val 1828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4" name="Shape 9"/>
          <p:cNvSpPr/>
          <p:nvPr/>
        </p:nvSpPr>
        <p:spPr>
          <a:xfrm>
            <a:off x="6486754" y="4448556"/>
            <a:ext cx="4895698" cy="9144"/>
          </a:xfrm>
          <a:prstGeom prst="rect">
            <a:avLst/>
          </a:prstGeom>
          <a:solidFill>
            <a:srgbClr val="E5E7EB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-1100" b="-1100"/>
          <a:stretch/>
        </p:blipFill>
        <p:spPr>
          <a:xfrm>
            <a:off x="6486754" y="4647895"/>
            <a:ext cx="114300" cy="133502"/>
          </a:xfrm>
          <a:prstGeom prst="rect">
            <a:avLst/>
          </a:prstGeom>
        </p:spPr>
      </p:pic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1100" b="-1100"/>
          <a:stretch/>
        </p:blipFill>
        <p:spPr>
          <a:xfrm>
            <a:off x="6486754" y="5105095"/>
            <a:ext cx="114300" cy="133502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-1100" b="-1100"/>
          <a:stretch/>
        </p:blipFill>
        <p:spPr>
          <a:xfrm>
            <a:off x="6486754" y="5562295"/>
            <a:ext cx="114300" cy="133502"/>
          </a:xfrm>
          <a:prstGeom prst="rect">
            <a:avLst/>
          </a:prstGeom>
        </p:spPr>
      </p:pic>
      <p:sp>
        <p:nvSpPr>
          <p:cNvPr id="18" name="Shape 10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9" name="Text 11"/>
          <p:cNvSpPr txBox="1"/>
          <p:nvPr/>
        </p:nvSpPr>
        <p:spPr>
          <a:xfrm>
            <a:off x="571500" y="466344"/>
            <a:ext cx="10287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4 · QA</a:t>
            </a:r>
            <a:endParaRPr lang="en-US" sz="900" dirty="0"/>
          </a:p>
        </p:txBody>
      </p:sp>
      <p:sp>
        <p:nvSpPr>
          <p:cNvPr id="20" name="Text 12"/>
          <p:cNvSpPr txBox="1"/>
          <p:nvPr/>
        </p:nvSpPr>
        <p:spPr>
          <a:xfrm>
            <a:off x="571500" y="590702"/>
            <a:ext cx="44293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&amp; Threshold</a:t>
            </a:r>
            <a:endParaRPr lang="en-US" sz="2700" dirty="0"/>
          </a:p>
        </p:txBody>
      </p:sp>
      <p:sp>
        <p:nvSpPr>
          <p:cNvPr id="21" name="Text 13"/>
          <p:cNvSpPr txBox="1"/>
          <p:nvPr/>
        </p:nvSpPr>
        <p:spPr>
          <a:xfrm>
            <a:off x="743407" y="1466698"/>
            <a:ext cx="10849356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mAP 점수로는 "왜 실패하는지" 설명할 수 없습니다. 특히 약 인식은 Threshold에 의해 잘려나가는 "미탐(False Negative)" 리스크 관리가 핵심입니다.</a:t>
            </a:r>
            <a:endParaRPr lang="en-US" sz="1500" dirty="0"/>
          </a:p>
        </p:txBody>
      </p:sp>
      <p:sp>
        <p:nvSpPr>
          <p:cNvPr id="22" name="Text 14"/>
          <p:cNvSpPr txBox="1"/>
          <p:nvPr/>
        </p:nvSpPr>
        <p:spPr>
          <a:xfrm>
            <a:off x="1198778" y="5781751"/>
            <a:ext cx="42108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* Threshold가 높아질수록 Recall(재현율)이 급격히 하락하는 지점을 파악해야 합니다.</a:t>
            </a:r>
            <a:endParaRPr lang="en-US" sz="900" dirty="0"/>
          </a:p>
        </p:txBody>
      </p:sp>
      <p:sp>
        <p:nvSpPr>
          <p:cNvPr id="23" name="Text 15"/>
          <p:cNvSpPr txBox="1"/>
          <p:nvPr/>
        </p:nvSpPr>
        <p:spPr>
          <a:xfrm>
            <a:off x="6448349" y="2600554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478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0.50</a:t>
            </a:r>
            <a:endParaRPr lang="en-US" sz="1000" dirty="0"/>
          </a:p>
        </p:txBody>
      </p:sp>
      <p:sp>
        <p:nvSpPr>
          <p:cNvPr id="24" name="Text 16"/>
          <p:cNvSpPr txBox="1"/>
          <p:nvPr/>
        </p:nvSpPr>
        <p:spPr>
          <a:xfrm>
            <a:off x="6448349" y="2809951"/>
            <a:ext cx="1010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0.89</a:t>
            </a:r>
            <a:endParaRPr lang="en-US" sz="2700" dirty="0"/>
          </a:p>
        </p:txBody>
      </p:sp>
      <p:sp>
        <p:nvSpPr>
          <p:cNvPr id="25" name="Text 17"/>
          <p:cNvSpPr txBox="1"/>
          <p:nvPr/>
        </p:nvSpPr>
        <p:spPr>
          <a:xfrm>
            <a:off x="6448349" y="3276295"/>
            <a:ext cx="8485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59669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(안정적)</a:t>
            </a:r>
            <a:endParaRPr lang="en-US" sz="900" dirty="0"/>
          </a:p>
        </p:txBody>
      </p:sp>
      <p:sp>
        <p:nvSpPr>
          <p:cNvPr id="26" name="Text 18"/>
          <p:cNvSpPr txBox="1"/>
          <p:nvPr/>
        </p:nvSpPr>
        <p:spPr>
          <a:xfrm>
            <a:off x="9210751" y="2600554"/>
            <a:ext cx="10908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B91C1C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Threshold 0.90</a:t>
            </a:r>
            <a:endParaRPr lang="en-US" sz="1000" dirty="0"/>
          </a:p>
        </p:txBody>
      </p:sp>
      <p:sp>
        <p:nvSpPr>
          <p:cNvPr id="27" name="Text 19"/>
          <p:cNvSpPr txBox="1"/>
          <p:nvPr/>
        </p:nvSpPr>
        <p:spPr>
          <a:xfrm>
            <a:off x="9210751" y="2809951"/>
            <a:ext cx="1010412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0.79</a:t>
            </a:r>
            <a:endParaRPr lang="en-US" sz="2700" dirty="0"/>
          </a:p>
        </p:txBody>
      </p:sp>
      <p:sp>
        <p:nvSpPr>
          <p:cNvPr id="28" name="Text 20"/>
          <p:cNvSpPr txBox="1"/>
          <p:nvPr/>
        </p:nvSpPr>
        <p:spPr>
          <a:xfrm>
            <a:off x="9210751" y="3276295"/>
            <a:ext cx="12097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 (미탐 리스크↑)</a:t>
            </a:r>
            <a:endParaRPr lang="en-US" sz="900" dirty="0"/>
          </a:p>
        </p:txBody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9"/>
          <a:srcRect l="-1773" r="-1773" t="0" b="0"/>
          <a:stretch/>
        </p:blipFill>
        <p:spPr>
          <a:xfrm>
            <a:off x="6486754" y="4165092"/>
            <a:ext cx="133502" cy="171907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6696151" y="4114800"/>
            <a:ext cx="1176833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대응 전략</a:t>
            </a:r>
            <a:endParaRPr lang="en-US" sz="1300" dirty="0"/>
          </a:p>
        </p:txBody>
      </p:sp>
      <p:sp>
        <p:nvSpPr>
          <p:cNvPr id="31" name="Text 22"/>
          <p:cNvSpPr txBox="1"/>
          <p:nvPr/>
        </p:nvSpPr>
        <p:spPr>
          <a:xfrm>
            <a:off x="6715354" y="4610405"/>
            <a:ext cx="14054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Confidence 분포 진단</a:t>
            </a:r>
            <a:endParaRPr lang="en-US" sz="1000" dirty="0"/>
          </a:p>
        </p:txBody>
      </p:sp>
      <p:sp>
        <p:nvSpPr>
          <p:cNvPr id="32" name="Text 23"/>
          <p:cNvSpPr txBox="1"/>
          <p:nvPr/>
        </p:nvSpPr>
        <p:spPr>
          <a:xfrm>
            <a:off x="6715354" y="4791456"/>
            <a:ext cx="2591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모델이 정답을 맞출 때 얼마나 '확신'하는지 분포 확인</a:t>
            </a:r>
            <a:endParaRPr lang="en-US" sz="900" dirty="0"/>
          </a:p>
        </p:txBody>
      </p:sp>
      <p:sp>
        <p:nvSpPr>
          <p:cNvPr id="33" name="Text 24"/>
          <p:cNvSpPr txBox="1"/>
          <p:nvPr/>
        </p:nvSpPr>
        <p:spPr>
          <a:xfrm>
            <a:off x="6715354" y="5067605"/>
            <a:ext cx="9198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모드 분리</a:t>
            </a:r>
            <a:endParaRPr lang="en-US" sz="1000" dirty="0"/>
          </a:p>
        </p:txBody>
      </p:sp>
      <p:sp>
        <p:nvSpPr>
          <p:cNvPr id="34" name="Text 25"/>
          <p:cNvSpPr txBox="1"/>
          <p:nvPr/>
        </p:nvSpPr>
        <p:spPr>
          <a:xfrm>
            <a:off x="6715354" y="5248656"/>
            <a:ext cx="23052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탐지 실패(미탐) vs 오인식(오탐)의 비율을 조절</a:t>
            </a:r>
            <a:endParaRPr lang="en-US" sz="900" dirty="0"/>
          </a:p>
        </p:txBody>
      </p:sp>
      <p:sp>
        <p:nvSpPr>
          <p:cNvPr id="35" name="Text 26"/>
          <p:cNvSpPr txBox="1"/>
          <p:nvPr/>
        </p:nvSpPr>
        <p:spPr>
          <a:xfrm>
            <a:off x="6715354" y="5524805"/>
            <a:ext cx="6912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UX적 보완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6715354" y="5705856"/>
            <a:ext cx="2734056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낮은 확신도일 경우 "다시 촬영해주세요" 등 가이드 제공</a:t>
            </a:r>
            <a:endParaRPr lang="en-US" sz="900" dirty="0"/>
          </a:p>
        </p:txBody>
      </p:sp>
      <p:sp>
        <p:nvSpPr>
          <p:cNvPr id="37" name="Text 28"/>
          <p:cNvSpPr txBox="1"/>
          <p:nvPr/>
        </p:nvSpPr>
        <p:spPr>
          <a:xfrm>
            <a:off x="571500" y="6409944"/>
            <a:ext cx="23436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QA Operational Sensitivity</a:t>
            </a:r>
            <a:endParaRPr lang="en-US" sz="900" dirty="0"/>
          </a:p>
        </p:txBody>
      </p:sp>
      <p:sp>
        <p:nvSpPr>
          <p:cNvPr id="38" name="Text 29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27/33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39" name="Text 30"/>
          <p:cNvSpPr txBox="1"/>
          <p:nvPr/>
        </p:nvSpPr>
        <p:spPr>
          <a:xfrm>
            <a:off x="9598457" y="752551"/>
            <a:ext cx="21579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정책을 "수치로" 만든다</a:t>
            </a:r>
            <a:endParaRPr lang="en-US" sz="1300" dirty="0"/>
          </a:p>
        </p:txBody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0"/>
          <a:srcRect l="-3" r="-3" t="0" b="0"/>
          <a:stretch/>
        </p:blipFill>
        <p:spPr>
          <a:xfrm>
            <a:off x="809244" y="3057754"/>
            <a:ext cx="4895698" cy="2657246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324198"/>
            <a:ext cx="5410505" cy="1857146"/>
          </a:xfrm>
          <a:prstGeom prst="roundRect">
            <a:avLst>
              <a:gd name="adj" fmla="val 4040"/>
            </a:avLst>
          </a:prstGeom>
          <a:noFill/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14400" y="4690872"/>
            <a:ext cx="171907" cy="171907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5158130"/>
            <a:ext cx="152705" cy="152705"/>
          </a:xfrm>
          <a:prstGeom prst="rect">
            <a:avLst/>
          </a:prstGeom>
        </p:spPr>
      </p:pic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09244" y="5501030"/>
            <a:ext cx="152705" cy="152705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6210605" y="4324198"/>
            <a:ext cx="5410505" cy="1857146"/>
          </a:xfrm>
          <a:prstGeom prst="roundRect">
            <a:avLst>
              <a:gd name="adj" fmla="val 4040"/>
            </a:avLst>
          </a:prstGeom>
          <a:solidFill>
            <a:srgbClr val="EEF2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5"/>
          <p:cNvSpPr/>
          <p:nvPr/>
        </p:nvSpPr>
        <p:spPr>
          <a:xfrm>
            <a:off x="6448349" y="4598518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6"/>
          <a:srcRect l="-1064" r="-1064" t="0" b="0"/>
          <a:stretch/>
        </p:blipFill>
        <p:spPr>
          <a:xfrm>
            <a:off x="6529730" y="4702759"/>
            <a:ext cx="219456" cy="171907"/>
          </a:xfrm>
          <a:prstGeom prst="rect">
            <a:avLst/>
          </a:prstGeom>
        </p:spPr>
      </p:pic>
      <p:pic>
        <p:nvPicPr>
          <p:cNvPr id="12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180" b="-180"/>
          <a:stretch/>
        </p:blipFill>
        <p:spPr>
          <a:xfrm>
            <a:off x="6448349" y="5170018"/>
            <a:ext cx="190195" cy="152705"/>
          </a:xfrm>
          <a:prstGeom prst="rect">
            <a:avLst/>
          </a:prstGeom>
        </p:spPr>
      </p:pic>
      <p:sp>
        <p:nvSpPr>
          <p:cNvPr id="13" name="Shape 6"/>
          <p:cNvSpPr/>
          <p:nvPr/>
        </p:nvSpPr>
        <p:spPr>
          <a:xfrm>
            <a:off x="6486754" y="5474513"/>
            <a:ext cx="19202" cy="437998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4" name="Shape 7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5" name="Text 8"/>
          <p:cNvSpPr txBox="1"/>
          <p:nvPr/>
        </p:nvSpPr>
        <p:spPr>
          <a:xfrm>
            <a:off x="571500" y="504749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RESULT</a:t>
            </a:r>
            <a:endParaRPr lang="en-US" sz="900" dirty="0"/>
          </a:p>
        </p:txBody>
      </p:sp>
      <p:sp>
        <p:nvSpPr>
          <p:cNvPr id="16" name="Text 9"/>
          <p:cNvSpPr txBox="1"/>
          <p:nvPr/>
        </p:nvSpPr>
        <p:spPr>
          <a:xfrm>
            <a:off x="571500" y="629107"/>
            <a:ext cx="51060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Official 모델 성과 (Validation)</a:t>
            </a:r>
            <a:endParaRPr lang="en-US" sz="2700" dirty="0"/>
          </a:p>
        </p:txBody>
      </p:sp>
      <p:sp>
        <p:nvSpPr>
          <p:cNvPr id="17" name="Text 10"/>
          <p:cNvSpPr txBox="1"/>
          <p:nvPr/>
        </p:nvSpPr>
        <p:spPr>
          <a:xfrm>
            <a:off x="1304849" y="4634179"/>
            <a:ext cx="1524305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점수의 "질" 해석</a:t>
            </a:r>
            <a:endParaRPr lang="en-US" sz="1500" dirty="0"/>
          </a:p>
        </p:txBody>
      </p:sp>
      <p:sp>
        <p:nvSpPr>
          <p:cNvPr id="18" name="Text 11"/>
          <p:cNvSpPr txBox="1"/>
          <p:nvPr/>
        </p:nvSpPr>
        <p:spPr>
          <a:xfrm>
            <a:off x="1076249" y="5119726"/>
            <a:ext cx="44961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mAP50(0.958)은 매우 높음 → 탐지(Detection) 자체는 매우 성공적</a:t>
            </a:r>
            <a:endParaRPr lang="en-US" sz="1200" dirty="0"/>
          </a:p>
        </p:txBody>
      </p:sp>
      <p:sp>
        <p:nvSpPr>
          <p:cNvPr id="19" name="Text 12"/>
          <p:cNvSpPr txBox="1"/>
          <p:nvPr/>
        </p:nvSpPr>
        <p:spPr>
          <a:xfrm>
            <a:off x="1076249" y="5462626"/>
            <a:ext cx="45912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mAP50-95와의 차이 발생 → IoU 기준이 엄격할수록 박스 정밀도 영향 (Tight BBox 이슈)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6943954" y="4646066"/>
            <a:ext cx="14767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운영 관점의 적용</a:t>
            </a:r>
            <a:endParaRPr lang="en-US" sz="1500" dirty="0"/>
          </a:p>
        </p:txBody>
      </p:sp>
      <p:sp>
        <p:nvSpPr>
          <p:cNvPr id="21" name="Text 14"/>
          <p:cNvSpPr txBox="1"/>
          <p:nvPr/>
        </p:nvSpPr>
        <p:spPr>
          <a:xfrm>
            <a:off x="6752844" y="5131613"/>
            <a:ext cx="24963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단일 점수보다 중요한 Trade-off 관리</a:t>
            </a:r>
            <a:endParaRPr lang="en-US" sz="1200" dirty="0"/>
          </a:p>
        </p:txBody>
      </p:sp>
      <p:sp>
        <p:nvSpPr>
          <p:cNvPr id="22" name="Text 15"/>
          <p:cNvSpPr txBox="1"/>
          <p:nvPr/>
        </p:nvSpPr>
        <p:spPr>
          <a:xfrm>
            <a:off x="6810451" y="5483657"/>
            <a:ext cx="4644238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실제 운영에서는 Threshold 설정을 통해 오탐(FP)과 미탐(FN)의 균형을 서비스 목적(안전 vs 편의)에 맞게 조절합니다.</a:t>
            </a:r>
            <a:endParaRPr lang="en-US" sz="10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" y="6409944"/>
            <a:ext cx="1686154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Model Results</a:t>
            </a:r>
            <a:endParaRPr lang="en-US" sz="900" dirty="0"/>
          </a:p>
        </p:txBody>
      </p:sp>
      <p:sp>
        <p:nvSpPr>
          <p:cNvPr id="24" name="Text 17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28/33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5" name="Text 18"/>
          <p:cNvSpPr txBox="1"/>
          <p:nvPr/>
        </p:nvSpPr>
        <p:spPr>
          <a:xfrm>
            <a:off x="9196121" y="790956"/>
            <a:ext cx="2557577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Performance Metrics &amp; Analysis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71500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7" name="Text 20"/>
          <p:cNvSpPr txBox="1"/>
          <p:nvPr/>
        </p:nvSpPr>
        <p:spPr>
          <a:xfrm>
            <a:off x="1452982" y="1591056"/>
            <a:ext cx="929030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(50-95)</a:t>
            </a:r>
            <a:endParaRPr lang="en-US" sz="1000" dirty="0"/>
          </a:p>
        </p:txBody>
      </p:sp>
      <p:sp>
        <p:nvSpPr>
          <p:cNvPr id="28" name="Text 21"/>
          <p:cNvSpPr txBox="1"/>
          <p:nvPr/>
        </p:nvSpPr>
        <p:spPr>
          <a:xfrm>
            <a:off x="138897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0.844</a:t>
            </a:r>
            <a:endParaRPr lang="en-US" sz="2700" dirty="0"/>
          </a:p>
        </p:txBody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1200607" y="2523744"/>
            <a:ext cx="1333195" cy="1333195"/>
          </a:xfrm>
          <a:prstGeom prst="rect">
            <a:avLst/>
          </a:prstGeom>
        </p:spPr>
      </p:pic>
      <p:sp>
        <p:nvSpPr>
          <p:cNvPr id="30" name="Shape 22"/>
          <p:cNvSpPr/>
          <p:nvPr/>
        </p:nvSpPr>
        <p:spPr>
          <a:xfrm>
            <a:off x="3390595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Text 23"/>
          <p:cNvSpPr txBox="1"/>
          <p:nvPr/>
        </p:nvSpPr>
        <p:spPr>
          <a:xfrm>
            <a:off x="4380890" y="1591056"/>
            <a:ext cx="7196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MAP (50)</a:t>
            </a:r>
            <a:endParaRPr lang="en-US" sz="1000" dirty="0"/>
          </a:p>
        </p:txBody>
      </p:sp>
      <p:sp>
        <p:nvSpPr>
          <p:cNvPr id="32" name="Text 24"/>
          <p:cNvSpPr txBox="1"/>
          <p:nvPr/>
        </p:nvSpPr>
        <p:spPr>
          <a:xfrm>
            <a:off x="4208069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0.958</a:t>
            </a:r>
            <a:endParaRPr lang="en-US" sz="2700" dirty="0"/>
          </a:p>
        </p:txBody>
      </p:sp>
      <p:pic>
        <p:nvPicPr>
          <p:cNvPr id="33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019702" y="2523744"/>
            <a:ext cx="1333195" cy="1333195"/>
          </a:xfrm>
          <a:prstGeom prst="rect">
            <a:avLst/>
          </a:prstGeom>
        </p:spPr>
      </p:pic>
      <p:sp>
        <p:nvSpPr>
          <p:cNvPr id="34" name="Shape 25"/>
          <p:cNvSpPr/>
          <p:nvPr/>
        </p:nvSpPr>
        <p:spPr>
          <a:xfrm>
            <a:off x="6210605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26"/>
          <p:cNvSpPr txBox="1"/>
          <p:nvPr/>
        </p:nvSpPr>
        <p:spPr>
          <a:xfrm>
            <a:off x="7128662" y="1591056"/>
            <a:ext cx="8622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36" name="Text 27"/>
          <p:cNvSpPr txBox="1"/>
          <p:nvPr/>
        </p:nvSpPr>
        <p:spPr>
          <a:xfrm>
            <a:off x="702716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0.764</a:t>
            </a:r>
            <a:endParaRPr lang="en-US" sz="2700" dirty="0"/>
          </a:p>
        </p:txBody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0" b="0"/>
          <a:stretch/>
        </p:blipFill>
        <p:spPr>
          <a:xfrm>
            <a:off x="6838798" y="2523744"/>
            <a:ext cx="1333195" cy="1333195"/>
          </a:xfrm>
          <a:prstGeom prst="rect">
            <a:avLst/>
          </a:prstGeom>
        </p:spPr>
      </p:pic>
      <p:sp>
        <p:nvSpPr>
          <p:cNvPr id="38" name="Shape 28"/>
          <p:cNvSpPr/>
          <p:nvPr/>
        </p:nvSpPr>
        <p:spPr>
          <a:xfrm>
            <a:off x="9029700" y="1352398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9" name="Text 29"/>
          <p:cNvSpPr txBox="1"/>
          <p:nvPr/>
        </p:nvSpPr>
        <p:spPr>
          <a:xfrm>
            <a:off x="10064801" y="1591056"/>
            <a:ext cx="6245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RECALL</a:t>
            </a:r>
            <a:endParaRPr lang="en-US" sz="1000" dirty="0"/>
          </a:p>
        </p:txBody>
      </p:sp>
      <p:sp>
        <p:nvSpPr>
          <p:cNvPr id="40" name="Text 30"/>
          <p:cNvSpPr txBox="1"/>
          <p:nvPr/>
        </p:nvSpPr>
        <p:spPr>
          <a:xfrm>
            <a:off x="9847174" y="17620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6366F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0.833</a:t>
            </a:r>
            <a:endParaRPr lang="en-US" sz="2700" dirty="0"/>
          </a:p>
        </p:txBody>
      </p:sp>
      <p:pic>
        <p:nvPicPr>
          <p:cNvPr id="41" name="Image 8" descr="preencoded.png">    </p:cNvPr>
          <p:cNvPicPr>
            <a:picLocks noChangeAspect="1"/>
          </p:cNvPicPr>
          <p:nvPr/>
        </p:nvPicPr>
        <p:blipFill>
          <a:blip r:embed="rId11"/>
          <a:srcRect l="0" r="0" t="0" b="0"/>
          <a:stretch/>
        </p:blipFill>
        <p:spPr>
          <a:xfrm>
            <a:off x="9658807" y="2523744"/>
            <a:ext cx="1333195" cy="1333195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961474" y="362102"/>
            <a:ext cx="1666951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4651553"/>
            <a:ext cx="5372100" cy="1362456"/>
          </a:xfrm>
          <a:prstGeom prst="roundRect">
            <a:avLst>
              <a:gd name="adj" fmla="val 5632"/>
            </a:avLst>
          </a:prstGeom>
          <a:solidFill>
            <a:srgbClr val="F9FAFB"/>
          </a:solidFill>
          <a:ln w="12700">
            <a:solidFill>
              <a:srgbClr val="E5E7EB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1754" y="4890211"/>
            <a:ext cx="152705" cy="15270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00354" y="4851806"/>
            <a:ext cx="15718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타이트한 BBox의 영향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248095" y="4651553"/>
            <a:ext cx="5372100" cy="1362456"/>
          </a:xfrm>
          <a:prstGeom prst="roundRect">
            <a:avLst>
              <a:gd name="adj" fmla="val 5632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100" b="-100"/>
          <a:stretch/>
        </p:blipFill>
        <p:spPr>
          <a:xfrm>
            <a:off x="6448349" y="4890211"/>
            <a:ext cx="114300" cy="152705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6638544" y="4851806"/>
            <a:ext cx="14008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해결 방향 (Insight)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1500" y="219456"/>
            <a:ext cx="11247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2. DATA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81305"/>
            <a:ext cx="5691226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불일치(56↔74)와 셀프 라벨링의 함정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10075774" y="400507"/>
            <a:ext cx="15389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Data/Label Challenges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771754" y="5166360"/>
            <a:ext cx="5072177" cy="6291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박스가 객체에 너무 딱 맞게 그려지면, 모델이 아주 조금만 크게 예측해도 IoU(교집합/합집합) 점수가 크게 떨어짐. 이는 특히 mAP50-95 같은 엄격한 지표에서 성능 하락의 주원인이 됨.</a:t>
            </a:r>
            <a:endParaRPr lang="en-US" sz="1000" dirty="0"/>
          </a:p>
        </p:txBody>
      </p:sp>
      <p:sp>
        <p:nvSpPr>
          <p:cNvPr id="17" name="Text 13"/>
          <p:cNvSpPr txBox="1"/>
          <p:nvPr/>
        </p:nvSpPr>
        <p:spPr>
          <a:xfrm>
            <a:off x="6448349" y="5166360"/>
            <a:ext cx="50721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"적정 여유 공간"을 가진 BBox로 조정하면 IoU 안정성이 높아져 mAP50-95 회복 가능. 클래스 분류 정확도는 이미 확보되었으므로, 위치 정밀도 튜닝이 다음 과제임.</a:t>
            </a:r>
            <a:endParaRPr lang="en-US" sz="1000" dirty="0"/>
          </a:p>
        </p:txBody>
      </p:sp>
      <p:sp>
        <p:nvSpPr>
          <p:cNvPr id="18" name="Text 14"/>
          <p:cNvSpPr txBox="1"/>
          <p:nvPr/>
        </p:nvSpPr>
        <p:spPr>
          <a:xfrm>
            <a:off x="571500" y="6505956"/>
            <a:ext cx="2134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Data/Label Challenges</a:t>
            </a:r>
            <a:endParaRPr lang="en-US" sz="900" dirty="0"/>
          </a:p>
        </p:txBody>
      </p:sp>
      <p:sp>
        <p:nvSpPr>
          <p:cNvPr id="19" name="Text 15"/>
          <p:cNvSpPr txBox="1"/>
          <p:nvPr/>
        </p:nvSpPr>
        <p:spPr>
          <a:xfrm>
            <a:off x="11033150" y="650595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29/33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0" name="Shape 16"/>
          <p:cNvSpPr/>
          <p:nvPr/>
        </p:nvSpPr>
        <p:spPr>
          <a:xfrm>
            <a:off x="571500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09244" y="1537106"/>
            <a:ext cx="895198" cy="228600"/>
          </a:xfrm>
          <a:prstGeom prst="roundRect">
            <a:avLst>
              <a:gd name="adj" fmla="val 400000"/>
            </a:avLst>
          </a:prstGeom>
          <a:solidFill>
            <a:srgbClr val="FEE2E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923544" y="1565453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DC26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1. 문제</a:t>
            </a:r>
            <a:endParaRPr lang="en-US" sz="900" dirty="0"/>
          </a:p>
        </p:txBody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3622853" y="1537106"/>
            <a:ext cx="190195" cy="190195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809244" y="1908353"/>
            <a:ext cx="1248156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불일치</a:t>
            </a:r>
            <a:endParaRPr lang="en-US" sz="1500" dirty="0"/>
          </a:p>
        </p:txBody>
      </p:sp>
      <p:sp>
        <p:nvSpPr>
          <p:cNvPr id="25" name="Shape 20"/>
          <p:cNvSpPr/>
          <p:nvPr/>
        </p:nvSpPr>
        <p:spPr>
          <a:xfrm>
            <a:off x="809244" y="2261311"/>
            <a:ext cx="3010205" cy="1772107"/>
          </a:xfrm>
          <a:prstGeom prst="roundRect">
            <a:avLst>
              <a:gd name="adj" fmla="val 2219"/>
            </a:avLst>
          </a:prstGeom>
          <a:solidFill>
            <a:srgbClr val="F9FAFB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119226" y="2675534"/>
            <a:ext cx="3621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Train</a:t>
            </a:r>
            <a:endParaRPr lang="en-US" sz="900" dirty="0"/>
          </a:p>
        </p:txBody>
      </p:sp>
      <p:sp>
        <p:nvSpPr>
          <p:cNvPr id="27" name="Text 22"/>
          <p:cNvSpPr txBox="1"/>
          <p:nvPr/>
        </p:nvSpPr>
        <p:spPr>
          <a:xfrm>
            <a:off x="1114654" y="2818181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56</a:t>
            </a:r>
            <a:endParaRPr lang="en-US" sz="1800" dirty="0"/>
          </a:p>
        </p:txBody>
      </p:sp>
      <p:sp>
        <p:nvSpPr>
          <p:cNvPr id="28" name="Text 23"/>
          <p:cNvSpPr txBox="1"/>
          <p:nvPr/>
        </p:nvSpPr>
        <p:spPr>
          <a:xfrm>
            <a:off x="2244852" y="2818181"/>
            <a:ext cx="2340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≠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3260750" y="2675534"/>
            <a:ext cx="3054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Test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3229661" y="2818181"/>
            <a:ext cx="457200" cy="3337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F4444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74</a:t>
            </a:r>
            <a:endParaRPr lang="en-US" sz="1800" dirty="0"/>
          </a:p>
        </p:txBody>
      </p:sp>
      <p:sp>
        <p:nvSpPr>
          <p:cNvPr id="31" name="Shape 26"/>
          <p:cNvSpPr/>
          <p:nvPr/>
        </p:nvSpPr>
        <p:spPr>
          <a:xfrm>
            <a:off x="961949" y="3218688"/>
            <a:ext cx="2704795" cy="9144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32" name="Text 27"/>
          <p:cNvSpPr txBox="1"/>
          <p:nvPr/>
        </p:nvSpPr>
        <p:spPr>
          <a:xfrm>
            <a:off x="1580083" y="3294583"/>
            <a:ext cx="15526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데이터에는 없는 클래스가</a:t>
            </a:r>
            <a:endParaRPr lang="en-US" sz="900" dirty="0"/>
          </a:p>
        </p:txBody>
      </p:sp>
      <p:sp>
        <p:nvSpPr>
          <p:cNvPr id="33" name="Text 28"/>
          <p:cNvSpPr txBox="1"/>
          <p:nvPr/>
        </p:nvSpPr>
        <p:spPr>
          <a:xfrm>
            <a:off x="1805940" y="3447288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테스트셋에 다수 존재</a:t>
            </a:r>
            <a:endParaRPr lang="en-US" sz="900" dirty="0"/>
          </a:p>
        </p:txBody>
      </p:sp>
      <p:sp>
        <p:nvSpPr>
          <p:cNvPr id="34" name="Shape 29"/>
          <p:cNvSpPr/>
          <p:nvPr/>
        </p:nvSpPr>
        <p:spPr>
          <a:xfrm>
            <a:off x="4356202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30"/>
          <p:cNvSpPr txBox="1"/>
          <p:nvPr/>
        </p:nvSpPr>
        <p:spPr>
          <a:xfrm>
            <a:off x="4708246" y="1565453"/>
            <a:ext cx="7525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2. 해결</a:t>
            </a:r>
            <a:endParaRPr lang="en-US" sz="900" dirty="0"/>
          </a:p>
        </p:txBody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7407554" y="1537106"/>
            <a:ext cx="190195" cy="19019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4593946" y="1908353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셀프 라벨링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4746650" y="2746858"/>
            <a:ext cx="21479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이미지명/메타 데이터 기반 매핑 구축</a:t>
            </a:r>
            <a:endParaRPr lang="en-US" sz="1000" dirty="0"/>
          </a:p>
        </p:txBody>
      </p:sp>
      <p:sp>
        <p:nvSpPr>
          <p:cNvPr id="39" name="Text 33"/>
          <p:cNvSpPr txBox="1"/>
          <p:nvPr/>
        </p:nvSpPr>
        <p:spPr>
          <a:xfrm>
            <a:off x="4746650" y="3051353"/>
            <a:ext cx="203362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18개 신규 클래스 추가 라벨링 진행</a:t>
            </a:r>
            <a:endParaRPr lang="en-US" sz="1000" dirty="0"/>
          </a:p>
        </p:txBody>
      </p:sp>
      <p:sp>
        <p:nvSpPr>
          <p:cNvPr id="40" name="Text 34"/>
          <p:cNvSpPr txBox="1"/>
          <p:nvPr/>
        </p:nvSpPr>
        <p:spPr>
          <a:xfrm>
            <a:off x="4746650" y="3356762"/>
            <a:ext cx="16340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총 74개 클래스로 확장 완료</a:t>
            </a:r>
            <a:endParaRPr lang="en-US" sz="1000" dirty="0"/>
          </a:p>
        </p:txBody>
      </p:sp>
      <p:sp>
        <p:nvSpPr>
          <p:cNvPr id="41" name="Shape 35"/>
          <p:cNvSpPr/>
          <p:nvPr/>
        </p:nvSpPr>
        <p:spPr>
          <a:xfrm>
            <a:off x="8140903" y="1299362"/>
            <a:ext cx="3486607" cy="3047695"/>
          </a:xfrm>
          <a:prstGeom prst="roundRect">
            <a:avLst>
              <a:gd name="adj" fmla="val 1125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2" name="Text 36"/>
          <p:cNvSpPr txBox="1"/>
          <p:nvPr/>
        </p:nvSpPr>
        <p:spPr>
          <a:xfrm>
            <a:off x="8492947" y="1565453"/>
            <a:ext cx="11055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STEP 3. 새로운 문제</a:t>
            </a:r>
            <a:endParaRPr lang="en-US" sz="900" dirty="0"/>
          </a:p>
        </p:txBody>
      </p:sp>
      <p:pic>
        <p:nvPicPr>
          <p:cNvPr id="43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1192256" y="1537106"/>
            <a:ext cx="190195" cy="190195"/>
          </a:xfrm>
          <a:prstGeom prst="rect">
            <a:avLst/>
          </a:prstGeom>
        </p:spPr>
      </p:pic>
      <p:sp>
        <p:nvSpPr>
          <p:cNvPr id="44" name="Text 37"/>
          <p:cNvSpPr txBox="1"/>
          <p:nvPr/>
        </p:nvSpPr>
        <p:spPr>
          <a:xfrm>
            <a:off x="8378647" y="1908353"/>
            <a:ext cx="1714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BBox Tight Issue</a:t>
            </a:r>
            <a:endParaRPr lang="en-US" sz="1500" dirty="0"/>
          </a:p>
        </p:txBody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8">
            <a:alphaModFix amt="20000"/>
          </a:blip>
          <a:srcRect l="-469" r="-469" t="0" b="0"/>
          <a:stretch/>
        </p:blipFill>
        <p:spPr>
          <a:xfrm>
            <a:off x="10801807" y="2370125"/>
            <a:ext cx="504749" cy="571500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531352" y="2413102"/>
            <a:ext cx="10241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 민감도 증가</a:t>
            </a:r>
            <a:endParaRPr lang="en-US" sz="1000" dirty="0"/>
          </a:p>
        </p:txBody>
      </p:sp>
      <p:sp>
        <p:nvSpPr>
          <p:cNvPr id="47" name="Text 39"/>
          <p:cNvSpPr txBox="1"/>
          <p:nvPr/>
        </p:nvSpPr>
        <p:spPr>
          <a:xfrm>
            <a:off x="8531352" y="2689250"/>
            <a:ext cx="2734056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라벨링된 박스가 너무 "타이트"하게 그려져서, 예측이 조금만 벗어나도 IoU가 급격히 하락함</a:t>
            </a:r>
            <a:endParaRPr lang="en-US" sz="900" dirty="0"/>
          </a:p>
        </p:txBody>
      </p:sp>
      <p:sp>
        <p:nvSpPr>
          <p:cNvPr id="48" name="Shape 40"/>
          <p:cNvSpPr/>
          <p:nvPr/>
        </p:nvSpPr>
        <p:spPr>
          <a:xfrm>
            <a:off x="8531352" y="3165653"/>
            <a:ext cx="2704795" cy="418795"/>
          </a:xfrm>
          <a:prstGeom prst="roundRect">
            <a:avLst>
              <a:gd name="adj" fmla="val 19849"/>
            </a:avLst>
          </a:prstGeom>
          <a:solidFill>
            <a:srgbClr val="FFFFFF">
              <a:alpha val="60000"/>
            </a:srgbClr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9" name="Text 41"/>
          <p:cNvSpPr txBox="1"/>
          <p:nvPr/>
        </p:nvSpPr>
        <p:spPr>
          <a:xfrm>
            <a:off x="8617306" y="3251606"/>
            <a:ext cx="1467612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IoU Threshold Fail Risk ↑</a:t>
            </a:r>
            <a:endParaRPr lang="en-US" sz="900" dirty="0"/>
          </a:p>
        </p:txBody>
      </p:sp>
      <p:sp>
        <p:nvSpPr>
          <p:cNvPr id="50" name="Shape 42"/>
          <p:cNvSpPr/>
          <p:nvPr/>
        </p:nvSpPr>
        <p:spPr>
          <a:xfrm>
            <a:off x="8617306" y="3441802"/>
            <a:ext cx="2533802" cy="57607"/>
          </a:xfrm>
          <a:prstGeom prst="roundRect">
            <a:avLst>
              <a:gd name="adj" fmla="val 1587307"/>
            </a:avLst>
          </a:prstGeom>
          <a:solidFill>
            <a:srgbClr val="E5E7EB"/>
          </a:solidFill>
          <a:ln/>
        </p:spPr>
      </p:sp>
      <p:sp>
        <p:nvSpPr>
          <p:cNvPr id="51" name="Shape 43"/>
          <p:cNvSpPr/>
          <p:nvPr/>
        </p:nvSpPr>
        <p:spPr>
          <a:xfrm>
            <a:off x="8617306" y="3441802"/>
            <a:ext cx="2152498" cy="57607"/>
          </a:xfrm>
          <a:prstGeom prst="roundRect">
            <a:avLst>
              <a:gd name="adj" fmla="val 1587307"/>
            </a:avLst>
          </a:prstGeom>
          <a:solidFill>
            <a:srgbClr val="F87171"/>
          </a:solidFill>
          <a:ln/>
        </p:spPr>
      </p:sp>
      <p:pic>
        <p:nvPicPr>
          <p:cNvPr id="52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-80" b="-80"/>
          <a:stretch/>
        </p:blipFill>
        <p:spPr>
          <a:xfrm>
            <a:off x="4127602" y="2708453"/>
            <a:ext cx="142646" cy="228600"/>
          </a:xfrm>
          <a:prstGeom prst="rect">
            <a:avLst/>
          </a:prstGeom>
        </p:spPr>
      </p:pic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10"/>
          <a:srcRect l="0" r="0" t="-80" b="-80"/>
          <a:stretch/>
        </p:blipFill>
        <p:spPr>
          <a:xfrm>
            <a:off x="7912303" y="2708453"/>
            <a:ext cx="142646" cy="2286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4162349"/>
            <a:ext cx="5410505" cy="2018995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4162349"/>
            <a:ext cx="47549" cy="2018995"/>
          </a:xfrm>
          <a:prstGeom prst="rect">
            <a:avLst/>
          </a:prstGeom>
          <a:solidFill>
            <a:srgbClr val="00000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52805" y="4496105"/>
            <a:ext cx="171907" cy="171907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-43" b="-43"/>
          <a:stretch/>
        </p:blipFill>
        <p:spPr>
          <a:xfrm>
            <a:off x="847649" y="4962449"/>
            <a:ext cx="133502" cy="152705"/>
          </a:xfrm>
          <a:prstGeom prst="rect">
            <a:avLst/>
          </a:prstGeom>
        </p:spPr>
      </p:pic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47649" y="5533949"/>
            <a:ext cx="152705" cy="152705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6210605" y="4162349"/>
            <a:ext cx="5410505" cy="2018995"/>
          </a:xfrm>
          <a:prstGeom prst="roundRect">
            <a:avLst>
              <a:gd name="adj" fmla="val 2564"/>
            </a:avLst>
          </a:prstGeom>
          <a:solidFill>
            <a:srgbClr val="F8FAFC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6210605" y="4162349"/>
            <a:ext cx="47549" cy="2018995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12" name="Shape 7"/>
          <p:cNvSpPr/>
          <p:nvPr/>
        </p:nvSpPr>
        <p:spPr>
          <a:xfrm>
            <a:off x="6486754" y="444124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6"/>
          <a:srcRect l="-1773" r="-1773" t="0" b="0"/>
          <a:stretch/>
        </p:blipFill>
        <p:spPr>
          <a:xfrm>
            <a:off x="6610198" y="4545482"/>
            <a:ext cx="133502" cy="171907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6486754" y="5522062"/>
            <a:ext cx="19202" cy="381305"/>
          </a:xfrm>
          <a:prstGeom prst="rect">
            <a:avLst/>
          </a:prstGeom>
          <a:solidFill>
            <a:srgbClr val="C7D2FE"/>
          </a:solidFill>
          <a:ln/>
        </p:spPr>
      </p:sp>
      <p:sp>
        <p:nvSpPr>
          <p:cNvPr id="15" name="Shape 9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6" name="Text 10"/>
          <p:cNvSpPr txBox="1"/>
          <p:nvPr/>
        </p:nvSpPr>
        <p:spPr>
          <a:xfrm>
            <a:off x="571500" y="342900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INSIGHT</a:t>
            </a:r>
            <a:endParaRPr lang="en-US" sz="900" dirty="0"/>
          </a:p>
        </p:txBody>
      </p:sp>
      <p:sp>
        <p:nvSpPr>
          <p:cNvPr id="17" name="Text 11"/>
          <p:cNvSpPr txBox="1"/>
          <p:nvPr/>
        </p:nvSpPr>
        <p:spPr>
          <a:xfrm>
            <a:off x="571500" y="466344"/>
            <a:ext cx="4286707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 후 mAP 하락의 해석</a:t>
            </a:r>
            <a:endParaRPr lang="en-US" sz="2700" dirty="0"/>
          </a:p>
        </p:txBody>
      </p:sp>
      <p:sp>
        <p:nvSpPr>
          <p:cNvPr id="18" name="Text 12"/>
          <p:cNvSpPr txBox="1"/>
          <p:nvPr/>
        </p:nvSpPr>
        <p:spPr>
          <a:xfrm>
            <a:off x="1343254" y="4438498"/>
            <a:ext cx="33247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역설: 점수는 떨어졌지만 더 똑똑해졌다?</a:t>
            </a:r>
            <a:endParaRPr lang="en-US" sz="1500" dirty="0"/>
          </a:p>
        </p:txBody>
      </p:sp>
      <p:sp>
        <p:nvSpPr>
          <p:cNvPr id="19" name="Text 13"/>
          <p:cNvSpPr txBox="1"/>
          <p:nvPr/>
        </p:nvSpPr>
        <p:spPr>
          <a:xfrm>
            <a:off x="1095451" y="4924044"/>
            <a:ext cx="470550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예측 오류는 1.9%에 불과 (16/843) → 알약의 종류는 거의 완벽하게 구분함</a:t>
            </a:r>
            <a:endParaRPr lang="en-US" sz="1200" dirty="0"/>
          </a:p>
        </p:txBody>
      </p:sp>
      <p:sp>
        <p:nvSpPr>
          <p:cNvPr id="20" name="Text 14"/>
          <p:cNvSpPr txBox="1"/>
          <p:nvPr/>
        </p:nvSpPr>
        <p:spPr>
          <a:xfrm>
            <a:off x="1114654" y="5495544"/>
            <a:ext cx="46863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Tight BBox로 인한 IoU 패널티 → 박스가 너무 '딱 맞게' 그려져서, 정답과 미세하게 어긋나도 점수 하락</a:t>
            </a:r>
            <a:endParaRPr lang="en-US" sz="1200" dirty="0"/>
          </a:p>
        </p:txBody>
      </p:sp>
      <p:sp>
        <p:nvSpPr>
          <p:cNvPr id="21" name="Text 15"/>
          <p:cNvSpPr txBox="1"/>
          <p:nvPr/>
        </p:nvSpPr>
        <p:spPr>
          <a:xfrm>
            <a:off x="6981444" y="4488790"/>
            <a:ext cx="2857500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메타 질문 (Meta Question)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86754" y="4965192"/>
            <a:ext cx="28337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"지표가 바뀌면(Accuracy vs mAP),</a:t>
            </a:r>
            <a:endParaRPr lang="en-US" sz="1300" dirty="0"/>
          </a:p>
        </p:txBody>
      </p:sp>
      <p:sp>
        <p:nvSpPr>
          <p:cNvPr id="23" name="Text 17"/>
          <p:cNvSpPr txBox="1"/>
          <p:nvPr/>
        </p:nvSpPr>
        <p:spPr>
          <a:xfrm>
            <a:off x="6486754" y="5201107"/>
            <a:ext cx="2481682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우리가 최적화한 대상도 바뀐다."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6657746" y="5522062"/>
            <a:ext cx="4776826" cy="3813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우리는 "박스를 예쁘게 그리는 것"보다 "어떤 약인지 맞추는 것"을 우선순위에 두었기에, mAP 하락을 감수하고 Class 정확도를 선택했습니다.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571500" y="6409944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Analysis</a:t>
            </a:r>
            <a:endParaRPr lang="en-US" sz="900" dirty="0"/>
          </a:p>
        </p:txBody>
      </p:sp>
      <p:sp>
        <p:nvSpPr>
          <p:cNvPr id="26" name="Text 20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30/33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27" name="Text 21"/>
          <p:cNvSpPr txBox="1"/>
          <p:nvPr/>
        </p:nvSpPr>
        <p:spPr>
          <a:xfrm>
            <a:off x="9112910" y="629107"/>
            <a:ext cx="26435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Accuracy vs IoU Sensitivity</a:t>
            </a:r>
            <a:endParaRPr lang="en-US" sz="1300" dirty="0"/>
          </a:p>
        </p:txBody>
      </p:sp>
      <p:sp>
        <p:nvSpPr>
          <p:cNvPr id="28" name="Shape 22"/>
          <p:cNvSpPr/>
          <p:nvPr/>
        </p:nvSpPr>
        <p:spPr>
          <a:xfrm>
            <a:off x="571500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29" name="Text 23"/>
          <p:cNvSpPr txBox="1"/>
          <p:nvPr/>
        </p:nvSpPr>
        <p:spPr>
          <a:xfrm>
            <a:off x="1289304" y="1476756"/>
            <a:ext cx="1262786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VALIDATION MAP</a:t>
            </a:r>
            <a:endParaRPr lang="en-US" sz="1000" dirty="0"/>
          </a:p>
        </p:txBody>
      </p:sp>
      <p:sp>
        <p:nvSpPr>
          <p:cNvPr id="30" name="Text 24"/>
          <p:cNvSpPr txBox="1"/>
          <p:nvPr/>
        </p:nvSpPr>
        <p:spPr>
          <a:xfrm>
            <a:off x="1388974" y="1647749"/>
            <a:ext cx="1219810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0.776</a:t>
            </a:r>
            <a:endParaRPr lang="en-US" sz="27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1390802" y="2276856"/>
            <a:ext cx="952805" cy="952805"/>
          </a:xfrm>
          <a:prstGeom prst="rect">
            <a:avLst/>
          </a:prstGeom>
        </p:spPr>
      </p:pic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8"/>
          <a:srcRect l="-133" r="-133" t="0" b="0"/>
          <a:stretch/>
        </p:blipFill>
        <p:spPr>
          <a:xfrm>
            <a:off x="1217981" y="3481121"/>
            <a:ext cx="85954" cy="114300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342339" y="3448202"/>
            <a:ext cx="12673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Pre-labeling 대비 하락</a:t>
            </a:r>
            <a:endParaRPr lang="en-US" sz="900" dirty="0"/>
          </a:p>
        </p:txBody>
      </p:sp>
      <p:sp>
        <p:nvSpPr>
          <p:cNvPr id="34" name="Shape 26"/>
          <p:cNvSpPr/>
          <p:nvPr/>
        </p:nvSpPr>
        <p:spPr>
          <a:xfrm>
            <a:off x="3390595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35" name="Text 27"/>
          <p:cNvSpPr txBox="1"/>
          <p:nvPr/>
        </p:nvSpPr>
        <p:spPr>
          <a:xfrm>
            <a:off x="4096512" y="1476756"/>
            <a:ext cx="128198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CLASS ACCURACY</a:t>
            </a:r>
            <a:endParaRPr lang="en-US" sz="1000" dirty="0"/>
          </a:p>
        </p:txBody>
      </p:sp>
      <p:sp>
        <p:nvSpPr>
          <p:cNvPr id="36" name="Text 28"/>
          <p:cNvSpPr txBox="1"/>
          <p:nvPr/>
        </p:nvSpPr>
        <p:spPr>
          <a:xfrm>
            <a:off x="4143146" y="1647749"/>
            <a:ext cx="13432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98.1%</a:t>
            </a:r>
            <a:endParaRPr lang="en-US" sz="2700" dirty="0"/>
          </a:p>
        </p:txBody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4209898" y="2276856"/>
            <a:ext cx="952805" cy="952805"/>
          </a:xfrm>
          <a:prstGeom prst="rect">
            <a:avLst/>
          </a:prstGeom>
        </p:spPr>
      </p:pic>
      <p:pic>
        <p:nvPicPr>
          <p:cNvPr id="38" name="Image 7" descr="preencoded.png">    </p:cNvPr>
          <p:cNvPicPr>
            <a:picLocks noChangeAspect="1"/>
          </p:cNvPicPr>
          <p:nvPr/>
        </p:nvPicPr>
        <p:blipFill>
          <a:blip r:embed="rId10"/>
          <a:srcRect l="-2571" r="-2571" t="0" b="0"/>
          <a:stretch/>
        </p:blipFill>
        <p:spPr>
          <a:xfrm>
            <a:off x="4214470" y="3481121"/>
            <a:ext cx="105156" cy="114300"/>
          </a:xfrm>
          <a:prstGeom prst="rect">
            <a:avLst/>
          </a:prstGeom>
        </p:spPr>
      </p:pic>
      <p:sp>
        <p:nvSpPr>
          <p:cNvPr id="39" name="Text 29"/>
          <p:cNvSpPr txBox="1"/>
          <p:nvPr/>
        </p:nvSpPr>
        <p:spPr>
          <a:xfrm>
            <a:off x="4357116" y="3448202"/>
            <a:ext cx="89611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예측 신뢰도 상승</a:t>
            </a:r>
            <a:endParaRPr lang="en-US" sz="900" dirty="0"/>
          </a:p>
        </p:txBody>
      </p:sp>
      <p:sp>
        <p:nvSpPr>
          <p:cNvPr id="40" name="Shape 30"/>
          <p:cNvSpPr/>
          <p:nvPr/>
        </p:nvSpPr>
        <p:spPr>
          <a:xfrm>
            <a:off x="6210605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1" name="Text 31"/>
          <p:cNvSpPr txBox="1"/>
          <p:nvPr/>
        </p:nvSpPr>
        <p:spPr>
          <a:xfrm>
            <a:off x="6816852" y="1390802"/>
            <a:ext cx="1481328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TOTAL TEST IMAGES</a:t>
            </a:r>
            <a:endParaRPr lang="en-US" sz="1000" dirty="0"/>
          </a:p>
        </p:txBody>
      </p:sp>
      <p:sp>
        <p:nvSpPr>
          <p:cNvPr id="42" name="Shape 32"/>
          <p:cNvSpPr/>
          <p:nvPr/>
        </p:nvSpPr>
        <p:spPr>
          <a:xfrm>
            <a:off x="7029907" y="2229307"/>
            <a:ext cx="952805" cy="95280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3" name="Image 8" descr="preencoded.png">    </p:cNvPr>
          <p:cNvPicPr>
            <a:picLocks noChangeAspect="1"/>
          </p:cNvPicPr>
          <p:nvPr/>
        </p:nvPicPr>
        <p:blipFill>
          <a:blip r:embed="rId11"/>
          <a:srcRect l="-266" r="-266" t="0" b="0"/>
          <a:stretch/>
        </p:blipFill>
        <p:spPr>
          <a:xfrm>
            <a:off x="7343546" y="2562149"/>
            <a:ext cx="323698" cy="286207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7192670" y="3295498"/>
            <a:ext cx="886054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843</a:t>
            </a:r>
            <a:endParaRPr lang="en-US" sz="2700" dirty="0"/>
          </a:p>
        </p:txBody>
      </p:sp>
      <p:sp>
        <p:nvSpPr>
          <p:cNvPr id="45" name="Shape 34"/>
          <p:cNvSpPr/>
          <p:nvPr/>
        </p:nvSpPr>
        <p:spPr>
          <a:xfrm>
            <a:off x="9029700" y="1190549"/>
            <a:ext cx="2590495" cy="2743200"/>
          </a:xfrm>
          <a:prstGeom prst="roundRect">
            <a:avLst>
              <a:gd name="adj" fmla="val 2076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Text 35"/>
          <p:cNvSpPr txBox="1"/>
          <p:nvPr/>
        </p:nvSpPr>
        <p:spPr>
          <a:xfrm>
            <a:off x="9667037" y="1390802"/>
            <a:ext cx="14246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CATEGORY ERRORS</a:t>
            </a:r>
            <a:endParaRPr lang="en-US" sz="1000" dirty="0"/>
          </a:p>
        </p:txBody>
      </p:sp>
      <p:sp>
        <p:nvSpPr>
          <p:cNvPr id="47" name="Shape 36"/>
          <p:cNvSpPr/>
          <p:nvPr/>
        </p:nvSpPr>
        <p:spPr>
          <a:xfrm>
            <a:off x="9849002" y="2229307"/>
            <a:ext cx="952805" cy="952805"/>
          </a:xfrm>
          <a:prstGeom prst="ellipse">
            <a:avLst/>
          </a:prstGeom>
          <a:solidFill>
            <a:srgbClr val="F3F4F6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2"/>
          <a:srcRect l="0" r="0" t="0" b="0"/>
          <a:stretch/>
        </p:blipFill>
        <p:spPr>
          <a:xfrm>
            <a:off x="10181844" y="2562149"/>
            <a:ext cx="286207" cy="286207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10116007" y="3295498"/>
            <a:ext cx="676656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3B82F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16</a:t>
            </a:r>
            <a:endParaRPr lang="en-US" sz="2700" dirty="0"/>
          </a:p>
        </p:txBody>
      </p:sp>
    </p:spTree>
  </p:cSld>
  <p:clrMapOvr>
    <a:masterClrMapping/>
  </p:clrMapOvr>
</p:sld>
</file>

<file path=ppt/slides/slide3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95280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9743846" y="362102"/>
            <a:ext cx="1876349" cy="267005"/>
          </a:xfrm>
          <a:prstGeom prst="roundRect">
            <a:avLst>
              <a:gd name="adj" fmla="val 48924"/>
            </a:avLst>
          </a:prstGeom>
          <a:solidFill>
            <a:srgbClr val="FFFFFF">
              <a:alpha val="2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71500" y="1104595"/>
            <a:ext cx="11048695" cy="2305202"/>
          </a:xfrm>
          <a:prstGeom prst="roundRect">
            <a:avLst>
              <a:gd name="adj" fmla="val 1967"/>
            </a:avLst>
          </a:prstGeom>
          <a:solidFill>
            <a:srgbClr val="F9FAFB"/>
          </a:solidFill>
          <a:ln w="12700">
            <a:solidFill>
              <a:srgbClr val="F3F4F6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3"/>
          <a:srcRect l="-1064" r="-1064" t="0" b="0"/>
          <a:stretch/>
        </p:blipFill>
        <p:spPr>
          <a:xfrm>
            <a:off x="809244" y="1390802"/>
            <a:ext cx="219456" cy="171907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04595" y="1343254"/>
            <a:ext cx="1653235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흐름 아키텍처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71500" y="3638398"/>
            <a:ext cx="11048695" cy="2562149"/>
          </a:xfrm>
          <a:prstGeom prst="roundRect">
            <a:avLst>
              <a:gd name="adj" fmla="val 1592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09244" y="3924605"/>
            <a:ext cx="171907" cy="17190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057046" y="3877056"/>
            <a:ext cx="1834286" cy="267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 경험 (UX Flow)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71500" y="6429146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13" name="Text 9"/>
          <p:cNvSpPr txBox="1"/>
          <p:nvPr/>
        </p:nvSpPr>
        <p:spPr>
          <a:xfrm>
            <a:off x="571500" y="219456"/>
            <a:ext cx="137160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5 · SERVICE</a:t>
            </a:r>
            <a:endParaRPr lang="en-US" sz="900" dirty="0"/>
          </a:p>
        </p:txBody>
      </p:sp>
      <p:sp>
        <p:nvSpPr>
          <p:cNvPr id="14" name="Text 10"/>
          <p:cNvSpPr txBox="1"/>
          <p:nvPr/>
        </p:nvSpPr>
        <p:spPr>
          <a:xfrm>
            <a:off x="571500" y="381305"/>
            <a:ext cx="5958230" cy="4197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서빙 &amp; UI: Next.js + FastAPI + Genkit 연결</a:t>
            </a:r>
            <a:endParaRPr lang="en-US" sz="2200" dirty="0"/>
          </a:p>
        </p:txBody>
      </p:sp>
      <p:sp>
        <p:nvSpPr>
          <p:cNvPr id="15" name="Text 11"/>
          <p:cNvSpPr txBox="1"/>
          <p:nvPr/>
        </p:nvSpPr>
        <p:spPr>
          <a:xfrm>
            <a:off x="9858146" y="400507"/>
            <a:ext cx="1748333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Serving Architecture &amp; UX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71500" y="6505956"/>
            <a:ext cx="200985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Service Architecture</a:t>
            </a:r>
            <a:endParaRPr lang="en-US" sz="900" dirty="0"/>
          </a:p>
        </p:txBody>
      </p:sp>
      <p:sp>
        <p:nvSpPr>
          <p:cNvPr id="17" name="Text 13"/>
          <p:cNvSpPr txBox="1"/>
          <p:nvPr/>
        </p:nvSpPr>
        <p:spPr>
          <a:xfrm>
            <a:off x="11033150" y="6505956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31/33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8" name="Shape 14"/>
          <p:cNvSpPr/>
          <p:nvPr/>
        </p:nvSpPr>
        <p:spPr>
          <a:xfrm>
            <a:off x="2771546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19" name="Shape 15"/>
          <p:cNvSpPr/>
          <p:nvPr/>
        </p:nvSpPr>
        <p:spPr>
          <a:xfrm>
            <a:off x="4886554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0" name="Shape 16"/>
          <p:cNvSpPr/>
          <p:nvPr/>
        </p:nvSpPr>
        <p:spPr>
          <a:xfrm>
            <a:off x="7000646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1" name="Shape 17"/>
          <p:cNvSpPr/>
          <p:nvPr/>
        </p:nvSpPr>
        <p:spPr>
          <a:xfrm>
            <a:off x="9115654" y="2505456"/>
            <a:ext cx="286207" cy="19202"/>
          </a:xfrm>
          <a:prstGeom prst="rect">
            <a:avLst/>
          </a:prstGeom>
          <a:solidFill>
            <a:srgbClr val="CBD5E1"/>
          </a:solidFill>
          <a:ln/>
        </p:spPr>
      </p:sp>
      <p:sp>
        <p:nvSpPr>
          <p:cNvPr id="22" name="Shape 18"/>
          <p:cNvSpPr/>
          <p:nvPr/>
        </p:nvSpPr>
        <p:spPr>
          <a:xfrm>
            <a:off x="809244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FF6FF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009498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3B82F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1089965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1314907" y="4591202"/>
            <a:ext cx="881482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3A8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이미지 업로드</a:t>
            </a:r>
            <a:endParaRPr lang="en-US" sz="1000" dirty="0"/>
          </a:p>
        </p:txBody>
      </p:sp>
      <p:sp>
        <p:nvSpPr>
          <p:cNvPr id="26" name="Text 22"/>
          <p:cNvSpPr txBox="1"/>
          <p:nvPr/>
        </p:nvSpPr>
        <p:spPr>
          <a:xfrm>
            <a:off x="1009498" y="4924044"/>
            <a:ext cx="21150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1E40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사용자가 알약 사진을 촬영하거나 갤러리에서 선택하여 업로드</a:t>
            </a:r>
            <a:endParaRPr lang="en-US" sz="900" dirty="0"/>
          </a:p>
        </p:txBody>
      </p:sp>
      <p:pic>
        <p:nvPicPr>
          <p:cNvPr id="27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2795321" y="5400446"/>
            <a:ext cx="286207" cy="286207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3510382" y="4371746"/>
            <a:ext cx="2476195" cy="1533449"/>
          </a:xfrm>
          <a:prstGeom prst="roundRect">
            <a:avLst>
              <a:gd name="adj" fmla="val 2963"/>
            </a:avLst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3790188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0" name="Text 25"/>
          <p:cNvSpPr txBox="1"/>
          <p:nvPr/>
        </p:nvSpPr>
        <p:spPr>
          <a:xfrm>
            <a:off x="4015130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알약 식별</a:t>
            </a:r>
            <a:endParaRPr lang="en-US" sz="1000" dirty="0"/>
          </a:p>
        </p:txBody>
      </p:sp>
      <p:sp>
        <p:nvSpPr>
          <p:cNvPr id="31" name="Text 26"/>
          <p:cNvSpPr txBox="1"/>
          <p:nvPr/>
        </p:nvSpPr>
        <p:spPr>
          <a:xfrm>
            <a:off x="3709721" y="4924044"/>
            <a:ext cx="2115007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모델이 알약의 종류와 특징을 실시간으로 분석</a:t>
            </a:r>
            <a:endParaRPr lang="en-US" sz="900" dirty="0"/>
          </a:p>
        </p:txBody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5495544" y="5400446"/>
            <a:ext cx="286207" cy="286207"/>
          </a:xfrm>
          <a:prstGeom prst="rect">
            <a:avLst/>
          </a:prstGeom>
        </p:spPr>
      </p:pic>
      <p:sp>
        <p:nvSpPr>
          <p:cNvPr id="33" name="Shape 27"/>
          <p:cNvSpPr/>
          <p:nvPr/>
        </p:nvSpPr>
        <p:spPr>
          <a:xfrm>
            <a:off x="6210605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EF2FF"/>
          </a:solidFill>
          <a:ln w="12700">
            <a:solidFill>
              <a:srgbClr val="E0E7FF"/>
            </a:solidFill>
            <a:prstDash val="solid"/>
          </a:ln>
        </p:spPr>
      </p:sp>
      <p:sp>
        <p:nvSpPr>
          <p:cNvPr id="34" name="Shape 28"/>
          <p:cNvSpPr/>
          <p:nvPr/>
        </p:nvSpPr>
        <p:spPr>
          <a:xfrm>
            <a:off x="6409944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6366F1"/>
          </a:solidFill>
          <a:ln/>
        </p:spPr>
      </p:sp>
      <p:sp>
        <p:nvSpPr>
          <p:cNvPr id="35" name="Text 29"/>
          <p:cNvSpPr txBox="1"/>
          <p:nvPr/>
        </p:nvSpPr>
        <p:spPr>
          <a:xfrm>
            <a:off x="6490411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Text 30"/>
          <p:cNvSpPr txBox="1"/>
          <p:nvPr/>
        </p:nvSpPr>
        <p:spPr>
          <a:xfrm>
            <a:off x="6715354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12E8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정보 제공</a:t>
            </a:r>
            <a:endParaRPr lang="en-US" sz="1000" dirty="0"/>
          </a:p>
        </p:txBody>
      </p:sp>
      <p:sp>
        <p:nvSpPr>
          <p:cNvPr id="37" name="Text 31"/>
          <p:cNvSpPr txBox="1"/>
          <p:nvPr/>
        </p:nvSpPr>
        <p:spPr>
          <a:xfrm>
            <a:off x="6409944" y="4924044"/>
            <a:ext cx="207660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3730A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Genkit이 전문 의약 정보를 이해하기 쉬운 한글로 가공하여 제공</a:t>
            </a:r>
            <a:endParaRPr lang="en-US" sz="900" dirty="0"/>
          </a:p>
        </p:txBody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7"/>
          <a:srcRect l="0" r="0" t="-530" b="-530"/>
          <a:stretch/>
        </p:blipFill>
        <p:spPr>
          <a:xfrm>
            <a:off x="8234172" y="5400446"/>
            <a:ext cx="247802" cy="286207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8910828" y="4371746"/>
            <a:ext cx="2476195" cy="1533449"/>
          </a:xfrm>
          <a:prstGeom prst="roundRect">
            <a:avLst>
              <a:gd name="adj" fmla="val 2963"/>
            </a:avLst>
          </a:prstGeom>
          <a:solidFill>
            <a:srgbClr val="ECFDF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Shape 33"/>
          <p:cNvSpPr/>
          <p:nvPr/>
        </p:nvSpPr>
        <p:spPr>
          <a:xfrm>
            <a:off x="9111082" y="4572000"/>
            <a:ext cx="228600" cy="228600"/>
          </a:xfrm>
          <a:prstGeom prst="roundRect">
            <a:avLst>
              <a:gd name="adj" fmla="val 400000"/>
            </a:avLst>
          </a:prstGeom>
          <a:solidFill>
            <a:srgbClr val="10B981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9191549" y="4610405"/>
            <a:ext cx="16276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9415577" y="4591202"/>
            <a:ext cx="633679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4E3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복약 알림</a:t>
            </a:r>
            <a:endParaRPr lang="en-US" sz="1000" dirty="0"/>
          </a:p>
        </p:txBody>
      </p:sp>
      <p:sp>
        <p:nvSpPr>
          <p:cNvPr id="43" name="Text 36"/>
          <p:cNvSpPr txBox="1"/>
          <p:nvPr/>
        </p:nvSpPr>
        <p:spPr>
          <a:xfrm>
            <a:off x="9111082" y="4924044"/>
            <a:ext cx="2039112" cy="3529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65F4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복약 기간 및 시간대를 설정하여 스마트한 알림 스케줄 생성</a:t>
            </a:r>
            <a:endParaRPr lang="en-US" sz="900" dirty="0"/>
          </a:p>
        </p:txBody>
      </p:sp>
      <p:pic>
        <p:nvPicPr>
          <p:cNvPr id="44" name="Image 5" descr="preencoded.png">    </p:cNvPr>
          <p:cNvPicPr>
            <a:picLocks noChangeAspect="1"/>
          </p:cNvPicPr>
          <p:nvPr/>
        </p:nvPicPr>
        <p:blipFill>
          <a:blip r:embed="rId8"/>
          <a:srcRect l="0" r="0" t="-530" b="-530"/>
          <a:stretch/>
        </p:blipFill>
        <p:spPr>
          <a:xfrm>
            <a:off x="10934395" y="5400446"/>
            <a:ext cx="247802" cy="286207"/>
          </a:xfrm>
          <a:prstGeom prst="rect">
            <a:avLst/>
          </a:prstGeom>
        </p:spPr>
      </p:pic>
      <p:sp>
        <p:nvSpPr>
          <p:cNvPr id="45" name="Shape 37"/>
          <p:cNvSpPr/>
          <p:nvPr/>
        </p:nvSpPr>
        <p:spPr>
          <a:xfrm>
            <a:off x="9619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46" name="Shape 38"/>
          <p:cNvSpPr/>
          <p:nvPr/>
        </p:nvSpPr>
        <p:spPr>
          <a:xfrm>
            <a:off x="1638605" y="2009851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47" name="Image 6" descr="preencoded.png">    </p:cNvPr>
          <p:cNvPicPr>
            <a:picLocks noChangeAspect="1"/>
          </p:cNvPicPr>
          <p:nvPr/>
        </p:nvPicPr>
        <p:blipFill>
          <a:blip r:embed="rId9"/>
          <a:srcRect l="0" r="0" t="0" b="0"/>
          <a:stretch/>
        </p:blipFill>
        <p:spPr>
          <a:xfrm>
            <a:off x="1795882" y="2143354"/>
            <a:ext cx="142646" cy="190195"/>
          </a:xfrm>
          <a:prstGeom prst="rect">
            <a:avLst/>
          </a:prstGeom>
        </p:spPr>
      </p:pic>
      <p:sp>
        <p:nvSpPr>
          <p:cNvPr id="48" name="Text 39"/>
          <p:cNvSpPr txBox="1"/>
          <p:nvPr/>
        </p:nvSpPr>
        <p:spPr>
          <a:xfrm>
            <a:off x="1644091" y="2581351"/>
            <a:ext cx="5623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Client</a:t>
            </a:r>
            <a:endParaRPr lang="en-US" sz="1200" dirty="0"/>
          </a:p>
        </p:txBody>
      </p:sp>
      <p:sp>
        <p:nvSpPr>
          <p:cNvPr id="49" name="Text 40"/>
          <p:cNvSpPr txBox="1"/>
          <p:nvPr/>
        </p:nvSpPr>
        <p:spPr>
          <a:xfrm>
            <a:off x="1417320" y="2838298"/>
            <a:ext cx="991210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Camera / Gallery</a:t>
            </a:r>
            <a:endParaRPr lang="en-US" sz="900" dirty="0"/>
          </a:p>
        </p:txBody>
      </p:sp>
      <p:sp>
        <p:nvSpPr>
          <p:cNvPr id="50" name="Shape 41"/>
          <p:cNvSpPr/>
          <p:nvPr/>
        </p:nvSpPr>
        <p:spPr>
          <a:xfrm>
            <a:off x="3076956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51" name="Shape 42"/>
          <p:cNvSpPr/>
          <p:nvPr/>
        </p:nvSpPr>
        <p:spPr>
          <a:xfrm>
            <a:off x="3752698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F3F4F6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10"/>
          <a:srcRect l="-1648" r="-1648" t="0" b="0"/>
          <a:stretch/>
        </p:blipFill>
        <p:spPr>
          <a:xfrm>
            <a:off x="3895344" y="2101291"/>
            <a:ext cx="171907" cy="190195"/>
          </a:xfrm>
          <a:prstGeom prst="rect">
            <a:avLst/>
          </a:prstGeom>
        </p:spPr>
      </p:pic>
      <p:sp>
        <p:nvSpPr>
          <p:cNvPr id="53" name="Shape 43"/>
          <p:cNvSpPr/>
          <p:nvPr/>
        </p:nvSpPr>
        <p:spPr>
          <a:xfrm>
            <a:off x="3454603" y="2843784"/>
            <a:ext cx="1057046" cy="200254"/>
          </a:xfrm>
          <a:prstGeom prst="roundRect">
            <a:avLst>
              <a:gd name="adj" fmla="val 260926"/>
            </a:avLst>
          </a:prstGeom>
          <a:solidFill>
            <a:srgbClr val="E5E7EB"/>
          </a:solidFill>
          <a:ln/>
        </p:spPr>
      </p:sp>
      <p:sp>
        <p:nvSpPr>
          <p:cNvPr id="54" name="Text 44"/>
          <p:cNvSpPr txBox="1"/>
          <p:nvPr/>
        </p:nvSpPr>
        <p:spPr>
          <a:xfrm>
            <a:off x="3612794" y="2539289"/>
            <a:ext cx="85770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Next.js 15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3530498" y="2862986"/>
            <a:ext cx="985723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37415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SERVER ACTIONS</a:t>
            </a:r>
            <a:endParaRPr lang="en-US" sz="800" dirty="0"/>
          </a:p>
        </p:txBody>
      </p:sp>
      <p:sp>
        <p:nvSpPr>
          <p:cNvPr id="56" name="Shape 46"/>
          <p:cNvSpPr/>
          <p:nvPr/>
        </p:nvSpPr>
        <p:spPr>
          <a:xfrm>
            <a:off x="51910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11"/>
          <a:srcRect l="-1648" r="-1648" t="0" b="0"/>
          <a:stretch/>
        </p:blipFill>
        <p:spPr>
          <a:xfrm>
            <a:off x="6010351" y="2101291"/>
            <a:ext cx="171907" cy="19019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5817413" y="2539289"/>
            <a:ext cx="67665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FastAPI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5610758" y="2862986"/>
            <a:ext cx="105247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PYTHON BACKEND</a:t>
            </a:r>
            <a:endParaRPr lang="en-US" sz="800" dirty="0"/>
          </a:p>
        </p:txBody>
      </p:sp>
      <p:sp>
        <p:nvSpPr>
          <p:cNvPr id="60" name="Shape 49"/>
          <p:cNvSpPr/>
          <p:nvPr/>
        </p:nvSpPr>
        <p:spPr>
          <a:xfrm>
            <a:off x="7306056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1" name="Shape 50"/>
          <p:cNvSpPr/>
          <p:nvPr/>
        </p:nvSpPr>
        <p:spPr>
          <a:xfrm>
            <a:off x="7981798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FF6FF"/>
          </a:solidFill>
          <a:ln/>
        </p:spPr>
      </p:sp>
      <p:pic>
        <p:nvPicPr>
          <p:cNvPr id="62" name="Image 9" descr="preencoded.png">    </p:cNvPr>
          <p:cNvPicPr>
            <a:picLocks noChangeAspect="1"/>
          </p:cNvPicPr>
          <p:nvPr/>
        </p:nvPicPr>
        <p:blipFill>
          <a:blip r:embed="rId12"/>
          <a:srcRect l="-1282" r="-1282" t="0" b="0"/>
          <a:stretch/>
        </p:blipFill>
        <p:spPr>
          <a:xfrm>
            <a:off x="8100670" y="2101291"/>
            <a:ext cx="219456" cy="190195"/>
          </a:xfrm>
          <a:prstGeom prst="rect">
            <a:avLst/>
          </a:prstGeom>
        </p:spPr>
      </p:pic>
      <p:sp>
        <p:nvSpPr>
          <p:cNvPr id="63" name="Shape 51"/>
          <p:cNvSpPr/>
          <p:nvPr/>
        </p:nvSpPr>
        <p:spPr>
          <a:xfrm>
            <a:off x="7836408" y="2843784"/>
            <a:ext cx="752551" cy="200254"/>
          </a:xfrm>
          <a:prstGeom prst="roundRect">
            <a:avLst>
              <a:gd name="adj" fmla="val 260926"/>
            </a:avLst>
          </a:prstGeom>
          <a:solidFill>
            <a:srgbClr val="DBEAFE"/>
          </a:solidFill>
          <a:ln/>
        </p:spPr>
      </p:sp>
      <p:sp>
        <p:nvSpPr>
          <p:cNvPr id="64" name="Text 52"/>
          <p:cNvSpPr txBox="1"/>
          <p:nvPr/>
        </p:nvSpPr>
        <p:spPr>
          <a:xfrm>
            <a:off x="7848295" y="2539289"/>
            <a:ext cx="83850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YOLO 추론</a:t>
            </a:r>
            <a:endParaRPr lang="en-US" sz="1200" dirty="0"/>
          </a:p>
        </p:txBody>
      </p:sp>
      <p:sp>
        <p:nvSpPr>
          <p:cNvPr id="65" name="Text 53"/>
          <p:cNvSpPr txBox="1"/>
          <p:nvPr/>
        </p:nvSpPr>
        <p:spPr>
          <a:xfrm>
            <a:off x="7912303" y="2862986"/>
            <a:ext cx="680314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1D4ED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INFERENCE</a:t>
            </a:r>
            <a:endParaRPr lang="en-US" sz="800" dirty="0"/>
          </a:p>
        </p:txBody>
      </p:sp>
      <p:sp>
        <p:nvSpPr>
          <p:cNvPr id="66" name="Shape 54"/>
          <p:cNvSpPr/>
          <p:nvPr/>
        </p:nvSpPr>
        <p:spPr>
          <a:xfrm>
            <a:off x="9420149" y="1837944"/>
            <a:ext cx="1809598" cy="1333195"/>
          </a:xfrm>
          <a:prstGeom prst="roundRect">
            <a:avLst>
              <a:gd name="adj" fmla="val 5879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7" name="Shape 55"/>
          <p:cNvSpPr/>
          <p:nvPr/>
        </p:nvSpPr>
        <p:spPr>
          <a:xfrm>
            <a:off x="10096805" y="1967789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EEF2FF"/>
          </a:solidFill>
          <a:ln/>
        </p:spPr>
      </p:sp>
      <p:pic>
        <p:nvPicPr>
          <p:cNvPr id="68" name="Image 10" descr="preencoded.png">    </p:cNvPr>
          <p:cNvPicPr>
            <a:picLocks noChangeAspect="1"/>
          </p:cNvPicPr>
          <p:nvPr/>
        </p:nvPicPr>
        <p:blipFill>
          <a:blip r:embed="rId13"/>
          <a:srcRect l="0" r="0" t="0" b="0"/>
          <a:stretch/>
        </p:blipFill>
        <p:spPr>
          <a:xfrm>
            <a:off x="10230307" y="2101291"/>
            <a:ext cx="190195" cy="190195"/>
          </a:xfrm>
          <a:prstGeom prst="rect">
            <a:avLst/>
          </a:prstGeom>
        </p:spPr>
      </p:pic>
      <p:sp>
        <p:nvSpPr>
          <p:cNvPr id="69" name="Shape 56"/>
          <p:cNvSpPr/>
          <p:nvPr/>
        </p:nvSpPr>
        <p:spPr>
          <a:xfrm>
            <a:off x="9784994" y="2843784"/>
            <a:ext cx="1086307" cy="200254"/>
          </a:xfrm>
          <a:prstGeom prst="roundRect">
            <a:avLst>
              <a:gd name="adj" fmla="val 260926"/>
            </a:avLst>
          </a:prstGeom>
          <a:solidFill>
            <a:srgbClr val="E0E7FF"/>
          </a:solidFill>
          <a:ln/>
        </p:spPr>
      </p:sp>
      <p:sp>
        <p:nvSpPr>
          <p:cNvPr id="70" name="Text 57"/>
          <p:cNvSpPr txBox="1"/>
          <p:nvPr/>
        </p:nvSpPr>
        <p:spPr>
          <a:xfrm>
            <a:off x="10075774" y="2539289"/>
            <a:ext cx="6199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Genkit</a:t>
            </a:r>
            <a:endParaRPr lang="en-US" sz="1200" dirty="0"/>
          </a:p>
        </p:txBody>
      </p:sp>
      <p:sp>
        <p:nvSpPr>
          <p:cNvPr id="71" name="Text 58"/>
          <p:cNvSpPr txBox="1"/>
          <p:nvPr/>
        </p:nvSpPr>
        <p:spPr>
          <a:xfrm>
            <a:off x="9861804" y="2862986"/>
            <a:ext cx="1014070" cy="1527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b="1" dirty="0">
                <a:solidFill>
                  <a:srgbClr val="4338C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LLM PROCESSING</a:t>
            </a:r>
            <a:endParaRPr lang="en-US" sz="800" dirty="0"/>
          </a:p>
        </p:txBody>
      </p:sp>
    </p:spTree>
  </p:cSld>
  <p:clrMapOvr>
    <a:masterClrMapping/>
  </p:clrMapOvr>
</p:sld>
</file>

<file path=ppt/slides/slide3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1138428"/>
            <a:ext cx="5372100" cy="5048402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71500" y="1138428"/>
            <a:ext cx="5372100" cy="75895"/>
          </a:xfrm>
          <a:prstGeom prst="rect">
            <a:avLst/>
          </a:prstGeom>
          <a:solidFill>
            <a:srgbClr val="E5E7EB"/>
          </a:solidFill>
          <a:ln/>
        </p:spPr>
      </p:sp>
      <p:sp>
        <p:nvSpPr>
          <p:cNvPr id="7" name="Shape 5"/>
          <p:cNvSpPr/>
          <p:nvPr/>
        </p:nvSpPr>
        <p:spPr>
          <a:xfrm>
            <a:off x="571500" y="2014423"/>
            <a:ext cx="5372100" cy="9144"/>
          </a:xfrm>
          <a:prstGeom prst="rect">
            <a:avLst/>
          </a:prstGeom>
          <a:solidFill>
            <a:srgbClr val="F3F4F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95198" y="1518818"/>
            <a:ext cx="190195" cy="190195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00100" y="2253082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0" name="Shape 7"/>
          <p:cNvSpPr/>
          <p:nvPr/>
        </p:nvSpPr>
        <p:spPr>
          <a:xfrm>
            <a:off x="800100" y="2253082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90295" y="2462479"/>
            <a:ext cx="152705" cy="15270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800100" y="3486607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3" name="Shape 9"/>
          <p:cNvSpPr/>
          <p:nvPr/>
        </p:nvSpPr>
        <p:spPr>
          <a:xfrm>
            <a:off x="800100" y="3486607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990295" y="3696005"/>
            <a:ext cx="152705" cy="152705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800100" y="4719218"/>
            <a:ext cx="4914900" cy="1086307"/>
          </a:xfrm>
          <a:prstGeom prst="rect">
            <a:avLst/>
          </a:prstGeom>
          <a:solidFill>
            <a:srgbClr val="FFF1F2"/>
          </a:solidFill>
          <a:ln/>
        </p:spPr>
      </p:sp>
      <p:sp>
        <p:nvSpPr>
          <p:cNvPr id="16" name="Shape 11"/>
          <p:cNvSpPr/>
          <p:nvPr/>
        </p:nvSpPr>
        <p:spPr>
          <a:xfrm>
            <a:off x="800100" y="4719218"/>
            <a:ext cx="38405" cy="1086307"/>
          </a:xfrm>
          <a:prstGeom prst="rect">
            <a:avLst/>
          </a:prstGeom>
          <a:solidFill>
            <a:srgbClr val="F43F5E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990295" y="4929530"/>
            <a:ext cx="152705" cy="152705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6248095" y="1138428"/>
            <a:ext cx="5372100" cy="5048402"/>
          </a:xfrm>
          <a:prstGeom prst="roundRect">
            <a:avLst>
              <a:gd name="adj" fmla="val 54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248095" y="1138428"/>
            <a:ext cx="5372100" cy="75895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0" name="Shape 14"/>
          <p:cNvSpPr/>
          <p:nvPr/>
        </p:nvSpPr>
        <p:spPr>
          <a:xfrm>
            <a:off x="6248095" y="1214323"/>
            <a:ext cx="5372100" cy="809244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1" name="Shape 15"/>
          <p:cNvSpPr/>
          <p:nvPr/>
        </p:nvSpPr>
        <p:spPr>
          <a:xfrm>
            <a:off x="6248095" y="2014423"/>
            <a:ext cx="5372100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22" name="Shape 16"/>
          <p:cNvSpPr/>
          <p:nvPr/>
        </p:nvSpPr>
        <p:spPr>
          <a:xfrm>
            <a:off x="6476695" y="142372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7"/>
          <a:srcRect l="-1282" r="-1282" t="0" b="0"/>
          <a:stretch/>
        </p:blipFill>
        <p:spPr>
          <a:xfrm>
            <a:off x="6558077" y="1518818"/>
            <a:ext cx="219456" cy="190195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6476695" y="2464308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5" name="Shape 18"/>
          <p:cNvSpPr/>
          <p:nvPr/>
        </p:nvSpPr>
        <p:spPr>
          <a:xfrm>
            <a:off x="6476695" y="2464308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26" name="Shape 19"/>
          <p:cNvSpPr/>
          <p:nvPr/>
        </p:nvSpPr>
        <p:spPr>
          <a:xfrm>
            <a:off x="6667805" y="2692908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27" name="Text 20"/>
          <p:cNvSpPr txBox="1"/>
          <p:nvPr/>
        </p:nvSpPr>
        <p:spPr>
          <a:xfrm>
            <a:off x="6748272" y="272216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900" dirty="0"/>
          </a:p>
        </p:txBody>
      </p:sp>
      <p:sp>
        <p:nvSpPr>
          <p:cNvPr id="28" name="Shape 21"/>
          <p:cNvSpPr/>
          <p:nvPr/>
        </p:nvSpPr>
        <p:spPr>
          <a:xfrm>
            <a:off x="6476695" y="3283610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29" name="Shape 22"/>
          <p:cNvSpPr/>
          <p:nvPr/>
        </p:nvSpPr>
        <p:spPr>
          <a:xfrm>
            <a:off x="6476695" y="3283610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0" name="Shape 23"/>
          <p:cNvSpPr/>
          <p:nvPr/>
        </p:nvSpPr>
        <p:spPr>
          <a:xfrm>
            <a:off x="6667805" y="3512210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1" name="Text 24"/>
          <p:cNvSpPr txBox="1"/>
          <p:nvPr/>
        </p:nvSpPr>
        <p:spPr>
          <a:xfrm>
            <a:off x="6748272" y="3540557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6476695" y="4102913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3" name="Shape 26"/>
          <p:cNvSpPr/>
          <p:nvPr/>
        </p:nvSpPr>
        <p:spPr>
          <a:xfrm>
            <a:off x="6476695" y="4102913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4" name="Shape 27"/>
          <p:cNvSpPr/>
          <p:nvPr/>
        </p:nvSpPr>
        <p:spPr>
          <a:xfrm>
            <a:off x="6667805" y="4331513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5" name="Text 28"/>
          <p:cNvSpPr txBox="1"/>
          <p:nvPr/>
        </p:nvSpPr>
        <p:spPr>
          <a:xfrm>
            <a:off x="6748272" y="4359859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6476695" y="4922215"/>
            <a:ext cx="4914900" cy="685800"/>
          </a:xfrm>
          <a:prstGeom prst="rect">
            <a:avLst/>
          </a:prstGeom>
          <a:solidFill>
            <a:srgbClr val="EFF6FF"/>
          </a:solidFill>
          <a:ln/>
        </p:spPr>
      </p:sp>
      <p:sp>
        <p:nvSpPr>
          <p:cNvPr id="37" name="Shape 30"/>
          <p:cNvSpPr/>
          <p:nvPr/>
        </p:nvSpPr>
        <p:spPr>
          <a:xfrm>
            <a:off x="6476695" y="4922215"/>
            <a:ext cx="38405" cy="6858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8" name="Shape 31"/>
          <p:cNvSpPr/>
          <p:nvPr/>
        </p:nvSpPr>
        <p:spPr>
          <a:xfrm>
            <a:off x="6667805" y="5150815"/>
            <a:ext cx="228600" cy="228600"/>
          </a:xfrm>
          <a:prstGeom prst="ellipse">
            <a:avLst/>
          </a:prstGeom>
          <a:solidFill>
            <a:srgbClr val="3B82F6"/>
          </a:solidFill>
          <a:ln/>
        </p:spPr>
      </p:sp>
      <p:sp>
        <p:nvSpPr>
          <p:cNvPr id="39" name="Text 32"/>
          <p:cNvSpPr txBox="1"/>
          <p:nvPr/>
        </p:nvSpPr>
        <p:spPr>
          <a:xfrm>
            <a:off x="6748272" y="5179162"/>
            <a:ext cx="162763" cy="17190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571500" y="6334049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41" name="Text 34"/>
          <p:cNvSpPr txBox="1"/>
          <p:nvPr/>
        </p:nvSpPr>
        <p:spPr>
          <a:xfrm>
            <a:off x="571500" y="290779"/>
            <a:ext cx="1172261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SECTION 6 · NEXT</a:t>
            </a:r>
            <a:endParaRPr lang="en-US" sz="900" dirty="0"/>
          </a:p>
        </p:txBody>
      </p:sp>
      <p:sp>
        <p:nvSpPr>
          <p:cNvPr id="42" name="Text 35"/>
          <p:cNvSpPr txBox="1"/>
          <p:nvPr/>
        </p:nvSpPr>
        <p:spPr>
          <a:xfrm>
            <a:off x="571500" y="414223"/>
            <a:ext cx="2667305" cy="4956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한계와 다음 단계</a:t>
            </a:r>
            <a:endParaRPr lang="en-US" sz="2700" dirty="0"/>
          </a:p>
        </p:txBody>
      </p:sp>
      <p:sp>
        <p:nvSpPr>
          <p:cNvPr id="43" name="Text 36"/>
          <p:cNvSpPr txBox="1"/>
          <p:nvPr/>
        </p:nvSpPr>
        <p:spPr>
          <a:xfrm>
            <a:off x="1295705" y="139537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현재의 한계</a:t>
            </a:r>
            <a:endParaRPr lang="en-US" sz="1500" dirty="0"/>
          </a:p>
        </p:txBody>
      </p:sp>
      <p:sp>
        <p:nvSpPr>
          <p:cNvPr id="44" name="Text 37"/>
          <p:cNvSpPr txBox="1"/>
          <p:nvPr/>
        </p:nvSpPr>
        <p:spPr>
          <a:xfrm>
            <a:off x="1295705" y="1662379"/>
            <a:ext cx="7050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00000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</a:t>
            </a:r>
            <a:endParaRPr lang="en-US" sz="900" dirty="0"/>
          </a:p>
        </p:txBody>
      </p:sp>
      <p:sp>
        <p:nvSpPr>
          <p:cNvPr id="45" name="Text 38"/>
          <p:cNvSpPr txBox="1"/>
          <p:nvPr/>
        </p:nvSpPr>
        <p:spPr>
          <a:xfrm>
            <a:off x="1218895" y="2414930"/>
            <a:ext cx="149138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다양성 부족</a:t>
            </a:r>
            <a:endParaRPr lang="en-US" sz="1300" dirty="0"/>
          </a:p>
        </p:txBody>
      </p:sp>
      <p:sp>
        <p:nvSpPr>
          <p:cNvPr id="46" name="Text 39"/>
          <p:cNvSpPr txBox="1"/>
          <p:nvPr/>
        </p:nvSpPr>
        <p:spPr>
          <a:xfrm>
            <a:off x="1218895" y="2757830"/>
            <a:ext cx="4386377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조명, 각도, 배경 등 환경 변수가 제한적이어 취약 조건(Extreme Case)에서 성능 상한이 존재함.</a:t>
            </a:r>
            <a:endParaRPr lang="en-US" sz="1000" dirty="0"/>
          </a:p>
        </p:txBody>
      </p:sp>
      <p:sp>
        <p:nvSpPr>
          <p:cNvPr id="47" name="Text 40"/>
          <p:cNvSpPr txBox="1"/>
          <p:nvPr/>
        </p:nvSpPr>
        <p:spPr>
          <a:xfrm>
            <a:off x="1218895" y="3648456"/>
            <a:ext cx="1329538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표준 설정 미통합</a:t>
            </a:r>
            <a:endParaRPr lang="en-US" sz="1300" dirty="0"/>
          </a:p>
        </p:txBody>
      </p:sp>
      <p:sp>
        <p:nvSpPr>
          <p:cNvPr id="48" name="Text 41"/>
          <p:cNvSpPr txBox="1"/>
          <p:nvPr/>
        </p:nvSpPr>
        <p:spPr>
          <a:xfrm>
            <a:off x="1218895" y="3991356"/>
            <a:ext cx="4443984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병렬 실험 과정에서 일부 설정 차이가 발생하여 완전한 통합 비교에 한계가 있었음.</a:t>
            </a:r>
            <a:endParaRPr lang="en-US" sz="1000" dirty="0"/>
          </a:p>
        </p:txBody>
      </p:sp>
      <p:sp>
        <p:nvSpPr>
          <p:cNvPr id="49" name="Text 42"/>
          <p:cNvSpPr txBox="1"/>
          <p:nvPr/>
        </p:nvSpPr>
        <p:spPr>
          <a:xfrm>
            <a:off x="1218895" y="4881982"/>
            <a:ext cx="1129284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라벨링 노이즈</a:t>
            </a:r>
            <a:endParaRPr lang="en-US" sz="1300" dirty="0"/>
          </a:p>
        </p:txBody>
      </p:sp>
      <p:sp>
        <p:nvSpPr>
          <p:cNvPr id="50" name="Text 43"/>
          <p:cNvSpPr txBox="1"/>
          <p:nvPr/>
        </p:nvSpPr>
        <p:spPr>
          <a:xfrm>
            <a:off x="1218895" y="5224882"/>
            <a:ext cx="4396435" cy="40965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클래스 확장 과정(56→74)에서 발생한 일부 노이즈로 인해 성능 변동성이 관찰됨.</a:t>
            </a:r>
            <a:endParaRPr lang="en-US" sz="1000" dirty="0"/>
          </a:p>
        </p:txBody>
      </p:sp>
      <p:sp>
        <p:nvSpPr>
          <p:cNvPr id="51" name="Text 44"/>
          <p:cNvSpPr txBox="1"/>
          <p:nvPr/>
        </p:nvSpPr>
        <p:spPr>
          <a:xfrm>
            <a:off x="6972300" y="1395374"/>
            <a:ext cx="1077163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향후 로드맵</a:t>
            </a:r>
            <a:endParaRPr lang="en-US" sz="1500" dirty="0"/>
          </a:p>
        </p:txBody>
      </p:sp>
      <p:sp>
        <p:nvSpPr>
          <p:cNvPr id="52" name="Text 45"/>
          <p:cNvSpPr txBox="1"/>
          <p:nvPr/>
        </p:nvSpPr>
        <p:spPr>
          <a:xfrm>
            <a:off x="6972300" y="1662379"/>
            <a:ext cx="13057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2563EB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Future Plans (Priority)</a:t>
            </a:r>
            <a:endParaRPr lang="en-US" sz="900" dirty="0"/>
          </a:p>
        </p:txBody>
      </p:sp>
      <p:sp>
        <p:nvSpPr>
          <p:cNvPr id="53" name="Text 46"/>
          <p:cNvSpPr txBox="1"/>
          <p:nvPr/>
        </p:nvSpPr>
        <p:spPr>
          <a:xfrm>
            <a:off x="7010705" y="2597810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평가축 조기 확정</a:t>
            </a:r>
            <a:endParaRPr lang="en-US" sz="1200" dirty="0"/>
          </a:p>
        </p:txBody>
      </p:sp>
      <p:sp>
        <p:nvSpPr>
          <p:cNvPr id="54" name="Text 47"/>
          <p:cNvSpPr txBox="1"/>
          <p:nvPr/>
        </p:nvSpPr>
        <p:spPr>
          <a:xfrm>
            <a:off x="7010705" y="2854757"/>
            <a:ext cx="36676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공통 평가 기준(고정 Split, 측정기, Gate)을 선행 확립하여 비교 무결성 강화</a:t>
            </a:r>
            <a:endParaRPr lang="en-US" sz="900" dirty="0"/>
          </a:p>
        </p:txBody>
      </p:sp>
      <p:sp>
        <p:nvSpPr>
          <p:cNvPr id="55" name="Text 48"/>
          <p:cNvSpPr txBox="1"/>
          <p:nvPr/>
        </p:nvSpPr>
        <p:spPr>
          <a:xfrm>
            <a:off x="7010705" y="3417113"/>
            <a:ext cx="1505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취약 조건 데이터 보강</a:t>
            </a:r>
            <a:endParaRPr lang="en-US" sz="1200" dirty="0"/>
          </a:p>
        </p:txBody>
      </p:sp>
      <p:sp>
        <p:nvSpPr>
          <p:cNvPr id="56" name="Text 49"/>
          <p:cNvSpPr txBox="1"/>
          <p:nvPr/>
        </p:nvSpPr>
        <p:spPr>
          <a:xfrm>
            <a:off x="7010705" y="3674059"/>
            <a:ext cx="3248863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실패 모드 분석을 기반으로 취약 케이스 우선순위 증강 및 추가 수집</a:t>
            </a:r>
            <a:endParaRPr lang="en-US" sz="900" dirty="0"/>
          </a:p>
        </p:txBody>
      </p:sp>
      <p:sp>
        <p:nvSpPr>
          <p:cNvPr id="57" name="Text 50"/>
          <p:cNvSpPr txBox="1"/>
          <p:nvPr/>
        </p:nvSpPr>
        <p:spPr>
          <a:xfrm>
            <a:off x="7010705" y="4236415"/>
            <a:ext cx="1191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라벨 품질 고도화</a:t>
            </a:r>
            <a:endParaRPr lang="en-US" sz="1200" dirty="0"/>
          </a:p>
        </p:txBody>
      </p:sp>
      <p:sp>
        <p:nvSpPr>
          <p:cNvPr id="58" name="Text 51"/>
          <p:cNvSpPr txBox="1"/>
          <p:nvPr/>
        </p:nvSpPr>
        <p:spPr>
          <a:xfrm>
            <a:off x="7010705" y="4493362"/>
            <a:ext cx="3439058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Active Learning 및 Self-training 파이프라인 도입으로 노이즈 최소화</a:t>
            </a:r>
            <a:endParaRPr lang="en-US" sz="900" dirty="0"/>
          </a:p>
        </p:txBody>
      </p:sp>
      <p:sp>
        <p:nvSpPr>
          <p:cNvPr id="59" name="Text 52"/>
          <p:cNvSpPr txBox="1"/>
          <p:nvPr/>
        </p:nvSpPr>
        <p:spPr>
          <a:xfrm>
            <a:off x="7010705" y="5055718"/>
            <a:ext cx="16770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확장 (Scale-up)</a:t>
            </a:r>
            <a:endParaRPr lang="en-US" sz="1200" dirty="0"/>
          </a:p>
        </p:txBody>
      </p:sp>
      <p:sp>
        <p:nvSpPr>
          <p:cNvPr id="60" name="Text 53"/>
          <p:cNvSpPr txBox="1"/>
          <p:nvPr/>
        </p:nvSpPr>
        <p:spPr>
          <a:xfrm>
            <a:off x="7010705" y="5312664"/>
            <a:ext cx="39054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PWA 오프라인 모드 지원, DB(Firestore) 연동으로 복약 히스토리 관리 기능 추가</a:t>
            </a:r>
            <a:endParaRPr lang="en-US" sz="900" dirty="0"/>
          </a:p>
        </p:txBody>
      </p:sp>
      <p:sp>
        <p:nvSpPr>
          <p:cNvPr id="61" name="Text 54"/>
          <p:cNvSpPr txBox="1"/>
          <p:nvPr/>
        </p:nvSpPr>
        <p:spPr>
          <a:xfrm>
            <a:off x="571500" y="6409944"/>
            <a:ext cx="2190902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- Limitations &amp; Roadmap</a:t>
            </a:r>
            <a:endParaRPr lang="en-US" sz="900" dirty="0"/>
          </a:p>
        </p:txBody>
      </p:sp>
      <p:sp>
        <p:nvSpPr>
          <p:cNvPr id="62" name="Text 55"/>
          <p:cNvSpPr txBox="1"/>
          <p:nvPr/>
        </p:nvSpPr>
        <p:spPr>
          <a:xfrm>
            <a:off x="11033150" y="6409944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32/33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63" name="Text 56"/>
          <p:cNvSpPr txBox="1"/>
          <p:nvPr/>
        </p:nvSpPr>
        <p:spPr>
          <a:xfrm>
            <a:off x="9797796" y="576072"/>
            <a:ext cx="1957730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Limitations &amp; Roadmap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0FD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0"/>
            <a:ext cx="12191695" cy="1333195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571500" y="6629400"/>
            <a:ext cx="11048695" cy="9144"/>
          </a:xfrm>
          <a:prstGeom prst="rect">
            <a:avLst/>
          </a:prstGeom>
          <a:solidFill>
            <a:srgbClr val="F3F4F6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71500" y="381305"/>
            <a:ext cx="738835" cy="191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CLOSING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71500" y="543154"/>
            <a:ext cx="3781958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요약 &amp; Q&amp;A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571500" y="6705295"/>
            <a:ext cx="1314907" cy="162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A3A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Team 7 · PillPal Project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11099825" y="6619570"/>
            <a:ext cx="676656" cy="162763"/>
          </a:xfrm>
          <a:prstGeom prst="rect">
            <a:avLst/>
          </a:prstGeom>
          <a:noFill/>
          <a:ln/>
        </p:spPr>
        <p:txBody>
          <a:bodyPr wrap="square" lIns="0" tIns="0" rIns="0" bIns="0" anchor="ctr"/>
          <a:lstStyle/>
          <a:p>
            <a:pPr marL="0" lvl="0" indent="0" algn="l">
              <a:buNone/>
              <a:defRPr/>
            </a:pPr>
            <a:r>
              <a:rPr lang="en-US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Page </a:t>
            </a:r>
            <a:r>
              <a:rPr lang="en-US" altLang="ko-KR" sz="900">
                <a:solidFill>
                  <a:srgbClr val="9ca3af"/>
                </a:solidFill>
                <a:latin typeface="Noto Sans KR"/>
                <a:ea typeface="Noto Sans KR"/>
                <a:cs typeface="Noto Sans KR"/>
              </a:rPr>
              <a:t>33/33</a:t>
            </a:r>
            <a:endParaRPr lang="en-US" altLang="ko-KR" sz="900">
              <a:solidFill>
                <a:srgbClr val="9ca3a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9538106" y="828446"/>
            <a:ext cx="22293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dirty="0">
                <a:solidFill>
                  <a:srgbClr val="FFFFFF">
                    <a:alpha val="90000"/>
                  </a:srgb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PillPal Project Summary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71500" y="1485900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5412334" y="1228954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endParaRPr lang="en-US" sz="6000" dirty="0"/>
          </a:p>
        </p:txBody>
      </p:sp>
      <p:sp>
        <p:nvSpPr>
          <p:cNvPr id="13" name="Shape 11"/>
          <p:cNvSpPr/>
          <p:nvPr/>
        </p:nvSpPr>
        <p:spPr>
          <a:xfrm>
            <a:off x="6210605" y="1485900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11051438" y="1228954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</a:t>
            </a:r>
            <a:endParaRPr lang="en-US" sz="6000" dirty="0"/>
          </a:p>
        </p:txBody>
      </p:sp>
      <p:sp>
        <p:nvSpPr>
          <p:cNvPr id="15" name="Shape 13"/>
          <p:cNvSpPr/>
          <p:nvPr/>
        </p:nvSpPr>
        <p:spPr>
          <a:xfrm>
            <a:off x="571500" y="3143707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5412334" y="2885846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</a:t>
            </a:r>
            <a:endParaRPr lang="en-US" sz="6000" dirty="0"/>
          </a:p>
        </p:txBody>
      </p:sp>
      <p:sp>
        <p:nvSpPr>
          <p:cNvPr id="17" name="Shape 15"/>
          <p:cNvSpPr/>
          <p:nvPr/>
        </p:nvSpPr>
        <p:spPr>
          <a:xfrm>
            <a:off x="6210605" y="3143707"/>
            <a:ext cx="5410505" cy="1429207"/>
          </a:xfrm>
          <a:prstGeom prst="roundRect">
            <a:avLst>
              <a:gd name="adj" fmla="val 6824"/>
            </a:avLst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635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1051438" y="2885846"/>
            <a:ext cx="1038758" cy="11055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0FDF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</a:t>
            </a:r>
            <a:endParaRPr lang="en-US" sz="6000" dirty="0"/>
          </a:p>
        </p:txBody>
      </p:sp>
      <p:sp>
        <p:nvSpPr>
          <p:cNvPr id="19" name="Shape 17"/>
          <p:cNvSpPr/>
          <p:nvPr/>
        </p:nvSpPr>
        <p:spPr>
          <a:xfrm>
            <a:off x="571500" y="4876495"/>
            <a:ext cx="11048695" cy="1524305"/>
          </a:xfrm>
          <a:prstGeom prst="roundRect">
            <a:avLst>
              <a:gd name="adj" fmla="val 7498"/>
            </a:avLst>
          </a:prstGeom>
          <a:solidFill>
            <a:srgbClr val="0F766E"/>
          </a:solidFill>
          <a:ln/>
          <a:effectLst>
            <a:outerShdw sx="100000" sy="100000" kx="0" ky="0" algn="bl" rotWithShape="0" blurRad="12700" dist="12700" dir="16200000">
              <a:srgbClr val="000000">
                <a:alpha val="7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90195" y="3657600"/>
            <a:ext cx="2438705" cy="243870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0477195" y="4496105"/>
            <a:ext cx="1524305" cy="1524305"/>
          </a:xfrm>
          <a:prstGeom prst="ellipse">
            <a:avLst/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432450" y="5134356"/>
            <a:ext cx="1677010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 &amp; A</a:t>
            </a:r>
            <a:endParaRPr lang="en-US" sz="3600" dirty="0"/>
          </a:p>
        </p:txBody>
      </p:sp>
      <p:sp>
        <p:nvSpPr>
          <p:cNvPr id="23" name="Text 21"/>
          <p:cNvSpPr txBox="1"/>
          <p:nvPr/>
        </p:nvSpPr>
        <p:spPr>
          <a:xfrm>
            <a:off x="5204765" y="5781751"/>
            <a:ext cx="1919326" cy="2478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Thank you for listening</a:t>
            </a:r>
            <a:endParaRPr lang="en-US" sz="1300" dirty="0"/>
          </a:p>
        </p:txBody>
      </p:sp>
      <p:pic>
        <p:nvPicPr>
          <p:cNvPr id="24" name="Image 0" descr="preencoded.png">    </p:cNvPr>
          <p:cNvPicPr>
            <a:picLocks noChangeAspect="1"/>
          </p:cNvPicPr>
          <p:nvPr/>
        </p:nvPicPr>
        <p:blipFill>
          <a:blip r:embed="rId3"/>
          <a:srcRect l="0" r="0" t="-43" b="-43"/>
          <a:stretch/>
        </p:blipFill>
        <p:spPr>
          <a:xfrm>
            <a:off x="933602" y="1837944"/>
            <a:ext cx="133502" cy="152705"/>
          </a:xfrm>
          <a:prstGeom prst="rect">
            <a:avLst/>
          </a:prstGeom>
        </p:spPr>
      </p:pic>
      <p:sp>
        <p:nvSpPr>
          <p:cNvPr id="25" name="Text 22"/>
          <p:cNvSpPr txBox="1"/>
          <p:nvPr/>
        </p:nvSpPr>
        <p:spPr>
          <a:xfrm>
            <a:off x="1304849" y="1772107"/>
            <a:ext cx="16578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학습 가능한 데이터</a:t>
            </a:r>
            <a:endParaRPr lang="en-US" sz="1500" dirty="0"/>
          </a:p>
        </p:txBody>
      </p:sp>
      <p:sp>
        <p:nvSpPr>
          <p:cNvPr id="26" name="Text 23"/>
          <p:cNvSpPr txBox="1"/>
          <p:nvPr/>
        </p:nvSpPr>
        <p:spPr>
          <a:xfrm>
            <a:off x="809244" y="2219249"/>
            <a:ext cx="5058461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 제약 하에서도 pseudo-label, 증강, 셀프 라벨링으로 학습 가능한 품질 확보</a:t>
            </a:r>
            <a:endParaRPr lang="en-US" sz="1200" dirty="0"/>
          </a:p>
        </p:txBody>
      </p:sp>
      <p:sp>
        <p:nvSpPr>
          <p:cNvPr id="27" name="Shape 24"/>
          <p:cNvSpPr/>
          <p:nvPr/>
        </p:nvSpPr>
        <p:spPr>
          <a:xfrm>
            <a:off x="6448349" y="1837944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DBEAFE"/>
          </a:solidFill>
          <a:ln/>
        </p:spPr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562649" y="1952244"/>
            <a:ext cx="152705" cy="15270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943954" y="1886407"/>
            <a:ext cx="1886407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서비스 스펙 기반 모델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6448349" y="2333549"/>
            <a:ext cx="462046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단순 정확도가 아닌 속도/배포/안정성 균형을 고려하여 YOLO 모델 선정</a:t>
            </a:r>
            <a:endParaRPr lang="en-US" sz="1200" dirty="0"/>
          </a:p>
        </p:txBody>
      </p:sp>
      <p:sp>
        <p:nvSpPr>
          <p:cNvPr id="31" name="Shape 27"/>
          <p:cNvSpPr/>
          <p:nvPr/>
        </p:nvSpPr>
        <p:spPr>
          <a:xfrm>
            <a:off x="809244" y="33814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DE9FE"/>
          </a:solidFill>
          <a:ln/>
        </p:spPr>
      </p:sp>
      <p:pic>
        <p:nvPicPr>
          <p:cNvPr id="32" name="Image 2" descr="preencoded.png">    </p:cNvPr>
          <p:cNvPicPr>
            <a:picLocks noChangeAspect="1"/>
          </p:cNvPicPr>
          <p:nvPr/>
        </p:nvPicPr>
        <p:blipFill>
          <a:blip r:embed="rId5"/>
          <a:srcRect l="0" r="0" t="-100" b="-100"/>
          <a:stretch/>
        </p:blipFill>
        <p:spPr>
          <a:xfrm>
            <a:off x="942746" y="3495751"/>
            <a:ext cx="114300" cy="152705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1304849" y="3429000"/>
            <a:ext cx="1400861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QA 신뢰도 확보</a:t>
            </a:r>
            <a:endParaRPr lang="en-US" sz="1500" dirty="0"/>
          </a:p>
        </p:txBody>
      </p:sp>
      <p:sp>
        <p:nvSpPr>
          <p:cNvPr id="34" name="Text 29"/>
          <p:cNvSpPr txBox="1"/>
          <p:nvPr/>
        </p:nvSpPr>
        <p:spPr>
          <a:xfrm>
            <a:off x="809244" y="3877056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Leakage Gate와 Measurement Freeze로 "믿을 수 있는 결과"와 해석 체계 구축</a:t>
            </a:r>
            <a:endParaRPr lang="en-US" sz="1200" dirty="0"/>
          </a:p>
        </p:txBody>
      </p:sp>
      <p:sp>
        <p:nvSpPr>
          <p:cNvPr id="35" name="Shape 30"/>
          <p:cNvSpPr/>
          <p:nvPr/>
        </p:nvSpPr>
        <p:spPr>
          <a:xfrm>
            <a:off x="6448349" y="3495751"/>
            <a:ext cx="381305" cy="381305"/>
          </a:xfrm>
          <a:prstGeom prst="roundRect">
            <a:avLst>
              <a:gd name="adj" fmla="val 239808"/>
            </a:avLst>
          </a:prstGeom>
          <a:solidFill>
            <a:srgbClr val="E0E7FF"/>
          </a:solidFill>
          <a:ln/>
        </p:spPr>
      </p:sp>
      <p:pic>
        <p:nvPicPr>
          <p:cNvPr id="36" name="Image 3" descr="preencoded.png">    </p:cNvPr>
          <p:cNvPicPr>
            <a:picLocks noChangeAspect="1"/>
          </p:cNvPicPr>
          <p:nvPr/>
        </p:nvPicPr>
        <p:blipFill>
          <a:blip r:embed="rId6"/>
          <a:srcRect l="0" r="0" t="-180" b="-180"/>
          <a:stretch/>
        </p:blipFill>
        <p:spPr>
          <a:xfrm>
            <a:off x="6543446" y="3610051"/>
            <a:ext cx="190195" cy="152705"/>
          </a:xfrm>
          <a:prstGeom prst="rect">
            <a:avLst/>
          </a:prstGeom>
        </p:spPr>
      </p:pic>
      <p:sp>
        <p:nvSpPr>
          <p:cNvPr id="37" name="Text 31"/>
          <p:cNvSpPr txBox="1"/>
          <p:nvPr/>
        </p:nvSpPr>
        <p:spPr>
          <a:xfrm>
            <a:off x="6943954" y="3543300"/>
            <a:ext cx="1610258" cy="2770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293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End-to-End 연결</a:t>
            </a:r>
            <a:endParaRPr lang="en-US" sz="1500" dirty="0"/>
          </a:p>
        </p:txBody>
      </p:sp>
      <p:sp>
        <p:nvSpPr>
          <p:cNvPr id="38" name="Text 32"/>
          <p:cNvSpPr txBox="1"/>
          <p:nvPr/>
        </p:nvSpPr>
        <p:spPr>
          <a:xfrm>
            <a:off x="6448349" y="3991356"/>
            <a:ext cx="4686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데이터부터 서빙/UX까지 끊김 없이 연결하여 실제 사용 가능한 제품 구현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>Generated by Gen-Spark</ep:Company>
  <ep:Words>3641</ep:Words>
  <ep:PresentationFormat>On-screen Show (16:9)</ep:PresentationFormat>
  <ep:Paragraphs>865</ep:Paragraphs>
  <ep:Slides>33</ep:Slides>
  <ep:Notes>33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33</vt:i4>
      </vt:variant>
    </vt:vector>
  </ep:HeadingPairs>
  <ep:TitlesOfParts>
    <vt:vector size="34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  <vt:lpstr>슬라이드 21</vt:lpstr>
      <vt:lpstr>슬라이드 22</vt:lpstr>
      <vt:lpstr>슬라이드 23</vt:lpstr>
      <vt:lpstr>슬라이드 24</vt:lpstr>
      <vt:lpstr>슬라이드 25</vt:lpstr>
      <vt:lpstr>슬라이드 26</vt:lpstr>
      <vt:lpstr>슬라이드 27</vt:lpstr>
      <vt:lpstr>슬라이드 28</vt:lpstr>
      <vt:lpstr>슬라이드 29</vt:lpstr>
      <vt:lpstr>슬라이드 30</vt:lpstr>
      <vt:lpstr>슬라이드 31</vt:lpstr>
      <vt:lpstr>슬라이드 32</vt:lpstr>
      <vt:lpstr>슬라이드 33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2025-12-23T03:57:12.000</dcterms:created>
  <dc:creator>Visual Extract to PPTX Converter</dc:creator>
  <cp:lastModifiedBy>c</cp:lastModifiedBy>
  <dcterms:modified xsi:type="dcterms:W3CDTF">2025-12-23T04:09:52.380</dcterms:modified>
  <cp:revision>19</cp:revision>
  <dc:subject>PptxGenJS Presentation</dc:subject>
  <dc:title>Multi-page HTML Content</dc:title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